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handoutMasterIdLst>
    <p:handoutMasterId r:id="rId8"/>
  </p:handoutMasterIdLst>
  <p:sldIdLst>
    <p:sldId id="265" r:id="rId2"/>
    <p:sldId id="266" r:id="rId3"/>
    <p:sldId id="267" r:id="rId4"/>
    <p:sldId id="268" r:id="rId5"/>
    <p:sldId id="269" r:id="rId6"/>
    <p:sldId id="270" r:id="rId7"/>
  </p:sldIdLst>
  <p:sldSz cx="9144000" cy="5143500" type="screen16x9"/>
  <p:notesSz cx="7010400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42037"/>
    <a:srgbClr val="D22037"/>
    <a:srgbClr val="E7E7E7"/>
    <a:srgbClr val="E8E8E8"/>
    <a:srgbClr val="EAEAEA"/>
    <a:srgbClr val="FFCC66"/>
    <a:srgbClr val="FFCC99"/>
    <a:srgbClr val="FFFFCC"/>
    <a:srgbClr val="C21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56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342" y="29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29" tIns="46415" rIns="92829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3408"/>
          </a:xfrm>
          <a:prstGeom prst="rect">
            <a:avLst/>
          </a:prstGeom>
        </p:spPr>
        <p:txBody>
          <a:bodyPr vert="horz" lIns="92829" tIns="46415" rIns="92829" bIns="46415" rtlCol="0"/>
          <a:lstStyle>
            <a:lvl1pPr algn="r">
              <a:defRPr sz="1200"/>
            </a:lvl1pPr>
          </a:lstStyle>
          <a:p>
            <a:fld id="{FF156F77-567F-49DE-AF5A-B673D328BDB4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37840" cy="463407"/>
          </a:xfrm>
          <a:prstGeom prst="rect">
            <a:avLst/>
          </a:prstGeom>
        </p:spPr>
        <p:txBody>
          <a:bodyPr vert="horz" lIns="92829" tIns="46415" rIns="92829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772669"/>
            <a:ext cx="3037840" cy="463407"/>
          </a:xfrm>
          <a:prstGeom prst="rect">
            <a:avLst/>
          </a:prstGeom>
        </p:spPr>
        <p:txBody>
          <a:bodyPr vert="horz" lIns="92829" tIns="46415" rIns="92829" bIns="46415" rtlCol="0" anchor="b"/>
          <a:lstStyle>
            <a:lvl1pPr algn="r">
              <a:defRPr sz="1200"/>
            </a:lvl1pPr>
          </a:lstStyle>
          <a:p>
            <a:fld id="{C07950D6-2DE2-4BAA-943D-5131693F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177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1403" y="758328"/>
            <a:ext cx="8396462" cy="538609"/>
          </a:xfrm>
        </p:spPr>
        <p:txBody>
          <a:bodyPr anchor="b" anchorCtr="0">
            <a:spAutoFit/>
          </a:bodyPr>
          <a:lstStyle>
            <a:lvl1pPr algn="l">
              <a:defRPr sz="2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058" y="2914650"/>
            <a:ext cx="2045776" cy="118150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Avenir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34264"/>
            <a:ext cx="9145731" cy="481931"/>
          </a:xfrm>
          <a:prstGeom prst="rect">
            <a:avLst/>
          </a:prstGeom>
        </p:spPr>
      </p:pic>
      <p:pic>
        <p:nvPicPr>
          <p:cNvPr id="8" name="Picture 7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3" y="2609385"/>
            <a:ext cx="1358813" cy="148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74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3316"/>
            <a:ext cx="8229600" cy="4260916"/>
          </a:xfrm>
        </p:spPr>
        <p:txBody>
          <a:bodyPr/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spcBef>
                <a:spcPts val="300"/>
              </a:spcBef>
              <a:defRPr sz="1200"/>
            </a:lvl3pPr>
            <a:lvl4pPr>
              <a:spcBef>
                <a:spcPts val="300"/>
              </a:spcBef>
              <a:defRPr sz="1200"/>
            </a:lvl4pPr>
            <a:lvl5pPr>
              <a:spcBef>
                <a:spcPts val="300"/>
              </a:spcBef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-2303"/>
            <a:ext cx="8229600" cy="461665"/>
          </a:xfrm>
        </p:spPr>
        <p:txBody>
          <a:bodyPr anchor="t" anchorCtr="0">
            <a:sp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Thorlabs1797Red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575" y="4980778"/>
            <a:ext cx="791975" cy="124231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7258050" y="4941521"/>
            <a:ext cx="1111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  <a:latin typeface="Avenir Book"/>
              </a:rPr>
              <a:t>Page </a:t>
            </a:r>
            <a:fld id="{F251752C-E84D-4491-A986-04FE77C95692}" type="slidenum">
              <a:rPr lang="en-US" sz="800" smtClean="0">
                <a:solidFill>
                  <a:schemeClr val="bg1">
                    <a:lumMod val="50000"/>
                  </a:schemeClr>
                </a:solidFill>
                <a:latin typeface="Avenir Book"/>
              </a:rPr>
              <a:pPr algn="r"/>
              <a:t>‹#›</a:t>
            </a:fld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  <a:latin typeface="Avenir Book"/>
              </a:rPr>
              <a:t> </a:t>
            </a: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  <a:latin typeface="Avenir Book"/>
                <a:cs typeface="Times New Roman" panose="02020603050405020304" pitchFamily="18" charset="0"/>
              </a:rPr>
              <a:t>−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Avenir Book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472924"/>
            <a:ext cx="9144000" cy="45719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5000">
                <a:schemeClr val="bg1">
                  <a:lumMod val="65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6116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36237"/>
            <a:ext cx="822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17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D4203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1200"/>
        </a:spcBef>
        <a:buClr>
          <a:srgbClr val="D42037"/>
        </a:buClr>
        <a:buSzPct val="75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79400" algn="l" defTabSz="457200" rtl="0" eaLnBrk="1" latinLnBrk="0" hangingPunct="1">
        <a:spcBef>
          <a:spcPts val="1200"/>
        </a:spcBef>
        <a:buClr>
          <a:srgbClr val="D42037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88925" algn="l" defTabSz="457200" rtl="0" eaLnBrk="1" latinLnBrk="0" hangingPunct="1">
        <a:spcBef>
          <a:spcPts val="1200"/>
        </a:spcBef>
        <a:buClr>
          <a:srgbClr val="D42037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200"/>
        </a:spcBef>
        <a:buClr>
          <a:srgbClr val="D42037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200"/>
        </a:spcBef>
        <a:buClr>
          <a:srgbClr val="D42037"/>
        </a:buClr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164" y="411834"/>
            <a:ext cx="8396462" cy="1631216"/>
          </a:xfrm>
        </p:spPr>
        <p:txBody>
          <a:bodyPr/>
          <a:lstStyle/>
          <a:p>
            <a:r>
              <a:rPr lang="en-US" dirty="0" smtClean="0"/>
              <a:t>MCM6000</a:t>
            </a:r>
            <a:br>
              <a:rPr lang="en-US" dirty="0" smtClean="0"/>
            </a:br>
            <a:r>
              <a:rPr lang="en-US" sz="1800" dirty="0" smtClean="0"/>
              <a:t>Master Controller Module 7 Slots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Last Update:  	3/14/2018</a:t>
            </a:r>
            <a:b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53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65"/>
          <p:cNvSpPr txBox="1"/>
          <p:nvPr/>
        </p:nvSpPr>
        <p:spPr>
          <a:xfrm>
            <a:off x="3388441" y="2630013"/>
            <a:ext cx="1601923" cy="3385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800" dirty="0" smtClean="0"/>
              <a:t>Below are function calls from USB device task</a:t>
            </a:r>
            <a:endParaRPr lang="en-US" sz="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Task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2316783" y="1248288"/>
            <a:ext cx="1304544" cy="107961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/>
              <a:t>Supervisor</a:t>
            </a:r>
            <a:r>
              <a:rPr lang="en-US" sz="1000" dirty="0" smtClean="0"/>
              <a:t> Task</a:t>
            </a:r>
          </a:p>
          <a:p>
            <a:pPr algn="ctr"/>
            <a:r>
              <a:rPr lang="en-US" sz="1000" dirty="0"/>
              <a:t>(10ms/0</a:t>
            </a:r>
            <a:r>
              <a:rPr lang="en-US" sz="1000" dirty="0" smtClean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Check Power, and temperatures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Check Cables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Service Status LED</a:t>
            </a:r>
            <a:endParaRPr lang="en-US" sz="800" dirty="0"/>
          </a:p>
        </p:txBody>
      </p:sp>
      <p:sp>
        <p:nvSpPr>
          <p:cNvPr id="51" name="Rounded Rectangle 50"/>
          <p:cNvSpPr/>
          <p:nvPr/>
        </p:nvSpPr>
        <p:spPr>
          <a:xfrm>
            <a:off x="330309" y="663065"/>
            <a:ext cx="1798736" cy="119181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USB Host Task (100ms/0)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Check connections and add or remove device task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Check </a:t>
            </a:r>
            <a:r>
              <a:rPr lang="en-US" sz="800" dirty="0"/>
              <a:t>HUB for connection changes on any of it's ports</a:t>
            </a:r>
            <a:endParaRPr lang="en-US" sz="800" dirty="0" smtClean="0"/>
          </a:p>
        </p:txBody>
      </p:sp>
      <p:sp>
        <p:nvSpPr>
          <p:cNvPr id="52" name="Rounded Rectangle 51"/>
          <p:cNvSpPr/>
          <p:nvPr/>
        </p:nvSpPr>
        <p:spPr>
          <a:xfrm>
            <a:off x="523974" y="2632511"/>
            <a:ext cx="1304544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USB Device Task 0</a:t>
            </a:r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1939139" y="2943970"/>
            <a:ext cx="1312701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800" dirty="0" smtClean="0"/>
              <a:t>Device task created for each new device connected</a:t>
            </a:r>
            <a:endParaRPr lang="en-US" sz="800" dirty="0"/>
          </a:p>
        </p:txBody>
      </p:sp>
      <p:sp>
        <p:nvSpPr>
          <p:cNvPr id="60" name="Rounded Rectangle 59"/>
          <p:cNvSpPr/>
          <p:nvPr/>
        </p:nvSpPr>
        <p:spPr>
          <a:xfrm>
            <a:off x="523974" y="2988416"/>
            <a:ext cx="1304544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USB Device Task 1</a:t>
            </a:r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1939139" y="2632511"/>
            <a:ext cx="1387968" cy="21544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800" dirty="0" smtClean="0"/>
              <a:t>Used for enumeration</a:t>
            </a:r>
            <a:endParaRPr lang="en-US" sz="800" dirty="0"/>
          </a:p>
        </p:txBody>
      </p:sp>
      <p:sp>
        <p:nvSpPr>
          <p:cNvPr id="64" name="Rounded Rectangle 63"/>
          <p:cNvSpPr/>
          <p:nvPr/>
        </p:nvSpPr>
        <p:spPr>
          <a:xfrm>
            <a:off x="523974" y="3510268"/>
            <a:ext cx="1304544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USB Device Task 7</a:t>
            </a:r>
            <a:endParaRPr lang="en-US" sz="1000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1176246" y="3270595"/>
            <a:ext cx="0" cy="17983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1" idx="2"/>
          </p:cNvCxnSpPr>
          <p:nvPr/>
        </p:nvCxnSpPr>
        <p:spPr>
          <a:xfrm>
            <a:off x="1229677" y="1854878"/>
            <a:ext cx="0" cy="329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3874738" y="668279"/>
            <a:ext cx="1955636" cy="148110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USB Slave Task (Interrupt/0)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Data from PC comes in by interrupt and fires a notification to the task to grab the data and </a:t>
            </a:r>
            <a:r>
              <a:rPr lang="en-US" sz="800" dirty="0"/>
              <a:t>s</a:t>
            </a:r>
            <a:r>
              <a:rPr lang="en-US" sz="800" dirty="0" smtClean="0"/>
              <a:t>tore in a </a:t>
            </a:r>
            <a:r>
              <a:rPr lang="en-US" sz="800" dirty="0" err="1" smtClean="0"/>
              <a:t>fifo</a:t>
            </a:r>
            <a:endParaRPr lang="en-US" sz="8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Parses the data and check validity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Dispatches the data to another task if necessary</a:t>
            </a:r>
            <a:endParaRPr lang="en-US" sz="800" dirty="0"/>
          </a:p>
        </p:txBody>
      </p:sp>
      <p:sp>
        <p:nvSpPr>
          <p:cNvPr id="85" name="Rounded Rectangle 84"/>
          <p:cNvSpPr/>
          <p:nvPr/>
        </p:nvSpPr>
        <p:spPr>
          <a:xfrm>
            <a:off x="5443890" y="3201519"/>
            <a:ext cx="1463284" cy="4919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Slot Card Task 1-7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Sync Motion 8</a:t>
            </a:r>
            <a:endParaRPr lang="en-US" sz="1000" dirty="0"/>
          </a:p>
        </p:txBody>
      </p:sp>
      <p:cxnSp>
        <p:nvCxnSpPr>
          <p:cNvPr id="83" name="Elbow Connector 82"/>
          <p:cNvCxnSpPr>
            <a:stCxn id="84" idx="3"/>
            <a:endCxn id="85" idx="0"/>
          </p:cNvCxnSpPr>
          <p:nvPr/>
        </p:nvCxnSpPr>
        <p:spPr>
          <a:xfrm>
            <a:off x="5830374" y="1408830"/>
            <a:ext cx="345158" cy="17926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>
            <a:stCxn id="64" idx="3"/>
          </p:cNvCxnSpPr>
          <p:nvPr/>
        </p:nvCxnSpPr>
        <p:spPr>
          <a:xfrm flipV="1">
            <a:off x="1828518" y="3450431"/>
            <a:ext cx="1657632" cy="1679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>
            <a:stCxn id="60" idx="3"/>
          </p:cNvCxnSpPr>
          <p:nvPr/>
        </p:nvCxnSpPr>
        <p:spPr>
          <a:xfrm>
            <a:off x="1828518" y="3096492"/>
            <a:ext cx="839187" cy="353939"/>
          </a:xfrm>
          <a:prstGeom prst="bentConnector3">
            <a:avLst>
              <a:gd name="adj1" fmla="val 1509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/>
          <p:cNvCxnSpPr/>
          <p:nvPr/>
        </p:nvCxnSpPr>
        <p:spPr>
          <a:xfrm rot="16200000" flipV="1">
            <a:off x="5307025" y="1866398"/>
            <a:ext cx="1865637" cy="804604"/>
          </a:xfrm>
          <a:prstGeom prst="bentConnector3">
            <a:avLst>
              <a:gd name="adj1" fmla="val 10054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/>
          <p:cNvCxnSpPr>
            <a:stCxn id="150" idx="1"/>
            <a:endCxn id="60" idx="1"/>
          </p:cNvCxnSpPr>
          <p:nvPr/>
        </p:nvCxnSpPr>
        <p:spPr>
          <a:xfrm rot="10800000">
            <a:off x="523975" y="3096493"/>
            <a:ext cx="2700427" cy="1368531"/>
          </a:xfrm>
          <a:prstGeom prst="bentConnector3">
            <a:avLst>
              <a:gd name="adj1" fmla="val 10846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endCxn id="64" idx="1"/>
          </p:cNvCxnSpPr>
          <p:nvPr/>
        </p:nvCxnSpPr>
        <p:spPr>
          <a:xfrm>
            <a:off x="278606" y="3618344"/>
            <a:ext cx="245368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Flowchart: Process 107"/>
          <p:cNvSpPr/>
          <p:nvPr/>
        </p:nvSpPr>
        <p:spPr>
          <a:xfrm>
            <a:off x="3506893" y="3027001"/>
            <a:ext cx="1456877" cy="8468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HID Poll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 dirty="0" smtClean="0"/>
              <a:t>Read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 dirty="0" smtClean="0"/>
              <a:t>Parse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 dirty="0" smtClean="0"/>
              <a:t>Dispatch to task according to control mapping</a:t>
            </a:r>
            <a:endParaRPr lang="en-US" sz="800" dirty="0"/>
          </a:p>
        </p:txBody>
      </p:sp>
      <p:cxnSp>
        <p:nvCxnSpPr>
          <p:cNvPr id="112" name="Straight Arrow Connector 111"/>
          <p:cNvCxnSpPr>
            <a:stCxn id="108" idx="3"/>
            <a:endCxn id="85" idx="1"/>
          </p:cNvCxnSpPr>
          <p:nvPr/>
        </p:nvCxnSpPr>
        <p:spPr>
          <a:xfrm flipV="1">
            <a:off x="4963770" y="3447509"/>
            <a:ext cx="480120" cy="2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7432432" y="1165260"/>
            <a:ext cx="1321594" cy="34124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Synchronized Motion Task</a:t>
            </a:r>
            <a:endParaRPr lang="en-US" sz="1000" dirty="0"/>
          </a:p>
        </p:txBody>
      </p:sp>
      <p:sp>
        <p:nvSpPr>
          <p:cNvPr id="123" name="Left Brace 122"/>
          <p:cNvSpPr/>
          <p:nvPr/>
        </p:nvSpPr>
        <p:spPr>
          <a:xfrm>
            <a:off x="6921510" y="978694"/>
            <a:ext cx="321017" cy="3607594"/>
          </a:xfrm>
          <a:prstGeom prst="leftBrace">
            <a:avLst>
              <a:gd name="adj1" fmla="val 0"/>
              <a:gd name="adj2" fmla="val 68196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ounded Rectangle 123"/>
          <p:cNvSpPr/>
          <p:nvPr/>
        </p:nvSpPr>
        <p:spPr>
          <a:xfrm>
            <a:off x="7440957" y="1646006"/>
            <a:ext cx="1304544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Stepper Task</a:t>
            </a:r>
            <a:endParaRPr lang="en-US" sz="1000" dirty="0"/>
          </a:p>
        </p:txBody>
      </p:sp>
      <p:sp>
        <p:nvSpPr>
          <p:cNvPr id="125" name="Rounded Rectangle 124"/>
          <p:cNvSpPr/>
          <p:nvPr/>
        </p:nvSpPr>
        <p:spPr>
          <a:xfrm>
            <a:off x="7443312" y="1995803"/>
            <a:ext cx="1304544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Servo Task</a:t>
            </a:r>
            <a:endParaRPr lang="en-US" sz="1000" dirty="0"/>
          </a:p>
        </p:txBody>
      </p:sp>
      <p:sp>
        <p:nvSpPr>
          <p:cNvPr id="126" name="Rounded Rectangle 125"/>
          <p:cNvSpPr/>
          <p:nvPr/>
        </p:nvSpPr>
        <p:spPr>
          <a:xfrm>
            <a:off x="7443312" y="2336542"/>
            <a:ext cx="1304544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DAC Task</a:t>
            </a:r>
            <a:endParaRPr lang="en-US" sz="1000" dirty="0"/>
          </a:p>
        </p:txBody>
      </p:sp>
      <p:sp>
        <p:nvSpPr>
          <p:cNvPr id="127" name="Rounded Rectangle 126"/>
          <p:cNvSpPr/>
          <p:nvPr/>
        </p:nvSpPr>
        <p:spPr>
          <a:xfrm>
            <a:off x="7443312" y="2668183"/>
            <a:ext cx="1304544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RS232 Task</a:t>
            </a:r>
            <a:endParaRPr lang="en-US" sz="1000" dirty="0"/>
          </a:p>
        </p:txBody>
      </p:sp>
      <p:sp>
        <p:nvSpPr>
          <p:cNvPr id="128" name="Flowchart: Process 127"/>
          <p:cNvSpPr/>
          <p:nvPr/>
        </p:nvSpPr>
        <p:spPr>
          <a:xfrm>
            <a:off x="7350919" y="630571"/>
            <a:ext cx="1456877" cy="26954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Card Task (10ms/1)</a:t>
            </a:r>
            <a:endParaRPr lang="en-US" sz="1000" dirty="0"/>
          </a:p>
          <a:p>
            <a:pPr algn="ctr"/>
            <a:endParaRPr lang="en-US" sz="1000" dirty="0" smtClean="0"/>
          </a:p>
        </p:txBody>
      </p:sp>
      <p:sp>
        <p:nvSpPr>
          <p:cNvPr id="149" name="TextBox 148"/>
          <p:cNvSpPr txBox="1"/>
          <p:nvPr/>
        </p:nvSpPr>
        <p:spPr>
          <a:xfrm>
            <a:off x="427142" y="2202309"/>
            <a:ext cx="1605070" cy="3385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Device task poll for new data (10ms/0)</a:t>
            </a:r>
            <a:endParaRPr lang="en-US" sz="800" dirty="0"/>
          </a:p>
        </p:txBody>
      </p:sp>
      <p:sp>
        <p:nvSpPr>
          <p:cNvPr id="150" name="Flowchart: Process 149"/>
          <p:cNvSpPr/>
          <p:nvPr/>
        </p:nvSpPr>
        <p:spPr>
          <a:xfrm>
            <a:off x="3224401" y="4041594"/>
            <a:ext cx="2036864" cy="8468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HID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 dirty="0" smtClean="0"/>
              <a:t>Request card task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 dirty="0" smtClean="0"/>
              <a:t>Send USB data out to control/controls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 dirty="0" smtClean="0"/>
              <a:t>according to mapping</a:t>
            </a:r>
            <a:endParaRPr lang="en-US" sz="800" dirty="0"/>
          </a:p>
        </p:txBody>
      </p:sp>
      <p:cxnSp>
        <p:nvCxnSpPr>
          <p:cNvPr id="154" name="Straight Arrow Connector 153"/>
          <p:cNvCxnSpPr>
            <a:endCxn id="150" idx="3"/>
          </p:cNvCxnSpPr>
          <p:nvPr/>
        </p:nvCxnSpPr>
        <p:spPr>
          <a:xfrm flipH="1" flipV="1">
            <a:off x="5261265" y="4465023"/>
            <a:ext cx="1820753" cy="8544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Flowchart: Process 159"/>
          <p:cNvSpPr/>
          <p:nvPr/>
        </p:nvSpPr>
        <p:spPr>
          <a:xfrm>
            <a:off x="3147825" y="2943970"/>
            <a:ext cx="2191126" cy="2066598"/>
          </a:xfrm>
          <a:prstGeom prst="flowChartProcess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ounded Rectangle 167"/>
          <p:cNvSpPr/>
          <p:nvPr/>
        </p:nvSpPr>
        <p:spPr>
          <a:xfrm>
            <a:off x="2757488" y="144659"/>
            <a:ext cx="1893093" cy="21615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 smtClean="0"/>
              <a:t>Init</a:t>
            </a:r>
            <a:r>
              <a:rPr lang="en-US" sz="1000" dirty="0" smtClean="0"/>
              <a:t> created task </a:t>
            </a:r>
            <a:r>
              <a:rPr lang="en-US" sz="800" dirty="0" smtClean="0"/>
              <a:t>(interval/priority)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261265" y="144660"/>
            <a:ext cx="1443592" cy="2161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On the fly created task</a:t>
            </a:r>
            <a:endParaRPr lang="en-US" sz="1000" dirty="0"/>
          </a:p>
        </p:txBody>
      </p:sp>
      <p:sp>
        <p:nvSpPr>
          <p:cNvPr id="170" name="Rounded Rectangle 169"/>
          <p:cNvSpPr/>
          <p:nvPr/>
        </p:nvSpPr>
        <p:spPr>
          <a:xfrm>
            <a:off x="3874738" y="2234115"/>
            <a:ext cx="1962803" cy="39839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FTDI Slave Task </a:t>
            </a:r>
            <a:r>
              <a:rPr lang="en-US" sz="1000" dirty="0"/>
              <a:t>(100ms/0</a:t>
            </a:r>
            <a:r>
              <a:rPr lang="en-US" sz="1000" dirty="0" smtClean="0"/>
              <a:t>)</a:t>
            </a:r>
          </a:p>
          <a:p>
            <a:pPr algn="ctr"/>
            <a:r>
              <a:rPr lang="en-US" sz="1000" dirty="0" smtClean="0"/>
              <a:t>Same as above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316784" y="812731"/>
            <a:ext cx="1304544" cy="23356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Idle Task (NA/0)</a:t>
            </a:r>
          </a:p>
        </p:txBody>
      </p:sp>
    </p:spTree>
    <p:extLst>
      <p:ext uri="{BB962C8B-B14F-4D97-AF65-F5344CB8AC3E}">
        <p14:creationId xmlns:p14="http://schemas.microsoft.com/office/powerpoint/2010/main" val="251116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 Out transfer</a:t>
            </a:r>
            <a:endParaRPr lang="en-US" dirty="0"/>
          </a:p>
        </p:txBody>
      </p:sp>
      <p:sp>
        <p:nvSpPr>
          <p:cNvPr id="128" name="Flowchart: Process 127"/>
          <p:cNvSpPr/>
          <p:nvPr/>
        </p:nvSpPr>
        <p:spPr>
          <a:xfrm>
            <a:off x="5402272" y="1850057"/>
            <a:ext cx="2247171" cy="215410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err="1" smtClean="0"/>
              <a:t>HID_out</a:t>
            </a:r>
            <a:r>
              <a:rPr lang="en-US" sz="1000" dirty="0" smtClean="0"/>
              <a:t> function: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Check if we have a map for each control on this USB device.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If we have a Control disable, don’t send HID commands from control to task.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If we have a Task disable, send a queue message to task to disable.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If we have a limit status, read the task queue, if on limit blink at 1 sec interval until limit clears.</a:t>
            </a:r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</p:txBody>
      </p:sp>
      <p:sp>
        <p:nvSpPr>
          <p:cNvPr id="38" name="Rounded Rectangle 37"/>
          <p:cNvSpPr/>
          <p:nvPr/>
        </p:nvSpPr>
        <p:spPr>
          <a:xfrm>
            <a:off x="457199" y="1147422"/>
            <a:ext cx="3044613" cy="14052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 smtClean="0"/>
              <a:t>Mapping mode: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Control disable, set on brightness and color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Task disable</a:t>
            </a:r>
            <a:r>
              <a:rPr lang="en-US" sz="1000" dirty="0"/>
              <a:t>, set on </a:t>
            </a:r>
            <a:r>
              <a:rPr lang="en-US" sz="1000" dirty="0" smtClean="0"/>
              <a:t>brightness</a:t>
            </a:r>
            <a:r>
              <a:rPr lang="en-US" sz="1000" dirty="0"/>
              <a:t> and color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Limit </a:t>
            </a:r>
            <a:r>
              <a:rPr lang="en-US" sz="1000" dirty="0" smtClean="0"/>
              <a:t>status</a:t>
            </a:r>
            <a:r>
              <a:rPr lang="en-US" sz="1000" dirty="0"/>
              <a:t> , set on brightness and </a:t>
            </a:r>
            <a:r>
              <a:rPr lang="en-US" sz="1000" dirty="0" smtClean="0"/>
              <a:t>color and blink rate</a:t>
            </a:r>
          </a:p>
        </p:txBody>
      </p:sp>
      <p:sp>
        <p:nvSpPr>
          <p:cNvPr id="39" name="Flowchart: Process 38"/>
          <p:cNvSpPr/>
          <p:nvPr/>
        </p:nvSpPr>
        <p:spPr>
          <a:xfrm>
            <a:off x="5402271" y="1147422"/>
            <a:ext cx="2247171" cy="4511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 err="1" smtClean="0"/>
              <a:t>HID_out</a:t>
            </a:r>
            <a:r>
              <a:rPr lang="en-US" sz="1000" dirty="0" smtClean="0"/>
              <a:t> function is called inside of the </a:t>
            </a:r>
            <a:r>
              <a:rPr lang="en-US" sz="1000" dirty="0" err="1" smtClean="0"/>
              <a:t>USB_device</a:t>
            </a:r>
            <a:r>
              <a:rPr lang="en-US" sz="1000" dirty="0" smtClean="0"/>
              <a:t> task every 10ms.</a:t>
            </a:r>
          </a:p>
          <a:p>
            <a:pPr algn="ctr"/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173734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 Joystick Controls</a:t>
            </a:r>
            <a:endParaRPr lang="en-US" dirty="0"/>
          </a:p>
        </p:txBody>
      </p:sp>
      <p:sp>
        <p:nvSpPr>
          <p:cNvPr id="39" name="Flowchart: Process 38"/>
          <p:cNvSpPr/>
          <p:nvPr/>
        </p:nvSpPr>
        <p:spPr>
          <a:xfrm>
            <a:off x="137699" y="742128"/>
            <a:ext cx="3870423" cy="110132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 smtClean="0"/>
              <a:t>Joystick Controls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Knobs:		16 bit in (velocity)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Large button: 	1 bit in		24 bit out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Small buttons:	1 bit in 		9 bit out	 (bit 9 red/green)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Toggle Switch: Fast/slow</a:t>
            </a:r>
          </a:p>
          <a:p>
            <a:pPr algn="ctr"/>
            <a:endParaRPr lang="en-US" sz="1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531" y="569488"/>
            <a:ext cx="3028950" cy="1712599"/>
          </a:xfrm>
          <a:prstGeom prst="rect">
            <a:avLst/>
          </a:prstGeom>
        </p:spPr>
      </p:pic>
      <p:sp>
        <p:nvSpPr>
          <p:cNvPr id="8" name="Flowchart: Process 7"/>
          <p:cNvSpPr/>
          <p:nvPr/>
        </p:nvSpPr>
        <p:spPr>
          <a:xfrm>
            <a:off x="137699" y="2191681"/>
            <a:ext cx="3870423" cy="25004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 smtClean="0"/>
              <a:t>In report </a:t>
            </a:r>
            <a:r>
              <a:rPr lang="en-US" sz="800" dirty="0"/>
              <a:t>for MCP7 </a:t>
            </a:r>
          </a:p>
          <a:p>
            <a:endParaRPr lang="en-US" sz="10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45856"/>
              </p:ext>
            </p:extLst>
          </p:nvPr>
        </p:nvGraphicFramePr>
        <p:xfrm>
          <a:off x="137699" y="4181136"/>
          <a:ext cx="8378064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</a:tblGrid>
              <a:tr h="2048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14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13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12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9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8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7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6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4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3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2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0</a:t>
                      </a:r>
                      <a:endParaRPr lang="en-US" sz="800" dirty="0"/>
                    </a:p>
                  </a:txBody>
                  <a:tcPr/>
                </a:tc>
              </a:tr>
              <a:tr h="321869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B6 </a:t>
                      </a:r>
                    </a:p>
                    <a:p>
                      <a:pPr algn="ctr"/>
                      <a:r>
                        <a:rPr lang="en-US" sz="800" dirty="0" smtClean="0"/>
                        <a:t>Red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B6 Green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B5 </a:t>
                      </a:r>
                    </a:p>
                    <a:p>
                      <a:pPr algn="ctr"/>
                      <a:r>
                        <a:rPr lang="en-US" sz="800" dirty="0" smtClean="0"/>
                        <a:t>Red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B5 Green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B4 </a:t>
                      </a:r>
                    </a:p>
                    <a:p>
                      <a:pPr algn="ctr"/>
                      <a:r>
                        <a:rPr lang="en-US" sz="800" dirty="0" smtClean="0"/>
                        <a:t>Red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B4 Green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B4 Blue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B3 </a:t>
                      </a:r>
                    </a:p>
                    <a:p>
                      <a:pPr algn="ctr"/>
                      <a:r>
                        <a:rPr lang="en-US" sz="800" dirty="0" smtClean="0"/>
                        <a:t>Red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B3 Green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B3 Blue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B2</a:t>
                      </a:r>
                    </a:p>
                    <a:p>
                      <a:pPr algn="ctr"/>
                      <a:r>
                        <a:rPr lang="en-US" sz="800" dirty="0" smtClean="0"/>
                        <a:t>Red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B2 Green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B2 Blue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B1 </a:t>
                      </a:r>
                    </a:p>
                    <a:p>
                      <a:pPr algn="ctr"/>
                      <a:r>
                        <a:rPr lang="en-US" sz="800" dirty="0" smtClean="0"/>
                        <a:t>Red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B1 Green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B1 Blue</a:t>
                      </a:r>
                      <a:endParaRPr lang="en-US" sz="800" dirty="0"/>
                    </a:p>
                  </a:txBody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/>
                      <a:r>
                        <a:rPr lang="en-US" sz="80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0-255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Flowchart: Process 8"/>
          <p:cNvSpPr/>
          <p:nvPr/>
        </p:nvSpPr>
        <p:spPr>
          <a:xfrm>
            <a:off x="137699" y="3707883"/>
            <a:ext cx="3870423" cy="48092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 smtClean="0"/>
              <a:t>Out report for MCP7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button 5&amp;6 only one color at a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0 is off, 255 is full on</a:t>
            </a:r>
          </a:p>
          <a:p>
            <a:endParaRPr lang="en-US" sz="1000" dirty="0" smtClean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00781"/>
              </p:ext>
            </p:extLst>
          </p:nvPr>
        </p:nvGraphicFramePr>
        <p:xfrm>
          <a:off x="137699" y="2465417"/>
          <a:ext cx="837806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</a:tblGrid>
              <a:tr h="204826">
                <a:tc gridSpan="8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8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7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6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4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3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2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Byte 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Byte 0</a:t>
                      </a:r>
                      <a:endParaRPr lang="en-US" sz="800" dirty="0"/>
                    </a:p>
                  </a:txBody>
                  <a:tcPr/>
                </a:tc>
              </a:tr>
              <a:tr h="321869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Button</a:t>
                      </a:r>
                      <a:r>
                        <a:rPr lang="en-US" sz="800" baseline="0" dirty="0" smtClean="0"/>
                        <a:t>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dirty="0" smtClean="0"/>
                        <a:t>(small bottom)</a:t>
                      </a:r>
                      <a:endParaRPr lang="en-US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Button</a:t>
                      </a:r>
                      <a:r>
                        <a:rPr lang="en-US" sz="800" baseline="0" dirty="0" smtClean="0"/>
                        <a:t> 5 (small top)</a:t>
                      </a:r>
                      <a:endParaRPr lang="en-US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Button</a:t>
                      </a:r>
                      <a:r>
                        <a:rPr lang="en-US" sz="800" baseline="0" dirty="0" smtClean="0"/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dirty="0" smtClean="0"/>
                        <a:t>(right)</a:t>
                      </a:r>
                      <a:endParaRPr lang="en-US" sz="800" dirty="0" smtClean="0"/>
                    </a:p>
                    <a:p>
                      <a:pPr algn="ctr"/>
                      <a:endParaRPr lang="en-US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Button</a:t>
                      </a:r>
                      <a:r>
                        <a:rPr lang="en-US" sz="800" baseline="0" dirty="0" smtClean="0"/>
                        <a:t> 3</a:t>
                      </a:r>
                      <a:endParaRPr lang="en-US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Button</a:t>
                      </a:r>
                      <a:r>
                        <a:rPr lang="en-US" sz="800" baseline="0" dirty="0" smtClean="0"/>
                        <a:t> 2</a:t>
                      </a:r>
                      <a:endParaRPr lang="en-US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Button</a:t>
                      </a:r>
                      <a:r>
                        <a:rPr lang="en-US" sz="800" baseline="0" dirty="0" smtClean="0"/>
                        <a:t> 1</a:t>
                      </a:r>
                    </a:p>
                    <a:p>
                      <a:pPr algn="ctr"/>
                      <a:r>
                        <a:rPr lang="en-US" sz="800" baseline="0" dirty="0" smtClean="0"/>
                        <a:t>(left)</a:t>
                      </a:r>
                      <a:endParaRPr lang="en-US" sz="800" dirty="0" smtClean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Knob 4 (16 bit,</a:t>
                      </a:r>
                      <a:r>
                        <a:rPr lang="en-US" sz="800" baseline="0" dirty="0" smtClean="0"/>
                        <a:t> top bit direction)</a:t>
                      </a:r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Knob 3 (16 bit,</a:t>
                      </a:r>
                      <a:r>
                        <a:rPr lang="en-US" sz="800" baseline="0" dirty="0" smtClean="0"/>
                        <a:t> top bit direction)</a:t>
                      </a:r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Knob 2 (16 bit,</a:t>
                      </a:r>
                      <a:r>
                        <a:rPr lang="en-US" sz="800" baseline="0" dirty="0" smtClean="0"/>
                        <a:t> top bit direction)</a:t>
                      </a:r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Knob 1 (16 bit,</a:t>
                      </a:r>
                      <a:r>
                        <a:rPr lang="en-US" sz="800" baseline="0" dirty="0" smtClean="0"/>
                        <a:t> top bit direction)</a:t>
                      </a:r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0-1</a:t>
                      </a:r>
                      <a:endParaRPr lang="en-US" sz="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-32767 to 32767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-32767 to 32767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-32767 to 32767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-32767 to 32767</a:t>
                      </a:r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27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 out transfer mapping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80416" y="930823"/>
            <a:ext cx="1304544" cy="8553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Joystick 1</a:t>
            </a:r>
          </a:p>
          <a:p>
            <a:pPr algn="ctr"/>
            <a:r>
              <a:rPr lang="en-US" sz="1000" dirty="0" smtClean="0"/>
              <a:t>RGB LED 1</a:t>
            </a:r>
          </a:p>
          <a:p>
            <a:pPr algn="ctr"/>
            <a:r>
              <a:rPr lang="en-US" sz="1000" dirty="0"/>
              <a:t>RGB LED </a:t>
            </a:r>
            <a:r>
              <a:rPr lang="en-US" sz="1000" dirty="0" smtClean="0"/>
              <a:t>2</a:t>
            </a:r>
          </a:p>
          <a:p>
            <a:pPr algn="ctr"/>
            <a:r>
              <a:rPr lang="en-US" sz="1000" dirty="0"/>
              <a:t>RGB </a:t>
            </a:r>
            <a:r>
              <a:rPr lang="en-US" sz="1000" dirty="0" smtClean="0"/>
              <a:t>LED 3</a:t>
            </a:r>
            <a:endParaRPr lang="en-US"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280416" y="1938528"/>
            <a:ext cx="1304544" cy="8553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Joystick 2</a:t>
            </a:r>
          </a:p>
          <a:p>
            <a:pPr algn="ctr"/>
            <a:r>
              <a:rPr lang="en-US" sz="1000" dirty="0" smtClean="0"/>
              <a:t>LED 1</a:t>
            </a:r>
          </a:p>
          <a:p>
            <a:pPr algn="ctr"/>
            <a:r>
              <a:rPr lang="en-US" sz="1000" dirty="0" smtClean="0"/>
              <a:t>LED 2</a:t>
            </a:r>
          </a:p>
          <a:p>
            <a:pPr algn="ctr"/>
            <a:r>
              <a:rPr lang="en-US" sz="1000" dirty="0" smtClean="0"/>
              <a:t>LED 3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955792" y="930823"/>
            <a:ext cx="1304544" cy="3188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Slot 1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5792" y="1388956"/>
            <a:ext cx="1304544" cy="3188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Slot 2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5792" y="1847089"/>
            <a:ext cx="1304544" cy="3188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Slot 2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930823"/>
            <a:ext cx="2974848" cy="15197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Map Example RGB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Port - J1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Type – Generic Indicator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Mode – (limit(blink red), disable control (orange), disable task (red), moving(green), stopped (off)).  These are all bits colors are not configurable.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Slot - 1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algn="ctr"/>
            <a:endParaRPr lang="en-US" sz="1000" dirty="0" smtClean="0"/>
          </a:p>
        </p:txBody>
      </p:sp>
      <p:sp>
        <p:nvSpPr>
          <p:cNvPr id="13" name="Rounded Rectangle 12"/>
          <p:cNvSpPr/>
          <p:nvPr/>
        </p:nvSpPr>
        <p:spPr>
          <a:xfrm>
            <a:off x="384048" y="4070262"/>
            <a:ext cx="1603248" cy="5139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Brightness is global and set with a command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2" y="2562685"/>
            <a:ext cx="2974848" cy="15197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dirty="0" smtClean="0"/>
              <a:t>Map Example 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Port - J1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Type – 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Mode – (limit(blink red), disable control (red), disable task (red), moving(off), stopped (off)).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Slot - 1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algn="ctr"/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297730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 </a:t>
            </a:r>
            <a:r>
              <a:rPr lang="en-US" dirty="0" smtClean="0"/>
              <a:t>Joystick Speed</a:t>
            </a:r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25622"/>
              </p:ext>
            </p:extLst>
          </p:nvPr>
        </p:nvGraphicFramePr>
        <p:xfrm>
          <a:off x="241331" y="804672"/>
          <a:ext cx="4189032" cy="535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  <a:gridCol w="523629"/>
              </a:tblGrid>
              <a:tr h="161129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Bit 7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Bit 6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Bit 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Bit 4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Bit 3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Bit 2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Bit 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Bit 0</a:t>
                      </a:r>
                      <a:endParaRPr lang="en-US" sz="800" dirty="0"/>
                    </a:p>
                  </a:txBody>
                  <a:tcPr/>
                </a:tc>
              </a:tr>
              <a:tr h="321869">
                <a:tc gridSpan="4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High speed 0</a:t>
                      </a:r>
                      <a:r>
                        <a:rPr lang="en-US" sz="800" baseline="0" dirty="0" smtClean="0"/>
                        <a:t> – 16</a:t>
                      </a:r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Low speed 0</a:t>
                      </a:r>
                      <a:r>
                        <a:rPr lang="en-US" sz="800" baseline="0" dirty="0" smtClean="0"/>
                        <a:t> - 16</a:t>
                      </a:r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40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:fade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rnal_Template_E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华文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nternal_Template_2016 (002) [Read-Only]" id="{3C4A8D29-0122-41C4-839B-056229725D99}" vid="{BCE351FB-C319-48F4-B292-95A7298429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Internal_Template_2016</Template>
  <TotalTime>2456</TotalTime>
  <Words>688</Words>
  <Application>Microsoft Office PowerPoint</Application>
  <PresentationFormat>On-screen Show (16:9)</PresentationFormat>
  <Paragraphs>187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Avenir Book</vt:lpstr>
      <vt:lpstr>Calibri</vt:lpstr>
      <vt:lpstr>Franklin Gothic Book</vt:lpstr>
      <vt:lpstr>Franklin Gothic Medium</vt:lpstr>
      <vt:lpstr>Times New Roman</vt:lpstr>
      <vt:lpstr>Wingdings</vt:lpstr>
      <vt:lpstr>Internal_Template_EP</vt:lpstr>
      <vt:lpstr>MCM6000 Master Controller Module 7 Slots Last Update:   3/14/2018  </vt:lpstr>
      <vt:lpstr>System Task</vt:lpstr>
      <vt:lpstr>USB Out transfer</vt:lpstr>
      <vt:lpstr>USB Joystick Controls</vt:lpstr>
      <vt:lpstr>USB out transfer mapping</vt:lpstr>
      <vt:lpstr>USB Joystick Speed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Position Turret</dc:title>
  <dc:creator>David Carr</dc:creator>
  <cp:lastModifiedBy>Francisco Rivas</cp:lastModifiedBy>
  <cp:revision>284</cp:revision>
  <cp:lastPrinted>2018-09-19T13:48:28Z</cp:lastPrinted>
  <dcterms:created xsi:type="dcterms:W3CDTF">2016-08-11T14:51:12Z</dcterms:created>
  <dcterms:modified xsi:type="dcterms:W3CDTF">2018-09-19T14:36:30Z</dcterms:modified>
</cp:coreProperties>
</file>