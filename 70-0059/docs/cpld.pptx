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57" r:id="rId4"/>
    <p:sldId id="272" r:id="rId5"/>
    <p:sldId id="265" r:id="rId6"/>
    <p:sldId id="267" r:id="rId7"/>
    <p:sldId id="266" r:id="rId8"/>
    <p:sldId id="260" r:id="rId9"/>
    <p:sldId id="263" r:id="rId10"/>
    <p:sldId id="259" r:id="rId11"/>
    <p:sldId id="262" r:id="rId12"/>
    <p:sldId id="268" r:id="rId13"/>
    <p:sldId id="269" r:id="rId14"/>
    <p:sldId id="270" r:id="rId15"/>
    <p:sldId id="271"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704"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34F6239-1852-4DBE-BEB9-F4FAE03177F2}" type="datetimeFigureOut">
              <a:rPr lang="en-US" smtClean="0"/>
              <a:pPr/>
              <a:t>4/21/2022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9AF8BC5-B078-4E48-BE17-EDA9C3761E40}"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34F6239-1852-4DBE-BEB9-F4FAE03177F2}" type="datetimeFigureOut">
              <a:rPr lang="en-US" smtClean="0"/>
              <a:pPr/>
              <a:t>4/21/2022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9AF8BC5-B078-4E48-BE17-EDA9C3761E40}"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4F6239-1852-4DBE-BEB9-F4FAE03177F2}" type="datetimeFigureOut">
              <a:rPr lang="en-US" smtClean="0"/>
              <a:pPr/>
              <a:t>4/21/2022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9AF8BC5-B078-4E48-BE17-EDA9C3761E40}"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34F6239-1852-4DBE-BEB9-F4FAE03177F2}" type="datetimeFigureOut">
              <a:rPr lang="en-US" smtClean="0"/>
              <a:pPr/>
              <a:t>4/21/2022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9AF8BC5-B078-4E48-BE17-EDA9C3761E40}"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34F6239-1852-4DBE-BEB9-F4FAE03177F2}" type="datetimeFigureOut">
              <a:rPr lang="en-US" smtClean="0"/>
              <a:pPr/>
              <a:t>4/21/2022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9AF8BC5-B078-4E48-BE17-EDA9C3761E40}"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34F6239-1852-4DBE-BEB9-F4FAE03177F2}" type="datetimeFigureOut">
              <a:rPr lang="en-US" smtClean="0"/>
              <a:pPr/>
              <a:t>4/21/2022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9AF8BC5-B078-4E48-BE17-EDA9C3761E40}"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4F6239-1852-4DBE-BEB9-F4FAE03177F2}" type="datetimeFigureOut">
              <a:rPr lang="en-US" smtClean="0"/>
              <a:pPr/>
              <a:t>4/21/2022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9AF8BC5-B078-4E48-BE17-EDA9C3761E40}"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4F6239-1852-4DBE-BEB9-F4FAE03177F2}" type="datetimeFigureOut">
              <a:rPr lang="en-US" smtClean="0"/>
              <a:pPr/>
              <a:t>4/21/2022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9AF8BC5-B078-4E48-BE17-EDA9C3761E40}"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4F6239-1852-4DBE-BEB9-F4FAE03177F2}" type="datetimeFigureOut">
              <a:rPr lang="en-US" smtClean="0"/>
              <a:pPr/>
              <a:t>4/21/2022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9AF8BC5-B078-4E48-BE17-EDA9C3761E40}"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34F6239-1852-4DBE-BEB9-F4FAE03177F2}" type="datetimeFigureOut">
              <a:rPr lang="en-US" smtClean="0"/>
              <a:pPr/>
              <a:t>4/21/2022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9AF8BC5-B078-4E48-BE17-EDA9C3761E40}"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34F6239-1852-4DBE-BEB9-F4FAE03177F2}" type="datetimeFigureOut">
              <a:rPr lang="en-US" smtClean="0"/>
              <a:pPr/>
              <a:t>4/21/2022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9AF8BC5-B078-4E48-BE17-EDA9C3761E40}"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4F6239-1852-4DBE-BEB9-F4FAE03177F2}" type="datetimeFigureOut">
              <a:rPr lang="en-US" smtClean="0"/>
              <a:pPr/>
              <a:t>4/21/2022</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AF8BC5-B078-4E48-BE17-EDA9C3761E40}"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hlinkClick r:id="rId2" action="ppaction://hlinksldjump"/>
          </p:cNvPr>
          <p:cNvSpPr/>
          <p:nvPr/>
        </p:nvSpPr>
        <p:spPr>
          <a:xfrm>
            <a:off x="609600" y="2286000"/>
            <a:ext cx="1219200" cy="381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000" dirty="0"/>
              <a:t>LED</a:t>
            </a:r>
          </a:p>
        </p:txBody>
      </p:sp>
      <p:sp>
        <p:nvSpPr>
          <p:cNvPr id="8" name="TextBox 7"/>
          <p:cNvSpPr txBox="1"/>
          <p:nvPr/>
        </p:nvSpPr>
        <p:spPr>
          <a:xfrm>
            <a:off x="1752600" y="533400"/>
            <a:ext cx="786241" cy="276999"/>
          </a:xfrm>
          <a:prstGeom prst="rect">
            <a:avLst/>
          </a:prstGeom>
          <a:noFill/>
        </p:spPr>
        <p:txBody>
          <a:bodyPr wrap="none" rtlCol="0">
            <a:spAutoFit/>
          </a:bodyPr>
          <a:lstStyle/>
          <a:p>
            <a:r>
              <a:rPr lang="en-US" sz="1200" dirty="0"/>
              <a:t>TOOLBOX</a:t>
            </a:r>
          </a:p>
        </p:txBody>
      </p:sp>
      <p:sp>
        <p:nvSpPr>
          <p:cNvPr id="9" name="TextBox 8"/>
          <p:cNvSpPr txBox="1"/>
          <p:nvPr/>
        </p:nvSpPr>
        <p:spPr>
          <a:xfrm>
            <a:off x="381000" y="152400"/>
            <a:ext cx="794256" cy="276999"/>
          </a:xfrm>
          <a:prstGeom prst="rect">
            <a:avLst/>
          </a:prstGeom>
          <a:noFill/>
        </p:spPr>
        <p:txBody>
          <a:bodyPr wrap="none" rtlCol="0">
            <a:spAutoFit/>
          </a:bodyPr>
          <a:lstStyle/>
          <a:p>
            <a:r>
              <a:rPr lang="en-US" sz="1200" dirty="0"/>
              <a:t>CPLD TOP</a:t>
            </a:r>
          </a:p>
        </p:txBody>
      </p:sp>
      <p:sp>
        <p:nvSpPr>
          <p:cNvPr id="11" name="Rectangle 10">
            <a:hlinkClick r:id="rId2" action="ppaction://hlinksldjump"/>
          </p:cNvPr>
          <p:cNvSpPr/>
          <p:nvPr/>
        </p:nvSpPr>
        <p:spPr>
          <a:xfrm>
            <a:off x="4419600" y="914400"/>
            <a:ext cx="1219200" cy="381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000" dirty="0"/>
              <a:t>STEPPER</a:t>
            </a:r>
          </a:p>
        </p:txBody>
      </p:sp>
      <p:sp>
        <p:nvSpPr>
          <p:cNvPr id="12" name="TextBox 11"/>
          <p:cNvSpPr txBox="1"/>
          <p:nvPr/>
        </p:nvSpPr>
        <p:spPr>
          <a:xfrm>
            <a:off x="5943600" y="533400"/>
            <a:ext cx="604653" cy="276999"/>
          </a:xfrm>
          <a:prstGeom prst="rect">
            <a:avLst/>
          </a:prstGeom>
          <a:noFill/>
        </p:spPr>
        <p:txBody>
          <a:bodyPr wrap="none" rtlCol="0">
            <a:spAutoFit/>
          </a:bodyPr>
          <a:lstStyle/>
          <a:p>
            <a:r>
              <a:rPr lang="en-US" sz="1200" dirty="0"/>
              <a:t>CARDS</a:t>
            </a:r>
          </a:p>
        </p:txBody>
      </p:sp>
      <p:sp>
        <p:nvSpPr>
          <p:cNvPr id="13" name="Rectangle 12">
            <a:hlinkClick r:id="rId2" action="ppaction://hlinksldjump"/>
          </p:cNvPr>
          <p:cNvSpPr/>
          <p:nvPr/>
        </p:nvSpPr>
        <p:spPr>
          <a:xfrm>
            <a:off x="609600" y="3200400"/>
            <a:ext cx="1219200" cy="381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000" dirty="0"/>
              <a:t>Chip Select</a:t>
            </a:r>
          </a:p>
        </p:txBody>
      </p:sp>
      <p:sp>
        <p:nvSpPr>
          <p:cNvPr id="14" name="Rectangle 13">
            <a:hlinkClick r:id="rId2" action="ppaction://hlinksldjump"/>
          </p:cNvPr>
          <p:cNvSpPr/>
          <p:nvPr/>
        </p:nvSpPr>
        <p:spPr>
          <a:xfrm>
            <a:off x="609600" y="4114800"/>
            <a:ext cx="1219200" cy="381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000" dirty="0"/>
              <a:t>7 x Encoder</a:t>
            </a:r>
          </a:p>
        </p:txBody>
      </p:sp>
      <p:sp>
        <p:nvSpPr>
          <p:cNvPr id="15" name="Rectangle 14">
            <a:hlinkClick r:id="rId2" action="ppaction://hlinksldjump"/>
          </p:cNvPr>
          <p:cNvSpPr/>
          <p:nvPr/>
        </p:nvSpPr>
        <p:spPr>
          <a:xfrm>
            <a:off x="609600" y="4572000"/>
            <a:ext cx="1219200" cy="381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000" dirty="0"/>
              <a:t>7 x PWM</a:t>
            </a:r>
          </a:p>
        </p:txBody>
      </p:sp>
      <p:sp>
        <p:nvSpPr>
          <p:cNvPr id="16" name="Rectangle 15">
            <a:hlinkClick r:id="rId2" action="ppaction://hlinksldjump"/>
          </p:cNvPr>
          <p:cNvSpPr/>
          <p:nvPr/>
        </p:nvSpPr>
        <p:spPr>
          <a:xfrm>
            <a:off x="609600" y="914400"/>
            <a:ext cx="1219200" cy="381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000" dirty="0"/>
              <a:t>Clocks</a:t>
            </a:r>
          </a:p>
        </p:txBody>
      </p:sp>
      <p:sp>
        <p:nvSpPr>
          <p:cNvPr id="17" name="Rectangle 16">
            <a:hlinkClick r:id="rId2" action="ppaction://hlinksldjump"/>
          </p:cNvPr>
          <p:cNvSpPr/>
          <p:nvPr/>
        </p:nvSpPr>
        <p:spPr>
          <a:xfrm>
            <a:off x="609600" y="1371600"/>
            <a:ext cx="1219200" cy="381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000" dirty="0"/>
              <a:t>SPI</a:t>
            </a:r>
          </a:p>
        </p:txBody>
      </p:sp>
      <p:sp>
        <p:nvSpPr>
          <p:cNvPr id="18" name="Rectangle 17">
            <a:hlinkClick r:id="rId2" action="ppaction://hlinksldjump"/>
          </p:cNvPr>
          <p:cNvSpPr/>
          <p:nvPr/>
        </p:nvSpPr>
        <p:spPr>
          <a:xfrm>
            <a:off x="609600" y="1828800"/>
            <a:ext cx="1219200" cy="381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000" dirty="0"/>
              <a:t>Wishbone</a:t>
            </a:r>
          </a:p>
        </p:txBody>
      </p:sp>
      <p:sp>
        <p:nvSpPr>
          <p:cNvPr id="19" name="Rectangle 18">
            <a:hlinkClick r:id="rId2" action="ppaction://hlinksldjump"/>
          </p:cNvPr>
          <p:cNvSpPr/>
          <p:nvPr/>
        </p:nvSpPr>
        <p:spPr>
          <a:xfrm>
            <a:off x="4419600" y="1371600"/>
            <a:ext cx="1219200" cy="381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000" dirty="0"/>
              <a:t>Servo</a:t>
            </a:r>
          </a:p>
        </p:txBody>
      </p:sp>
      <p:sp>
        <p:nvSpPr>
          <p:cNvPr id="20" name="Rectangle 19">
            <a:hlinkClick r:id="rId2" action="ppaction://hlinksldjump"/>
          </p:cNvPr>
          <p:cNvSpPr/>
          <p:nvPr/>
        </p:nvSpPr>
        <p:spPr>
          <a:xfrm>
            <a:off x="609600" y="2743200"/>
            <a:ext cx="1219200" cy="381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000" dirty="0"/>
              <a:t>FAN</a:t>
            </a:r>
          </a:p>
        </p:txBody>
      </p:sp>
      <p:sp>
        <p:nvSpPr>
          <p:cNvPr id="21" name="Rectangle 20">
            <a:hlinkClick r:id="rId2" action="ppaction://hlinksldjump"/>
          </p:cNvPr>
          <p:cNvSpPr/>
          <p:nvPr/>
        </p:nvSpPr>
        <p:spPr>
          <a:xfrm>
            <a:off x="609600" y="3657600"/>
            <a:ext cx="1219200" cy="381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000" dirty="0"/>
              <a:t>OW_DET</a:t>
            </a:r>
          </a:p>
        </p:txBody>
      </p:sp>
      <p:sp>
        <p:nvSpPr>
          <p:cNvPr id="22" name="Rectangle 21">
            <a:hlinkClick r:id="rId2" action="ppaction://hlinksldjump"/>
          </p:cNvPr>
          <p:cNvSpPr/>
          <p:nvPr/>
        </p:nvSpPr>
        <p:spPr>
          <a:xfrm>
            <a:off x="4419600" y="1828800"/>
            <a:ext cx="1219200" cy="381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000" dirty="0"/>
              <a:t>AD5624 DAC</a:t>
            </a:r>
          </a:p>
        </p:txBody>
      </p:sp>
      <p:sp>
        <p:nvSpPr>
          <p:cNvPr id="23" name="Rectangle 22">
            <a:hlinkClick r:id="rId2" action="ppaction://hlinksldjump"/>
          </p:cNvPr>
          <p:cNvSpPr/>
          <p:nvPr/>
        </p:nvSpPr>
        <p:spPr>
          <a:xfrm>
            <a:off x="4419600" y="2286000"/>
            <a:ext cx="1219200" cy="381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000" dirty="0"/>
              <a:t>QUAD  DAC (GALVOS)</a:t>
            </a:r>
          </a:p>
        </p:txBody>
      </p:sp>
      <p:cxnSp>
        <p:nvCxnSpPr>
          <p:cNvPr id="26" name="Straight Connector 25"/>
          <p:cNvCxnSpPr/>
          <p:nvPr/>
        </p:nvCxnSpPr>
        <p:spPr>
          <a:xfrm rot="5400000">
            <a:off x="1104900" y="3543300"/>
            <a:ext cx="6172200" cy="1588"/>
          </a:xfrm>
          <a:prstGeom prst="line">
            <a:avLst/>
          </a:prstGeom>
        </p:spPr>
        <p:style>
          <a:lnRef idx="2">
            <a:schemeClr val="dk1"/>
          </a:lnRef>
          <a:fillRef idx="0">
            <a:schemeClr val="dk1"/>
          </a:fillRef>
          <a:effectRef idx="1">
            <a:schemeClr val="dk1"/>
          </a:effectRef>
          <a:fontRef idx="minor">
            <a:schemeClr val="tx1"/>
          </a:fontRef>
        </p:style>
      </p:cxnSp>
      <p:sp>
        <p:nvSpPr>
          <p:cNvPr id="34" name="Rectangle 33">
            <a:hlinkClick r:id="rId2" action="ppaction://hlinksldjump"/>
          </p:cNvPr>
          <p:cNvSpPr/>
          <p:nvPr/>
        </p:nvSpPr>
        <p:spPr>
          <a:xfrm>
            <a:off x="4419600" y="2743200"/>
            <a:ext cx="1219200" cy="381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000" dirty="0"/>
              <a:t>RS232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57200" y="457200"/>
            <a:ext cx="8077200" cy="6172200"/>
          </a:xfrm>
          <a:prstGeom prst="rect">
            <a:avLst/>
          </a:prstGeom>
        </p:spPr>
        <p:style>
          <a:lnRef idx="2">
            <a:schemeClr val="dk1"/>
          </a:lnRef>
          <a:fillRef idx="1">
            <a:schemeClr val="lt1"/>
          </a:fillRef>
          <a:effectRef idx="0">
            <a:schemeClr val="dk1"/>
          </a:effectRef>
          <a:fontRef idx="minor">
            <a:schemeClr val="dk1"/>
          </a:fontRef>
        </p:style>
        <p:txBody>
          <a:bodyPr rtlCol="0" anchor="t"/>
          <a:lstStyle/>
          <a:p>
            <a:pPr algn="ctr"/>
            <a:endParaRPr lang="en-US" sz="1200" dirty="0"/>
          </a:p>
        </p:txBody>
      </p:sp>
      <p:sp>
        <p:nvSpPr>
          <p:cNvPr id="21" name="TextBox 20"/>
          <p:cNvSpPr txBox="1"/>
          <p:nvPr/>
        </p:nvSpPr>
        <p:spPr>
          <a:xfrm>
            <a:off x="533400" y="609600"/>
            <a:ext cx="7848600" cy="1200329"/>
          </a:xfrm>
          <a:prstGeom prst="rect">
            <a:avLst/>
          </a:prstGeom>
          <a:noFill/>
        </p:spPr>
        <p:txBody>
          <a:bodyPr wrap="square" rtlCol="0">
            <a:spAutoFit/>
          </a:bodyPr>
          <a:lstStyle/>
          <a:p>
            <a:pPr>
              <a:buFont typeface="Arial" pitchFamily="34" charset="0"/>
              <a:buChar char="•"/>
            </a:pPr>
            <a:r>
              <a:rPr lang="en-US" sz="1200" dirty="0"/>
              <a:t>All additions to this project should be added here for clarity but also so a place for others to see what's available for reuse.</a:t>
            </a:r>
          </a:p>
          <a:p>
            <a:pPr>
              <a:buFont typeface="Arial" pitchFamily="34" charset="0"/>
              <a:buChar char="•"/>
            </a:pPr>
            <a:r>
              <a:rPr lang="en-US" sz="1200" dirty="0"/>
              <a:t>All card modules need to be able to be commented out for compile time without breaking anything so that as more logic is required for different system, there should be an easy way to comment out modules that particular system doesn't need.</a:t>
            </a:r>
          </a:p>
          <a:p>
            <a:pPr>
              <a:buFont typeface="Arial" pitchFamily="34" charset="0"/>
              <a:buChar char="•"/>
            </a:pPr>
            <a:r>
              <a:rPr lang="en-US" sz="1200" dirty="0"/>
              <a:t>Special function modules can be created but must also be able to be commented out. </a:t>
            </a:r>
          </a:p>
          <a:p>
            <a:pPr>
              <a:buFont typeface="Arial" pitchFamily="34" charset="0"/>
              <a:buChar char="•"/>
            </a:pPr>
            <a:r>
              <a:rPr lang="en-US" sz="1200" dirty="0"/>
              <a:t>All modules are disabled after reset except for LED</a:t>
            </a:r>
          </a:p>
          <a:p>
            <a:pPr>
              <a:buFont typeface="Arial" pitchFamily="34" charset="0"/>
              <a:buChar char="•"/>
            </a:pPr>
            <a:r>
              <a:rPr lang="en-US" sz="1200" dirty="0" err="1"/>
              <a:t>uC</a:t>
            </a:r>
            <a:r>
              <a:rPr lang="en-US" sz="1200" dirty="0"/>
              <a:t> firmware should have a separate top file for each module.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219200" y="533400"/>
            <a:ext cx="7391400" cy="6096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3" name="Elbow Connector 12"/>
          <p:cNvCxnSpPr/>
          <p:nvPr/>
        </p:nvCxnSpPr>
        <p:spPr>
          <a:xfrm>
            <a:off x="304800" y="9906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14" name="TextBox 13"/>
          <p:cNvSpPr txBox="1"/>
          <p:nvPr/>
        </p:nvSpPr>
        <p:spPr>
          <a:xfrm>
            <a:off x="1295400" y="838200"/>
            <a:ext cx="1759521" cy="276999"/>
          </a:xfrm>
          <a:prstGeom prst="rect">
            <a:avLst/>
          </a:prstGeom>
          <a:noFill/>
        </p:spPr>
        <p:txBody>
          <a:bodyPr wrap="none" rtlCol="0">
            <a:spAutoFit/>
          </a:bodyPr>
          <a:lstStyle/>
          <a:p>
            <a:r>
              <a:rPr lang="en-US" sz="1200" dirty="0"/>
              <a:t>12MHz from uC (pin 104)</a:t>
            </a:r>
          </a:p>
        </p:txBody>
      </p:sp>
      <p:sp>
        <p:nvSpPr>
          <p:cNvPr id="19" name="TextBox 18"/>
          <p:cNvSpPr txBox="1"/>
          <p:nvPr/>
        </p:nvSpPr>
        <p:spPr>
          <a:xfrm>
            <a:off x="152400" y="152400"/>
            <a:ext cx="1100173" cy="276999"/>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sz="1200" dirty="0"/>
              <a:t>Clocks Module</a:t>
            </a:r>
          </a:p>
        </p:txBody>
      </p:sp>
      <p:sp>
        <p:nvSpPr>
          <p:cNvPr id="24" name="TextBox 23"/>
          <p:cNvSpPr txBox="1"/>
          <p:nvPr/>
        </p:nvSpPr>
        <p:spPr>
          <a:xfrm>
            <a:off x="1676400" y="533400"/>
            <a:ext cx="416653" cy="276999"/>
          </a:xfrm>
          <a:prstGeom prst="rect">
            <a:avLst/>
          </a:prstGeom>
          <a:noFill/>
        </p:spPr>
        <p:txBody>
          <a:bodyPr wrap="none" rtlCol="0">
            <a:spAutoFit/>
          </a:bodyPr>
          <a:lstStyle/>
          <a:p>
            <a:r>
              <a:rPr lang="en-US" sz="1200" dirty="0"/>
              <a:t>IO’s</a:t>
            </a:r>
          </a:p>
        </p:txBody>
      </p:sp>
      <p:cxnSp>
        <p:nvCxnSpPr>
          <p:cNvPr id="28" name="Straight Connector 27"/>
          <p:cNvCxnSpPr/>
          <p:nvPr/>
        </p:nvCxnSpPr>
        <p:spPr>
          <a:xfrm rot="5400000">
            <a:off x="75406" y="3505200"/>
            <a:ext cx="6096794" cy="794"/>
          </a:xfrm>
          <a:prstGeom prst="line">
            <a:avLst/>
          </a:prstGeom>
        </p:spPr>
        <p:style>
          <a:lnRef idx="1">
            <a:schemeClr val="dk1"/>
          </a:lnRef>
          <a:fillRef idx="0">
            <a:schemeClr val="dk1"/>
          </a:fillRef>
          <a:effectRef idx="0">
            <a:schemeClr val="dk1"/>
          </a:effectRef>
          <a:fontRef idx="minor">
            <a:schemeClr val="tx1"/>
          </a:fontRef>
        </p:style>
      </p:cxnSp>
      <p:cxnSp>
        <p:nvCxnSpPr>
          <p:cNvPr id="32" name="Elbow Connector 31"/>
          <p:cNvCxnSpPr/>
          <p:nvPr/>
        </p:nvCxnSpPr>
        <p:spPr>
          <a:xfrm>
            <a:off x="304800" y="25908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33" name="TextBox 32"/>
          <p:cNvSpPr txBox="1"/>
          <p:nvPr/>
        </p:nvSpPr>
        <p:spPr>
          <a:xfrm>
            <a:off x="1295400" y="2438400"/>
            <a:ext cx="933269" cy="276999"/>
          </a:xfrm>
          <a:prstGeom prst="rect">
            <a:avLst/>
          </a:prstGeom>
          <a:noFill/>
        </p:spPr>
        <p:txBody>
          <a:bodyPr wrap="none" rtlCol="0">
            <a:spAutoFit/>
          </a:bodyPr>
          <a:lstStyle/>
          <a:p>
            <a:r>
              <a:rPr lang="en-US" sz="1200" dirty="0"/>
              <a:t>CLK_38MHz</a:t>
            </a:r>
          </a:p>
        </p:txBody>
      </p:sp>
      <p:sp>
        <p:nvSpPr>
          <p:cNvPr id="34" name="TextBox 33"/>
          <p:cNvSpPr txBox="1"/>
          <p:nvPr/>
        </p:nvSpPr>
        <p:spPr>
          <a:xfrm>
            <a:off x="1676400" y="3124200"/>
            <a:ext cx="827662" cy="276999"/>
          </a:xfrm>
          <a:prstGeom prst="rect">
            <a:avLst/>
          </a:prstGeom>
          <a:noFill/>
        </p:spPr>
        <p:txBody>
          <a:bodyPr wrap="none" rtlCol="0">
            <a:spAutoFit/>
          </a:bodyPr>
          <a:lstStyle/>
          <a:p>
            <a:r>
              <a:rPr lang="en-US" sz="1200" dirty="0"/>
              <a:t>Clocks out</a:t>
            </a:r>
          </a:p>
        </p:txBody>
      </p:sp>
      <p:cxnSp>
        <p:nvCxnSpPr>
          <p:cNvPr id="36" name="Straight Connector 35"/>
          <p:cNvCxnSpPr/>
          <p:nvPr/>
        </p:nvCxnSpPr>
        <p:spPr>
          <a:xfrm rot="10800000" flipH="1">
            <a:off x="1219200" y="2895600"/>
            <a:ext cx="1905000" cy="1588"/>
          </a:xfrm>
          <a:prstGeom prst="line">
            <a:avLst/>
          </a:prstGeom>
        </p:spPr>
        <p:style>
          <a:lnRef idx="2">
            <a:schemeClr val="dk1"/>
          </a:lnRef>
          <a:fillRef idx="0">
            <a:schemeClr val="dk1"/>
          </a:fillRef>
          <a:effectRef idx="1">
            <a:schemeClr val="dk1"/>
          </a:effectRef>
          <a:fontRef idx="minor">
            <a:schemeClr val="tx1"/>
          </a:fontRef>
        </p:style>
      </p:cxnSp>
      <p:cxnSp>
        <p:nvCxnSpPr>
          <p:cNvPr id="37" name="Elbow Connector 36"/>
          <p:cNvCxnSpPr/>
          <p:nvPr/>
        </p:nvCxnSpPr>
        <p:spPr>
          <a:xfrm>
            <a:off x="304800" y="35814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38" name="TextBox 37"/>
          <p:cNvSpPr txBox="1"/>
          <p:nvPr/>
        </p:nvSpPr>
        <p:spPr>
          <a:xfrm>
            <a:off x="1219200" y="3429000"/>
            <a:ext cx="933269" cy="276999"/>
          </a:xfrm>
          <a:prstGeom prst="rect">
            <a:avLst/>
          </a:prstGeom>
          <a:noFill/>
        </p:spPr>
        <p:txBody>
          <a:bodyPr wrap="none" rtlCol="0">
            <a:spAutoFit/>
          </a:bodyPr>
          <a:lstStyle/>
          <a:p>
            <a:r>
              <a:rPr lang="en-US" sz="1200" dirty="0"/>
              <a:t>CLK_12MHz</a:t>
            </a:r>
          </a:p>
        </p:txBody>
      </p:sp>
      <p:sp>
        <p:nvSpPr>
          <p:cNvPr id="41" name="TextBox 40"/>
          <p:cNvSpPr txBox="1"/>
          <p:nvPr/>
        </p:nvSpPr>
        <p:spPr>
          <a:xfrm>
            <a:off x="1219200" y="1981200"/>
            <a:ext cx="1913281" cy="461665"/>
          </a:xfrm>
          <a:prstGeom prst="rect">
            <a:avLst/>
          </a:prstGeom>
          <a:noFill/>
        </p:spPr>
        <p:txBody>
          <a:bodyPr wrap="none" rtlCol="0">
            <a:spAutoFit/>
          </a:bodyPr>
          <a:lstStyle/>
          <a:p>
            <a:r>
              <a:rPr lang="en-US" sz="1200"/>
              <a:t>Internal </a:t>
            </a:r>
            <a:r>
              <a:rPr lang="en-US" sz="1200" dirty="0"/>
              <a:t>Clock</a:t>
            </a:r>
          </a:p>
          <a:p>
            <a:r>
              <a:rPr lang="en-US" sz="1200" dirty="0"/>
              <a:t>(need </a:t>
            </a:r>
            <a:r>
              <a:rPr lang="en-US" sz="1200"/>
              <a:t>before programming</a:t>
            </a:r>
            <a:r>
              <a:rPr lang="en-US" sz="1200" dirty="0"/>
              <a:t>)</a:t>
            </a:r>
          </a:p>
        </p:txBody>
      </p:sp>
      <p:cxnSp>
        <p:nvCxnSpPr>
          <p:cNvPr id="42" name="Straight Connector 41"/>
          <p:cNvCxnSpPr/>
          <p:nvPr/>
        </p:nvCxnSpPr>
        <p:spPr>
          <a:xfrm rot="10800000" flipH="1">
            <a:off x="1219200" y="1905000"/>
            <a:ext cx="1905000" cy="1588"/>
          </a:xfrm>
          <a:prstGeom prst="line">
            <a:avLst/>
          </a:prstGeom>
        </p:spPr>
        <p:style>
          <a:lnRef idx="2">
            <a:schemeClr val="dk1"/>
          </a:lnRef>
          <a:fillRef idx="0">
            <a:schemeClr val="dk1"/>
          </a:fillRef>
          <a:effectRef idx="1">
            <a:schemeClr val="dk1"/>
          </a:effectRef>
          <a:fontRef idx="minor">
            <a:schemeClr val="tx1"/>
          </a:fontRef>
        </p:style>
      </p:cxnSp>
      <p:sp>
        <p:nvSpPr>
          <p:cNvPr id="43" name="TextBox 42"/>
          <p:cNvSpPr txBox="1"/>
          <p:nvPr/>
        </p:nvSpPr>
        <p:spPr>
          <a:xfrm>
            <a:off x="1219200" y="4343400"/>
            <a:ext cx="1140056" cy="276999"/>
          </a:xfrm>
          <a:prstGeom prst="rect">
            <a:avLst/>
          </a:prstGeom>
          <a:noFill/>
        </p:spPr>
        <p:txBody>
          <a:bodyPr wrap="none" rtlCol="0">
            <a:spAutoFit/>
          </a:bodyPr>
          <a:lstStyle/>
          <a:p>
            <a:r>
              <a:rPr lang="en-US" sz="1200" dirty="0"/>
              <a:t>CLK_1MHz_PLL</a:t>
            </a:r>
          </a:p>
        </p:txBody>
      </p:sp>
      <p:cxnSp>
        <p:nvCxnSpPr>
          <p:cNvPr id="47" name="Elbow Connector 46"/>
          <p:cNvCxnSpPr>
            <a:stCxn id="14" idx="3"/>
            <a:endCxn id="34" idx="3"/>
          </p:cNvCxnSpPr>
          <p:nvPr/>
        </p:nvCxnSpPr>
        <p:spPr>
          <a:xfrm flipH="1">
            <a:off x="2504062" y="976700"/>
            <a:ext cx="550859" cy="2286000"/>
          </a:xfrm>
          <a:prstGeom prst="bentConnector3">
            <a:avLst>
              <a:gd name="adj1" fmla="val -451789"/>
            </a:avLst>
          </a:prstGeom>
          <a:ln>
            <a:headEnd type="none"/>
            <a:tailEnd type="arrow"/>
          </a:ln>
        </p:spPr>
        <p:style>
          <a:lnRef idx="2">
            <a:schemeClr val="dk1"/>
          </a:lnRef>
          <a:fillRef idx="0">
            <a:schemeClr val="dk1"/>
          </a:fillRef>
          <a:effectRef idx="1">
            <a:schemeClr val="dk1"/>
          </a:effectRef>
          <a:fontRef idx="minor">
            <a:schemeClr val="tx1"/>
          </a:fontRef>
        </p:style>
      </p:cxnSp>
      <p:cxnSp>
        <p:nvCxnSpPr>
          <p:cNvPr id="49" name="Elbow Connector 48"/>
          <p:cNvCxnSpPr/>
          <p:nvPr/>
        </p:nvCxnSpPr>
        <p:spPr>
          <a:xfrm>
            <a:off x="304800" y="40386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50" name="TextBox 49"/>
          <p:cNvSpPr txBox="1"/>
          <p:nvPr/>
        </p:nvSpPr>
        <p:spPr>
          <a:xfrm>
            <a:off x="1219200" y="4800600"/>
            <a:ext cx="1297150" cy="276999"/>
          </a:xfrm>
          <a:prstGeom prst="rect">
            <a:avLst/>
          </a:prstGeom>
          <a:noFill/>
        </p:spPr>
        <p:txBody>
          <a:bodyPr wrap="none" rtlCol="0">
            <a:spAutoFit/>
          </a:bodyPr>
          <a:lstStyle/>
          <a:p>
            <a:r>
              <a:rPr lang="en-US" sz="1200" dirty="0"/>
              <a:t>CLK_120MHz_PLL</a:t>
            </a:r>
          </a:p>
        </p:txBody>
      </p:sp>
      <p:cxnSp>
        <p:nvCxnSpPr>
          <p:cNvPr id="51" name="Elbow Connector 50"/>
          <p:cNvCxnSpPr/>
          <p:nvPr/>
        </p:nvCxnSpPr>
        <p:spPr>
          <a:xfrm>
            <a:off x="304800" y="42672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52" name="TextBox 51"/>
          <p:cNvSpPr txBox="1"/>
          <p:nvPr/>
        </p:nvSpPr>
        <p:spPr>
          <a:xfrm>
            <a:off x="1219200" y="5029200"/>
            <a:ext cx="1297150" cy="276999"/>
          </a:xfrm>
          <a:prstGeom prst="rect">
            <a:avLst/>
          </a:prstGeom>
          <a:noFill/>
        </p:spPr>
        <p:txBody>
          <a:bodyPr wrap="none" rtlCol="0">
            <a:spAutoFit/>
          </a:bodyPr>
          <a:lstStyle/>
          <a:p>
            <a:r>
              <a:rPr lang="en-US" sz="1200" dirty="0"/>
              <a:t>CLK_400MHz_PLL</a:t>
            </a:r>
          </a:p>
        </p:txBody>
      </p:sp>
      <p:cxnSp>
        <p:nvCxnSpPr>
          <p:cNvPr id="53" name="Elbow Connector 52"/>
          <p:cNvCxnSpPr/>
          <p:nvPr/>
        </p:nvCxnSpPr>
        <p:spPr>
          <a:xfrm>
            <a:off x="304800" y="44958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54" name="TextBox 53"/>
          <p:cNvSpPr txBox="1"/>
          <p:nvPr/>
        </p:nvSpPr>
        <p:spPr>
          <a:xfrm>
            <a:off x="1219200" y="4114800"/>
            <a:ext cx="1236236" cy="276999"/>
          </a:xfrm>
          <a:prstGeom prst="rect">
            <a:avLst/>
          </a:prstGeom>
          <a:noFill/>
        </p:spPr>
        <p:txBody>
          <a:bodyPr wrap="none" rtlCol="0">
            <a:spAutoFit/>
          </a:bodyPr>
          <a:lstStyle/>
          <a:p>
            <a:r>
              <a:rPr lang="en-US" sz="1200" dirty="0"/>
              <a:t>CLK_500KHz_PLL</a:t>
            </a:r>
          </a:p>
        </p:txBody>
      </p:sp>
      <p:sp>
        <p:nvSpPr>
          <p:cNvPr id="56" name="TextBox 55"/>
          <p:cNvSpPr txBox="1"/>
          <p:nvPr/>
        </p:nvSpPr>
        <p:spPr>
          <a:xfrm>
            <a:off x="1219200" y="3886200"/>
            <a:ext cx="1167307" cy="276999"/>
          </a:xfrm>
          <a:prstGeom prst="rect">
            <a:avLst/>
          </a:prstGeom>
          <a:noFill/>
        </p:spPr>
        <p:txBody>
          <a:bodyPr wrap="none" rtlCol="0">
            <a:spAutoFit/>
          </a:bodyPr>
          <a:lstStyle/>
          <a:p>
            <a:r>
              <a:rPr lang="en-US" sz="1200" dirty="0"/>
              <a:t>CLK_25KHz_PLL</a:t>
            </a:r>
          </a:p>
        </p:txBody>
      </p:sp>
      <p:cxnSp>
        <p:nvCxnSpPr>
          <p:cNvPr id="57" name="Elbow Connector 56"/>
          <p:cNvCxnSpPr/>
          <p:nvPr/>
        </p:nvCxnSpPr>
        <p:spPr>
          <a:xfrm>
            <a:off x="304800" y="49530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cxnSp>
        <p:nvCxnSpPr>
          <p:cNvPr id="58" name="Elbow Connector 57"/>
          <p:cNvCxnSpPr/>
          <p:nvPr/>
        </p:nvCxnSpPr>
        <p:spPr>
          <a:xfrm>
            <a:off x="304800" y="51816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27" name="TextBox 26"/>
          <p:cNvSpPr txBox="1"/>
          <p:nvPr/>
        </p:nvSpPr>
        <p:spPr>
          <a:xfrm>
            <a:off x="1219200" y="4572000"/>
            <a:ext cx="1218603" cy="276999"/>
          </a:xfrm>
          <a:prstGeom prst="rect">
            <a:avLst/>
          </a:prstGeom>
          <a:noFill/>
        </p:spPr>
        <p:txBody>
          <a:bodyPr wrap="none" rtlCol="0">
            <a:spAutoFit/>
          </a:bodyPr>
          <a:lstStyle/>
          <a:p>
            <a:r>
              <a:rPr lang="en-US" sz="1200" dirty="0"/>
              <a:t>CLK_48MHz_PLL</a:t>
            </a:r>
          </a:p>
        </p:txBody>
      </p:sp>
      <p:cxnSp>
        <p:nvCxnSpPr>
          <p:cNvPr id="29" name="Elbow Connector 28"/>
          <p:cNvCxnSpPr/>
          <p:nvPr/>
        </p:nvCxnSpPr>
        <p:spPr>
          <a:xfrm>
            <a:off x="304800" y="47244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30" name="TextBox 29"/>
          <p:cNvSpPr txBox="1"/>
          <p:nvPr/>
        </p:nvSpPr>
        <p:spPr>
          <a:xfrm>
            <a:off x="3200400" y="3657600"/>
            <a:ext cx="5334000" cy="646331"/>
          </a:xfrm>
          <a:prstGeom prst="rect">
            <a:avLst/>
          </a:prstGeom>
          <a:noFill/>
        </p:spPr>
        <p:txBody>
          <a:bodyPr wrap="square" rtlCol="0">
            <a:spAutoFit/>
          </a:bodyPr>
          <a:lstStyle/>
          <a:p>
            <a:r>
              <a:rPr lang="en-US" sz="1200" dirty="0"/>
              <a:t>Clock used for modules should be selected to minimize logic i.e. PWM  for should use a slower clock so the compare register for the duty cycle is as small as possible</a:t>
            </a:r>
          </a:p>
          <a:p>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219200" y="457200"/>
            <a:ext cx="7391400" cy="6096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8" name="TextBox 7"/>
          <p:cNvSpPr txBox="1"/>
          <p:nvPr/>
        </p:nvSpPr>
        <p:spPr>
          <a:xfrm>
            <a:off x="1295400" y="838200"/>
            <a:ext cx="1367682" cy="276999"/>
          </a:xfrm>
          <a:prstGeom prst="rect">
            <a:avLst/>
          </a:prstGeom>
          <a:noFill/>
        </p:spPr>
        <p:txBody>
          <a:bodyPr wrap="none" rtlCol="0">
            <a:spAutoFit/>
          </a:bodyPr>
          <a:lstStyle/>
          <a:p>
            <a:r>
              <a:rPr lang="en-US" sz="1200" dirty="0"/>
              <a:t>LED_OUT </a:t>
            </a:r>
            <a:r>
              <a:rPr lang="en-US" sz="1200"/>
              <a:t>(pin </a:t>
            </a:r>
            <a:r>
              <a:rPr lang="en-US" sz="1200" dirty="0"/>
              <a:t>126)</a:t>
            </a:r>
          </a:p>
        </p:txBody>
      </p:sp>
      <p:sp>
        <p:nvSpPr>
          <p:cNvPr id="19" name="TextBox 18"/>
          <p:cNvSpPr txBox="1"/>
          <p:nvPr/>
        </p:nvSpPr>
        <p:spPr>
          <a:xfrm>
            <a:off x="152400" y="152400"/>
            <a:ext cx="939681" cy="276999"/>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sz="1200" dirty="0"/>
              <a:t>LED Module</a:t>
            </a:r>
          </a:p>
        </p:txBody>
      </p:sp>
      <p:sp>
        <p:nvSpPr>
          <p:cNvPr id="25" name="TextBox 24"/>
          <p:cNvSpPr txBox="1"/>
          <p:nvPr/>
        </p:nvSpPr>
        <p:spPr>
          <a:xfrm>
            <a:off x="3505200" y="533400"/>
            <a:ext cx="4953000" cy="830997"/>
          </a:xfrm>
          <a:prstGeom prst="rect">
            <a:avLst/>
          </a:prstGeom>
          <a:noFill/>
        </p:spPr>
        <p:txBody>
          <a:bodyPr wrap="square" rtlCol="0">
            <a:spAutoFit/>
          </a:bodyPr>
          <a:lstStyle/>
          <a:p>
            <a:r>
              <a:rPr lang="en-US" sz="1200" dirty="0"/>
              <a:t>Using internal instantiated PWM</a:t>
            </a:r>
          </a:p>
          <a:p>
            <a:endParaRPr lang="en-US" sz="1200" dirty="0"/>
          </a:p>
          <a:p>
            <a:r>
              <a:rPr lang="en-US" sz="1200" dirty="0"/>
              <a:t>[SET]</a:t>
            </a:r>
          </a:p>
          <a:p>
            <a:r>
              <a:rPr lang="en-US" sz="1200" dirty="0"/>
              <a:t>LED_SET_PWM_DUTY: 0 off, 255 full on</a:t>
            </a:r>
          </a:p>
        </p:txBody>
      </p:sp>
      <p:cxnSp>
        <p:nvCxnSpPr>
          <p:cNvPr id="28" name="Straight Connector 27"/>
          <p:cNvCxnSpPr/>
          <p:nvPr/>
        </p:nvCxnSpPr>
        <p:spPr>
          <a:xfrm rot="5400000">
            <a:off x="304800" y="3505200"/>
            <a:ext cx="6096794" cy="794"/>
          </a:xfrm>
          <a:prstGeom prst="line">
            <a:avLst/>
          </a:prstGeom>
        </p:spPr>
        <p:style>
          <a:lnRef idx="1">
            <a:schemeClr val="dk1"/>
          </a:lnRef>
          <a:fillRef idx="0">
            <a:schemeClr val="dk1"/>
          </a:fillRef>
          <a:effectRef idx="0">
            <a:schemeClr val="dk1"/>
          </a:effectRef>
          <a:fontRef idx="minor">
            <a:schemeClr val="tx1"/>
          </a:fontRef>
        </p:style>
      </p:cxnSp>
      <p:sp>
        <p:nvSpPr>
          <p:cNvPr id="22" name="TextBox 21"/>
          <p:cNvSpPr txBox="1"/>
          <p:nvPr/>
        </p:nvSpPr>
        <p:spPr>
          <a:xfrm>
            <a:off x="1676400" y="533400"/>
            <a:ext cx="857607" cy="276999"/>
          </a:xfrm>
          <a:prstGeom prst="rect">
            <a:avLst/>
          </a:prstGeom>
          <a:noFill/>
        </p:spPr>
        <p:txBody>
          <a:bodyPr wrap="none" rtlCol="0">
            <a:spAutoFit/>
          </a:bodyPr>
          <a:lstStyle/>
          <a:p>
            <a:r>
              <a:rPr lang="en-US" sz="1200" dirty="0"/>
              <a:t>IO’s to Slot</a:t>
            </a:r>
          </a:p>
        </p:txBody>
      </p:sp>
      <p:cxnSp>
        <p:nvCxnSpPr>
          <p:cNvPr id="14" name="Elbow Connector 13"/>
          <p:cNvCxnSpPr/>
          <p:nvPr/>
        </p:nvCxnSpPr>
        <p:spPr>
          <a:xfrm>
            <a:off x="304800" y="9906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9" name="TextBox 8"/>
          <p:cNvSpPr txBox="1"/>
          <p:nvPr/>
        </p:nvSpPr>
        <p:spPr>
          <a:xfrm>
            <a:off x="1219200" y="6096000"/>
            <a:ext cx="1167307" cy="276999"/>
          </a:xfrm>
          <a:prstGeom prst="rect">
            <a:avLst/>
          </a:prstGeom>
          <a:noFill/>
        </p:spPr>
        <p:txBody>
          <a:bodyPr wrap="none" rtlCol="0">
            <a:spAutoFit/>
          </a:bodyPr>
          <a:lstStyle/>
          <a:p>
            <a:r>
              <a:rPr lang="en-US" sz="1200" dirty="0"/>
              <a:t>CLK_25KHz_PLL</a:t>
            </a:r>
          </a:p>
        </p:txBody>
      </p:sp>
      <p:sp>
        <p:nvSpPr>
          <p:cNvPr id="10" name="TextBox 9"/>
          <p:cNvSpPr txBox="1"/>
          <p:nvPr/>
        </p:nvSpPr>
        <p:spPr>
          <a:xfrm>
            <a:off x="1676400" y="5791200"/>
            <a:ext cx="833946" cy="276999"/>
          </a:xfrm>
          <a:prstGeom prst="rect">
            <a:avLst/>
          </a:prstGeom>
          <a:noFill/>
        </p:spPr>
        <p:txBody>
          <a:bodyPr wrap="none" rtlCol="0">
            <a:spAutoFit/>
          </a:bodyPr>
          <a:lstStyle/>
          <a:p>
            <a:r>
              <a:rPr lang="en-US" sz="1200"/>
              <a:t>CLOCKS IN</a:t>
            </a:r>
            <a:endParaRPr lang="en-US" sz="1200" dirty="0"/>
          </a:p>
        </p:txBody>
      </p:sp>
      <p:cxnSp>
        <p:nvCxnSpPr>
          <p:cNvPr id="11" name="Straight Connector 10"/>
          <p:cNvCxnSpPr/>
          <p:nvPr/>
        </p:nvCxnSpPr>
        <p:spPr>
          <a:xfrm flipV="1">
            <a:off x="1219200" y="5715000"/>
            <a:ext cx="2133600" cy="1588"/>
          </a:xfrm>
          <a:prstGeom prst="line">
            <a:avLst/>
          </a:prstGeom>
        </p:spPr>
        <p:style>
          <a:lnRef idx="2">
            <a:schemeClr val="dk1"/>
          </a:lnRef>
          <a:fillRef idx="0">
            <a:schemeClr val="dk1"/>
          </a:fillRef>
          <a:effectRef idx="1">
            <a:schemeClr val="dk1"/>
          </a:effectRef>
          <a:fontRef idx="minor">
            <a:schemeClr val="tx1"/>
          </a:fontRef>
        </p:style>
      </p:cxnSp>
      <p:cxnSp>
        <p:nvCxnSpPr>
          <p:cNvPr id="12" name="Elbow Connector 11"/>
          <p:cNvCxnSpPr/>
          <p:nvPr/>
        </p:nvCxnSpPr>
        <p:spPr>
          <a:xfrm>
            <a:off x="304800" y="62484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219200" y="457200"/>
            <a:ext cx="7391400" cy="6096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8" name="TextBox 7"/>
          <p:cNvSpPr txBox="1"/>
          <p:nvPr/>
        </p:nvSpPr>
        <p:spPr>
          <a:xfrm>
            <a:off x="1295400" y="838200"/>
            <a:ext cx="1306127" cy="276999"/>
          </a:xfrm>
          <a:prstGeom prst="rect">
            <a:avLst/>
          </a:prstGeom>
          <a:noFill/>
        </p:spPr>
        <p:txBody>
          <a:bodyPr wrap="none" rtlCol="0">
            <a:spAutoFit/>
          </a:bodyPr>
          <a:lstStyle/>
          <a:p>
            <a:r>
              <a:rPr lang="en-US" sz="1200" dirty="0"/>
              <a:t>FAN_OUT </a:t>
            </a:r>
            <a:r>
              <a:rPr lang="en-US" sz="1200"/>
              <a:t>(pin </a:t>
            </a:r>
            <a:r>
              <a:rPr lang="en-US" sz="1200" dirty="0"/>
              <a:t>82)</a:t>
            </a:r>
          </a:p>
        </p:txBody>
      </p:sp>
      <p:sp>
        <p:nvSpPr>
          <p:cNvPr id="19" name="TextBox 18"/>
          <p:cNvSpPr txBox="1"/>
          <p:nvPr/>
        </p:nvSpPr>
        <p:spPr>
          <a:xfrm>
            <a:off x="152400" y="152400"/>
            <a:ext cx="925959" cy="276999"/>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sz="1200" dirty="0"/>
              <a:t>Fan Module</a:t>
            </a:r>
          </a:p>
        </p:txBody>
      </p:sp>
      <p:cxnSp>
        <p:nvCxnSpPr>
          <p:cNvPr id="28" name="Straight Connector 27"/>
          <p:cNvCxnSpPr/>
          <p:nvPr/>
        </p:nvCxnSpPr>
        <p:spPr>
          <a:xfrm rot="5400000">
            <a:off x="304800" y="3505200"/>
            <a:ext cx="6096794" cy="794"/>
          </a:xfrm>
          <a:prstGeom prst="line">
            <a:avLst/>
          </a:prstGeom>
        </p:spPr>
        <p:style>
          <a:lnRef idx="1">
            <a:schemeClr val="dk1"/>
          </a:lnRef>
          <a:fillRef idx="0">
            <a:schemeClr val="dk1"/>
          </a:fillRef>
          <a:effectRef idx="0">
            <a:schemeClr val="dk1"/>
          </a:effectRef>
          <a:fontRef idx="minor">
            <a:schemeClr val="tx1"/>
          </a:fontRef>
        </p:style>
      </p:cxnSp>
      <p:sp>
        <p:nvSpPr>
          <p:cNvPr id="22" name="TextBox 21"/>
          <p:cNvSpPr txBox="1"/>
          <p:nvPr/>
        </p:nvSpPr>
        <p:spPr>
          <a:xfrm>
            <a:off x="1676400" y="533400"/>
            <a:ext cx="857607" cy="276999"/>
          </a:xfrm>
          <a:prstGeom prst="rect">
            <a:avLst/>
          </a:prstGeom>
          <a:noFill/>
        </p:spPr>
        <p:txBody>
          <a:bodyPr wrap="none" rtlCol="0">
            <a:spAutoFit/>
          </a:bodyPr>
          <a:lstStyle/>
          <a:p>
            <a:r>
              <a:rPr lang="en-US" sz="1200" dirty="0"/>
              <a:t>IO’s to Slot</a:t>
            </a:r>
          </a:p>
        </p:txBody>
      </p:sp>
      <p:cxnSp>
        <p:nvCxnSpPr>
          <p:cNvPr id="14" name="Elbow Connector 13"/>
          <p:cNvCxnSpPr/>
          <p:nvPr/>
        </p:nvCxnSpPr>
        <p:spPr>
          <a:xfrm>
            <a:off x="304800" y="9906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9" name="TextBox 8"/>
          <p:cNvSpPr txBox="1"/>
          <p:nvPr/>
        </p:nvSpPr>
        <p:spPr>
          <a:xfrm>
            <a:off x="1219200" y="6096000"/>
            <a:ext cx="1167307" cy="276999"/>
          </a:xfrm>
          <a:prstGeom prst="rect">
            <a:avLst/>
          </a:prstGeom>
          <a:noFill/>
        </p:spPr>
        <p:txBody>
          <a:bodyPr wrap="none" rtlCol="0">
            <a:spAutoFit/>
          </a:bodyPr>
          <a:lstStyle/>
          <a:p>
            <a:r>
              <a:rPr lang="en-US" sz="1200" dirty="0"/>
              <a:t>CLK_25KHz_PLL</a:t>
            </a:r>
          </a:p>
        </p:txBody>
      </p:sp>
      <p:sp>
        <p:nvSpPr>
          <p:cNvPr id="10" name="TextBox 9"/>
          <p:cNvSpPr txBox="1"/>
          <p:nvPr/>
        </p:nvSpPr>
        <p:spPr>
          <a:xfrm>
            <a:off x="1676400" y="5791200"/>
            <a:ext cx="833946" cy="276999"/>
          </a:xfrm>
          <a:prstGeom prst="rect">
            <a:avLst/>
          </a:prstGeom>
          <a:noFill/>
        </p:spPr>
        <p:txBody>
          <a:bodyPr wrap="none" rtlCol="0">
            <a:spAutoFit/>
          </a:bodyPr>
          <a:lstStyle/>
          <a:p>
            <a:r>
              <a:rPr lang="en-US" sz="1200"/>
              <a:t>CLOCKS IN</a:t>
            </a:r>
            <a:endParaRPr lang="en-US" sz="1200" dirty="0"/>
          </a:p>
        </p:txBody>
      </p:sp>
      <p:cxnSp>
        <p:nvCxnSpPr>
          <p:cNvPr id="11" name="Straight Connector 10"/>
          <p:cNvCxnSpPr/>
          <p:nvPr/>
        </p:nvCxnSpPr>
        <p:spPr>
          <a:xfrm flipV="1">
            <a:off x="1219200" y="5715000"/>
            <a:ext cx="2133600" cy="1588"/>
          </a:xfrm>
          <a:prstGeom prst="line">
            <a:avLst/>
          </a:prstGeom>
        </p:spPr>
        <p:style>
          <a:lnRef idx="2">
            <a:schemeClr val="dk1"/>
          </a:lnRef>
          <a:fillRef idx="0">
            <a:schemeClr val="dk1"/>
          </a:fillRef>
          <a:effectRef idx="1">
            <a:schemeClr val="dk1"/>
          </a:effectRef>
          <a:fontRef idx="minor">
            <a:schemeClr val="tx1"/>
          </a:fontRef>
        </p:style>
      </p:cxnSp>
      <p:cxnSp>
        <p:nvCxnSpPr>
          <p:cNvPr id="12" name="Elbow Connector 11"/>
          <p:cNvCxnSpPr/>
          <p:nvPr/>
        </p:nvCxnSpPr>
        <p:spPr>
          <a:xfrm>
            <a:off x="304800" y="62484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15" name="TextBox 14"/>
          <p:cNvSpPr txBox="1"/>
          <p:nvPr/>
        </p:nvSpPr>
        <p:spPr>
          <a:xfrm>
            <a:off x="3505200" y="533400"/>
            <a:ext cx="4953000" cy="830997"/>
          </a:xfrm>
          <a:prstGeom prst="rect">
            <a:avLst/>
          </a:prstGeom>
          <a:noFill/>
        </p:spPr>
        <p:txBody>
          <a:bodyPr wrap="square" rtlCol="0">
            <a:spAutoFit/>
          </a:bodyPr>
          <a:lstStyle/>
          <a:p>
            <a:r>
              <a:rPr lang="en-US" sz="1200" dirty="0"/>
              <a:t>Using internal instantiated PWM</a:t>
            </a:r>
          </a:p>
          <a:p>
            <a:endParaRPr lang="en-US" sz="1200" dirty="0"/>
          </a:p>
          <a:p>
            <a:r>
              <a:rPr lang="en-US" sz="1200" dirty="0"/>
              <a:t>[SET]</a:t>
            </a:r>
          </a:p>
          <a:p>
            <a:r>
              <a:rPr lang="en-US" sz="1200" dirty="0"/>
              <a:t>FAN_SET_PWM_DUTY: 0 off, 255 full 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219200" y="457200"/>
            <a:ext cx="7391400" cy="6096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8" name="TextBox 7"/>
          <p:cNvSpPr txBox="1"/>
          <p:nvPr/>
        </p:nvSpPr>
        <p:spPr>
          <a:xfrm>
            <a:off x="1295400" y="838200"/>
            <a:ext cx="492443" cy="276999"/>
          </a:xfrm>
          <a:prstGeom prst="rect">
            <a:avLst/>
          </a:prstGeom>
          <a:noFill/>
        </p:spPr>
        <p:txBody>
          <a:bodyPr wrap="none" rtlCol="0">
            <a:spAutoFit/>
          </a:bodyPr>
          <a:lstStyle/>
          <a:p>
            <a:r>
              <a:rPr lang="en-US" sz="1200" dirty="0"/>
              <a:t>CS_0</a:t>
            </a:r>
          </a:p>
        </p:txBody>
      </p:sp>
      <p:sp>
        <p:nvSpPr>
          <p:cNvPr id="19" name="TextBox 18"/>
          <p:cNvSpPr txBox="1"/>
          <p:nvPr/>
        </p:nvSpPr>
        <p:spPr>
          <a:xfrm>
            <a:off x="152400" y="152400"/>
            <a:ext cx="1447800" cy="27699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1200" dirty="0"/>
              <a:t>Chip Select Module</a:t>
            </a:r>
          </a:p>
        </p:txBody>
      </p:sp>
      <p:cxnSp>
        <p:nvCxnSpPr>
          <p:cNvPr id="28" name="Straight Connector 27"/>
          <p:cNvCxnSpPr/>
          <p:nvPr/>
        </p:nvCxnSpPr>
        <p:spPr>
          <a:xfrm rot="5400000">
            <a:off x="304800" y="3505200"/>
            <a:ext cx="6096794" cy="794"/>
          </a:xfrm>
          <a:prstGeom prst="line">
            <a:avLst/>
          </a:prstGeom>
        </p:spPr>
        <p:style>
          <a:lnRef idx="1">
            <a:schemeClr val="dk1"/>
          </a:lnRef>
          <a:fillRef idx="0">
            <a:schemeClr val="dk1"/>
          </a:fillRef>
          <a:effectRef idx="0">
            <a:schemeClr val="dk1"/>
          </a:effectRef>
          <a:fontRef idx="minor">
            <a:schemeClr val="tx1"/>
          </a:fontRef>
        </p:style>
      </p:cxnSp>
      <p:sp>
        <p:nvSpPr>
          <p:cNvPr id="22" name="TextBox 21"/>
          <p:cNvSpPr txBox="1"/>
          <p:nvPr/>
        </p:nvSpPr>
        <p:spPr>
          <a:xfrm>
            <a:off x="1676400" y="533400"/>
            <a:ext cx="416653" cy="276999"/>
          </a:xfrm>
          <a:prstGeom prst="rect">
            <a:avLst/>
          </a:prstGeom>
          <a:noFill/>
        </p:spPr>
        <p:txBody>
          <a:bodyPr wrap="none" rtlCol="0">
            <a:spAutoFit/>
          </a:bodyPr>
          <a:lstStyle/>
          <a:p>
            <a:r>
              <a:rPr lang="en-US" sz="1200" dirty="0"/>
              <a:t>IO’s</a:t>
            </a:r>
          </a:p>
        </p:txBody>
      </p:sp>
      <p:sp>
        <p:nvSpPr>
          <p:cNvPr id="9" name="TextBox 8"/>
          <p:cNvSpPr txBox="1"/>
          <p:nvPr/>
        </p:nvSpPr>
        <p:spPr>
          <a:xfrm>
            <a:off x="1219200" y="6096000"/>
            <a:ext cx="1297150" cy="276999"/>
          </a:xfrm>
          <a:prstGeom prst="rect">
            <a:avLst/>
          </a:prstGeom>
          <a:noFill/>
        </p:spPr>
        <p:txBody>
          <a:bodyPr wrap="none" rtlCol="0">
            <a:spAutoFit/>
          </a:bodyPr>
          <a:lstStyle/>
          <a:p>
            <a:r>
              <a:rPr lang="en-US" sz="1200" dirty="0"/>
              <a:t>CLK_400MHz_PLL</a:t>
            </a:r>
          </a:p>
        </p:txBody>
      </p:sp>
      <p:sp>
        <p:nvSpPr>
          <p:cNvPr id="10" name="TextBox 9"/>
          <p:cNvSpPr txBox="1"/>
          <p:nvPr/>
        </p:nvSpPr>
        <p:spPr>
          <a:xfrm>
            <a:off x="1676400" y="5791200"/>
            <a:ext cx="833946" cy="276999"/>
          </a:xfrm>
          <a:prstGeom prst="rect">
            <a:avLst/>
          </a:prstGeom>
          <a:noFill/>
        </p:spPr>
        <p:txBody>
          <a:bodyPr wrap="none" rtlCol="0">
            <a:spAutoFit/>
          </a:bodyPr>
          <a:lstStyle/>
          <a:p>
            <a:r>
              <a:rPr lang="en-US" sz="1200"/>
              <a:t>CLOCKS IN</a:t>
            </a:r>
            <a:endParaRPr lang="en-US" sz="1200" dirty="0"/>
          </a:p>
        </p:txBody>
      </p:sp>
      <p:cxnSp>
        <p:nvCxnSpPr>
          <p:cNvPr id="11" name="Straight Connector 10"/>
          <p:cNvCxnSpPr/>
          <p:nvPr/>
        </p:nvCxnSpPr>
        <p:spPr>
          <a:xfrm flipV="1">
            <a:off x="1219200" y="5715000"/>
            <a:ext cx="2133600" cy="1588"/>
          </a:xfrm>
          <a:prstGeom prst="line">
            <a:avLst/>
          </a:prstGeom>
        </p:spPr>
        <p:style>
          <a:lnRef idx="2">
            <a:schemeClr val="dk1"/>
          </a:lnRef>
          <a:fillRef idx="0">
            <a:schemeClr val="dk1"/>
          </a:fillRef>
          <a:effectRef idx="1">
            <a:schemeClr val="dk1"/>
          </a:effectRef>
          <a:fontRef idx="minor">
            <a:schemeClr val="tx1"/>
          </a:fontRef>
        </p:style>
      </p:cxnSp>
      <p:cxnSp>
        <p:nvCxnSpPr>
          <p:cNvPr id="12" name="Elbow Connector 11"/>
          <p:cNvCxnSpPr/>
          <p:nvPr/>
        </p:nvCxnSpPr>
        <p:spPr>
          <a:xfrm>
            <a:off x="304800" y="62484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cxnSp>
        <p:nvCxnSpPr>
          <p:cNvPr id="13" name="Elbow Connector 12"/>
          <p:cNvCxnSpPr/>
          <p:nvPr/>
        </p:nvCxnSpPr>
        <p:spPr>
          <a:xfrm>
            <a:off x="304800" y="9906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18" name="TextBox 17"/>
          <p:cNvSpPr txBox="1"/>
          <p:nvPr/>
        </p:nvSpPr>
        <p:spPr>
          <a:xfrm>
            <a:off x="1295400" y="990600"/>
            <a:ext cx="492443" cy="276999"/>
          </a:xfrm>
          <a:prstGeom prst="rect">
            <a:avLst/>
          </a:prstGeom>
          <a:noFill/>
        </p:spPr>
        <p:txBody>
          <a:bodyPr wrap="none" rtlCol="0">
            <a:spAutoFit/>
          </a:bodyPr>
          <a:lstStyle/>
          <a:p>
            <a:r>
              <a:rPr lang="en-US" sz="1200" dirty="0"/>
              <a:t>CS_1</a:t>
            </a:r>
          </a:p>
        </p:txBody>
      </p:sp>
      <p:cxnSp>
        <p:nvCxnSpPr>
          <p:cNvPr id="20" name="Elbow Connector 19"/>
          <p:cNvCxnSpPr/>
          <p:nvPr/>
        </p:nvCxnSpPr>
        <p:spPr>
          <a:xfrm>
            <a:off x="304800" y="11430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21" name="TextBox 20"/>
          <p:cNvSpPr txBox="1"/>
          <p:nvPr/>
        </p:nvSpPr>
        <p:spPr>
          <a:xfrm>
            <a:off x="1295400" y="1143000"/>
            <a:ext cx="492443" cy="276999"/>
          </a:xfrm>
          <a:prstGeom prst="rect">
            <a:avLst/>
          </a:prstGeom>
          <a:noFill/>
        </p:spPr>
        <p:txBody>
          <a:bodyPr wrap="none" rtlCol="0">
            <a:spAutoFit/>
          </a:bodyPr>
          <a:lstStyle/>
          <a:p>
            <a:r>
              <a:rPr lang="en-US" sz="1200" dirty="0"/>
              <a:t>CS_2</a:t>
            </a:r>
          </a:p>
        </p:txBody>
      </p:sp>
      <p:cxnSp>
        <p:nvCxnSpPr>
          <p:cNvPr id="23" name="Elbow Connector 22"/>
          <p:cNvCxnSpPr/>
          <p:nvPr/>
        </p:nvCxnSpPr>
        <p:spPr>
          <a:xfrm>
            <a:off x="304800" y="12954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24" name="TextBox 23"/>
          <p:cNvSpPr txBox="1"/>
          <p:nvPr/>
        </p:nvSpPr>
        <p:spPr>
          <a:xfrm>
            <a:off x="1295400" y="1295400"/>
            <a:ext cx="492443" cy="276999"/>
          </a:xfrm>
          <a:prstGeom prst="rect">
            <a:avLst/>
          </a:prstGeom>
          <a:noFill/>
        </p:spPr>
        <p:txBody>
          <a:bodyPr wrap="none" rtlCol="0">
            <a:spAutoFit/>
          </a:bodyPr>
          <a:lstStyle/>
          <a:p>
            <a:r>
              <a:rPr lang="en-US" sz="1200" dirty="0"/>
              <a:t>CS_3</a:t>
            </a:r>
          </a:p>
        </p:txBody>
      </p:sp>
      <p:cxnSp>
        <p:nvCxnSpPr>
          <p:cNvPr id="26" name="Elbow Connector 25"/>
          <p:cNvCxnSpPr/>
          <p:nvPr/>
        </p:nvCxnSpPr>
        <p:spPr>
          <a:xfrm>
            <a:off x="304800" y="14478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32" name="TextBox 31"/>
          <p:cNvSpPr txBox="1"/>
          <p:nvPr/>
        </p:nvSpPr>
        <p:spPr>
          <a:xfrm>
            <a:off x="1295400" y="1447800"/>
            <a:ext cx="492443" cy="276999"/>
          </a:xfrm>
          <a:prstGeom prst="rect">
            <a:avLst/>
          </a:prstGeom>
          <a:noFill/>
        </p:spPr>
        <p:txBody>
          <a:bodyPr wrap="none" rtlCol="0">
            <a:spAutoFit/>
          </a:bodyPr>
          <a:lstStyle/>
          <a:p>
            <a:r>
              <a:rPr lang="en-US" sz="1200" dirty="0"/>
              <a:t>CS_4</a:t>
            </a:r>
          </a:p>
        </p:txBody>
      </p:sp>
      <p:cxnSp>
        <p:nvCxnSpPr>
          <p:cNvPr id="33" name="Elbow Connector 32"/>
          <p:cNvCxnSpPr/>
          <p:nvPr/>
        </p:nvCxnSpPr>
        <p:spPr>
          <a:xfrm>
            <a:off x="304800" y="16002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graphicFrame>
        <p:nvGraphicFramePr>
          <p:cNvPr id="34" name="Table 33"/>
          <p:cNvGraphicFramePr>
            <a:graphicFrameLocks noGrp="1"/>
          </p:cNvGraphicFramePr>
          <p:nvPr/>
        </p:nvGraphicFramePr>
        <p:xfrm>
          <a:off x="3429000" y="609600"/>
          <a:ext cx="5029199" cy="5120640"/>
        </p:xfrm>
        <a:graphic>
          <a:graphicData uri="http://schemas.openxmlformats.org/drawingml/2006/table">
            <a:tbl>
              <a:tblPr firstRow="1" bandRow="1">
                <a:tableStyleId>{5C22544A-7EE6-4342-B048-85BDC9FD1C3A}</a:tableStyleId>
              </a:tblPr>
              <a:tblGrid>
                <a:gridCol w="889258">
                  <a:extLst>
                    <a:ext uri="{9D8B030D-6E8A-4147-A177-3AD203B41FA5}">
                      <a16:colId xmlns:a16="http://schemas.microsoft.com/office/drawing/2014/main" val="20000"/>
                    </a:ext>
                  </a:extLst>
                </a:gridCol>
                <a:gridCol w="805557">
                  <a:extLst>
                    <a:ext uri="{9D8B030D-6E8A-4147-A177-3AD203B41FA5}">
                      <a16:colId xmlns:a16="http://schemas.microsoft.com/office/drawing/2014/main" val="20001"/>
                    </a:ext>
                  </a:extLst>
                </a:gridCol>
                <a:gridCol w="622680">
                  <a:extLst>
                    <a:ext uri="{9D8B030D-6E8A-4147-A177-3AD203B41FA5}">
                      <a16:colId xmlns:a16="http://schemas.microsoft.com/office/drawing/2014/main" val="20002"/>
                    </a:ext>
                  </a:extLst>
                </a:gridCol>
                <a:gridCol w="677926">
                  <a:extLst>
                    <a:ext uri="{9D8B030D-6E8A-4147-A177-3AD203B41FA5}">
                      <a16:colId xmlns:a16="http://schemas.microsoft.com/office/drawing/2014/main" val="20003"/>
                    </a:ext>
                  </a:extLst>
                </a:gridCol>
                <a:gridCol w="677926">
                  <a:extLst>
                    <a:ext uri="{9D8B030D-6E8A-4147-A177-3AD203B41FA5}">
                      <a16:colId xmlns:a16="http://schemas.microsoft.com/office/drawing/2014/main" val="20004"/>
                    </a:ext>
                  </a:extLst>
                </a:gridCol>
                <a:gridCol w="677926">
                  <a:extLst>
                    <a:ext uri="{9D8B030D-6E8A-4147-A177-3AD203B41FA5}">
                      <a16:colId xmlns:a16="http://schemas.microsoft.com/office/drawing/2014/main" val="20005"/>
                    </a:ext>
                  </a:extLst>
                </a:gridCol>
                <a:gridCol w="677926">
                  <a:extLst>
                    <a:ext uri="{9D8B030D-6E8A-4147-A177-3AD203B41FA5}">
                      <a16:colId xmlns:a16="http://schemas.microsoft.com/office/drawing/2014/main" val="20006"/>
                    </a:ext>
                  </a:extLst>
                </a:gridCol>
              </a:tblGrid>
              <a:tr h="182880">
                <a:tc>
                  <a:txBody>
                    <a:bodyPr/>
                    <a:lstStyle/>
                    <a:p>
                      <a:pPr algn="ctr"/>
                      <a:r>
                        <a:rPr lang="en-US" sz="1200"/>
                        <a:t>CS Pin </a:t>
                      </a:r>
                      <a:r>
                        <a:rPr lang="en-US" sz="1200" dirty="0"/>
                        <a:t>to slot</a:t>
                      </a:r>
                    </a:p>
                  </a:txBody>
                  <a:tcPr/>
                </a:tc>
                <a:tc>
                  <a:txBody>
                    <a:bodyPr/>
                    <a:lstStyle/>
                    <a:p>
                      <a:pPr algn="ctr"/>
                      <a:r>
                        <a:rPr lang="en-US" sz="1200" dirty="0"/>
                        <a:t>Value</a:t>
                      </a:r>
                    </a:p>
                  </a:txBody>
                  <a:tcPr/>
                </a:tc>
                <a:tc>
                  <a:txBody>
                    <a:bodyPr/>
                    <a:lstStyle/>
                    <a:p>
                      <a:pPr algn="ctr"/>
                      <a:r>
                        <a:rPr lang="en-US" sz="1200" b="1" kern="1200" dirty="0">
                          <a:solidFill>
                            <a:schemeClr val="lt1"/>
                          </a:solidFill>
                          <a:latin typeface="+mn-lt"/>
                          <a:ea typeface="+mn-ea"/>
                          <a:cs typeface="+mn-cs"/>
                        </a:rPr>
                        <a:t>CS_4</a:t>
                      </a:r>
                      <a:endParaRPr lang="en-US" sz="1200" dirty="0"/>
                    </a:p>
                  </a:txBody>
                  <a:tcPr/>
                </a:tc>
                <a:tc>
                  <a:txBody>
                    <a:bodyPr/>
                    <a:lstStyle/>
                    <a:p>
                      <a:pPr algn="ctr"/>
                      <a:r>
                        <a:rPr lang="en-US" sz="1200" b="1" kern="1200" dirty="0">
                          <a:solidFill>
                            <a:schemeClr val="lt1"/>
                          </a:solidFill>
                          <a:latin typeface="+mn-lt"/>
                          <a:ea typeface="+mn-ea"/>
                          <a:cs typeface="+mn-cs"/>
                        </a:rPr>
                        <a:t>CS_3</a:t>
                      </a:r>
                      <a:endParaRPr lang="en-US" sz="1200" dirty="0"/>
                    </a:p>
                  </a:txBody>
                  <a:tcPr/>
                </a:tc>
                <a:tc>
                  <a:txBody>
                    <a:bodyPr/>
                    <a:lstStyle/>
                    <a:p>
                      <a:pPr algn="ctr"/>
                      <a:r>
                        <a:rPr lang="en-US" sz="1200" b="1" kern="1200" dirty="0">
                          <a:solidFill>
                            <a:schemeClr val="lt1"/>
                          </a:solidFill>
                          <a:latin typeface="+mn-lt"/>
                          <a:ea typeface="+mn-ea"/>
                          <a:cs typeface="+mn-cs"/>
                        </a:rPr>
                        <a:t>CS_2</a:t>
                      </a:r>
                      <a:endParaRPr lang="en-US" sz="1200" dirty="0"/>
                    </a:p>
                  </a:txBody>
                  <a:tcPr/>
                </a:tc>
                <a:tc>
                  <a:txBody>
                    <a:bodyPr/>
                    <a:lstStyle/>
                    <a:p>
                      <a:pPr algn="ctr"/>
                      <a:r>
                        <a:rPr lang="en-US" sz="1200" b="1" kern="1200" dirty="0">
                          <a:solidFill>
                            <a:schemeClr val="lt1"/>
                          </a:solidFill>
                          <a:latin typeface="+mn-lt"/>
                          <a:ea typeface="+mn-ea"/>
                          <a:cs typeface="+mn-cs"/>
                        </a:rPr>
                        <a:t>CS_1</a:t>
                      </a:r>
                      <a:endParaRPr lang="en-US" sz="1200" dirty="0"/>
                    </a:p>
                  </a:txBody>
                  <a:tcPr/>
                </a:tc>
                <a:tc>
                  <a:txBody>
                    <a:bodyPr/>
                    <a:lstStyle/>
                    <a:p>
                      <a:pPr algn="ctr"/>
                      <a:r>
                        <a:rPr lang="en-US" sz="1200" b="1" kern="1200" dirty="0">
                          <a:solidFill>
                            <a:schemeClr val="lt1"/>
                          </a:solidFill>
                          <a:latin typeface="+mn-lt"/>
                          <a:ea typeface="+mn-ea"/>
                          <a:cs typeface="+mn-cs"/>
                        </a:rPr>
                        <a:t>CS_0</a:t>
                      </a:r>
                      <a:endParaRPr lang="en-US" sz="1200" dirty="0"/>
                    </a:p>
                  </a:txBody>
                  <a:tcPr/>
                </a:tc>
                <a:extLst>
                  <a:ext uri="{0D108BD9-81ED-4DB2-BD59-A6C34878D82A}">
                    <a16:rowId xmlns:a16="http://schemas.microsoft.com/office/drawing/2014/main" val="10000"/>
                  </a:ext>
                </a:extLst>
              </a:tr>
              <a:tr h="182880">
                <a:tc>
                  <a:txBody>
                    <a:bodyPr/>
                    <a:lstStyle/>
                    <a:p>
                      <a:pPr algn="ctr"/>
                      <a:r>
                        <a:rPr lang="en-US" sz="1000" kern="1200" dirty="0">
                          <a:solidFill>
                            <a:schemeClr val="dk1"/>
                          </a:solidFill>
                          <a:latin typeface="+mn-lt"/>
                          <a:ea typeface="+mn-ea"/>
                          <a:cs typeface="+mn-cs"/>
                        </a:rPr>
                        <a:t>CS_ALL_HIGH</a:t>
                      </a:r>
                      <a:endParaRPr lang="en-US" sz="1000" dirty="0">
                        <a:latin typeface="+mn-lt"/>
                      </a:endParaRPr>
                    </a:p>
                  </a:txBody>
                  <a:tcPr/>
                </a:tc>
                <a:tc>
                  <a:txBody>
                    <a:bodyPr/>
                    <a:lstStyle/>
                    <a:p>
                      <a:pPr algn="ctr"/>
                      <a:r>
                        <a:rPr lang="en-US" sz="1200" dirty="0"/>
                        <a:t>0</a:t>
                      </a:r>
                    </a:p>
                  </a:txBody>
                  <a:tcPr/>
                </a:tc>
                <a:tc>
                  <a:txBody>
                    <a:bodyPr/>
                    <a:lstStyle/>
                    <a:p>
                      <a:pPr algn="ctr"/>
                      <a:r>
                        <a:rPr lang="en-US" sz="1200" dirty="0"/>
                        <a:t>0</a:t>
                      </a:r>
                    </a:p>
                  </a:txBody>
                  <a:tcPr/>
                </a:tc>
                <a:tc>
                  <a:txBody>
                    <a:bodyPr/>
                    <a:lstStyle/>
                    <a:p>
                      <a:pPr algn="ctr"/>
                      <a:r>
                        <a:rPr lang="en-US" sz="1200" dirty="0"/>
                        <a:t>0</a:t>
                      </a:r>
                    </a:p>
                  </a:txBody>
                  <a:tcPr/>
                </a:tc>
                <a:tc>
                  <a:txBody>
                    <a:bodyPr/>
                    <a:lstStyle/>
                    <a:p>
                      <a:pPr algn="ctr"/>
                      <a:r>
                        <a:rPr lang="en-US" sz="1200" dirty="0"/>
                        <a:t>0</a:t>
                      </a:r>
                    </a:p>
                  </a:txBody>
                  <a:tcPr/>
                </a:tc>
                <a:tc>
                  <a:txBody>
                    <a:bodyPr/>
                    <a:lstStyle/>
                    <a:p>
                      <a:pPr algn="ctr"/>
                      <a:r>
                        <a:rPr lang="en-US" sz="1200" dirty="0"/>
                        <a:t>0</a:t>
                      </a:r>
                    </a:p>
                  </a:txBody>
                  <a:tcPr/>
                </a:tc>
                <a:tc>
                  <a:txBody>
                    <a:bodyPr/>
                    <a:lstStyle/>
                    <a:p>
                      <a:pPr algn="ctr"/>
                      <a:r>
                        <a:rPr lang="en-US" sz="1200" dirty="0"/>
                        <a:t>0</a:t>
                      </a:r>
                    </a:p>
                  </a:txBody>
                  <a:tcPr/>
                </a:tc>
                <a:extLst>
                  <a:ext uri="{0D108BD9-81ED-4DB2-BD59-A6C34878D82A}">
                    <a16:rowId xmlns:a16="http://schemas.microsoft.com/office/drawing/2014/main" val="10001"/>
                  </a:ext>
                </a:extLst>
              </a:tr>
              <a:tr h="182880">
                <a:tc>
                  <a:txBody>
                    <a:bodyPr/>
                    <a:lstStyle/>
                    <a:p>
                      <a:pPr algn="ctr"/>
                      <a:r>
                        <a:rPr lang="en-US" sz="1000" u="none" kern="1200" dirty="0">
                          <a:solidFill>
                            <a:schemeClr val="dk1"/>
                          </a:solidFill>
                          <a:latin typeface="+mn-lt"/>
                          <a:ea typeface="+mn-ea"/>
                          <a:cs typeface="+mn-cs"/>
                        </a:rPr>
                        <a:t>Slot 1 CS 1</a:t>
                      </a:r>
                      <a:endParaRPr lang="en-US" sz="1000" u="none" dirty="0">
                        <a:latin typeface="+mn-lt"/>
                      </a:endParaRPr>
                    </a:p>
                  </a:txBody>
                  <a:tcPr/>
                </a:tc>
                <a:tc>
                  <a:txBody>
                    <a:bodyPr/>
                    <a:lstStyle/>
                    <a:p>
                      <a:pPr algn="ctr"/>
                      <a:r>
                        <a:rPr lang="en-US" sz="1200" dirty="0"/>
                        <a:t>1</a:t>
                      </a:r>
                    </a:p>
                  </a:txBody>
                  <a:tcPr/>
                </a:tc>
                <a:tc>
                  <a:txBody>
                    <a:bodyPr/>
                    <a:lstStyle/>
                    <a:p>
                      <a:pPr algn="ctr"/>
                      <a:r>
                        <a:rPr lang="en-US" sz="1200" dirty="0"/>
                        <a:t>0</a:t>
                      </a:r>
                    </a:p>
                  </a:txBody>
                  <a:tcPr/>
                </a:tc>
                <a:tc>
                  <a:txBody>
                    <a:bodyPr/>
                    <a:lstStyle/>
                    <a:p>
                      <a:pPr algn="ctr"/>
                      <a:r>
                        <a:rPr lang="en-US" sz="1200" dirty="0"/>
                        <a:t>0</a:t>
                      </a:r>
                    </a:p>
                  </a:txBody>
                  <a:tcPr/>
                </a:tc>
                <a:tc>
                  <a:txBody>
                    <a:bodyPr/>
                    <a:lstStyle/>
                    <a:p>
                      <a:pPr algn="ctr"/>
                      <a:r>
                        <a:rPr lang="en-US" sz="1200" dirty="0"/>
                        <a:t>0</a:t>
                      </a:r>
                    </a:p>
                  </a:txBody>
                  <a:tcPr/>
                </a:tc>
                <a:tc>
                  <a:txBody>
                    <a:bodyPr/>
                    <a:lstStyle/>
                    <a:p>
                      <a:pPr algn="ctr"/>
                      <a:r>
                        <a:rPr lang="en-US" sz="1200" dirty="0"/>
                        <a:t>0</a:t>
                      </a:r>
                    </a:p>
                  </a:txBody>
                  <a:tcPr/>
                </a:tc>
                <a:tc>
                  <a:txBody>
                    <a:bodyPr/>
                    <a:lstStyle/>
                    <a:p>
                      <a:pPr algn="ctr"/>
                      <a:r>
                        <a:rPr lang="en-US" sz="1200" dirty="0"/>
                        <a:t>1</a:t>
                      </a:r>
                    </a:p>
                  </a:txBody>
                  <a:tcPr/>
                </a:tc>
                <a:extLst>
                  <a:ext uri="{0D108BD9-81ED-4DB2-BD59-A6C34878D82A}">
                    <a16:rowId xmlns:a16="http://schemas.microsoft.com/office/drawing/2014/main" val="10002"/>
                  </a:ext>
                </a:extLst>
              </a:tr>
              <a:tr h="18288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u="none" kern="1200" dirty="0">
                          <a:solidFill>
                            <a:schemeClr val="dk1"/>
                          </a:solidFill>
                          <a:latin typeface="+mn-lt"/>
                          <a:ea typeface="+mn-ea"/>
                          <a:cs typeface="+mn-cs"/>
                        </a:rPr>
                        <a:t>Slot 1 CS 2</a:t>
                      </a:r>
                      <a:endParaRPr lang="en-US" sz="1000" u="none" dirty="0">
                        <a:latin typeface="+mn-lt"/>
                      </a:endParaRPr>
                    </a:p>
                  </a:txBody>
                  <a:tcPr/>
                </a:tc>
                <a:tc>
                  <a:txBody>
                    <a:bodyPr/>
                    <a:lstStyle/>
                    <a:p>
                      <a:pPr algn="ctr"/>
                      <a:r>
                        <a:rPr lang="en-US" sz="1200" dirty="0"/>
                        <a:t>2</a:t>
                      </a:r>
                    </a:p>
                  </a:txBody>
                  <a:tcPr/>
                </a:tc>
                <a:tc>
                  <a:txBody>
                    <a:bodyPr/>
                    <a:lstStyle/>
                    <a:p>
                      <a:pPr algn="ctr"/>
                      <a:r>
                        <a:rPr lang="en-US" sz="1200" dirty="0"/>
                        <a:t>0</a:t>
                      </a:r>
                    </a:p>
                  </a:txBody>
                  <a:tcPr/>
                </a:tc>
                <a:tc>
                  <a:txBody>
                    <a:bodyPr/>
                    <a:lstStyle/>
                    <a:p>
                      <a:pPr algn="ctr"/>
                      <a:r>
                        <a:rPr lang="en-US" sz="1200" dirty="0"/>
                        <a:t>0</a:t>
                      </a:r>
                    </a:p>
                  </a:txBody>
                  <a:tcPr/>
                </a:tc>
                <a:tc>
                  <a:txBody>
                    <a:bodyPr/>
                    <a:lstStyle/>
                    <a:p>
                      <a:pPr algn="ctr"/>
                      <a:r>
                        <a:rPr lang="en-US" sz="1200" dirty="0"/>
                        <a:t>0</a:t>
                      </a:r>
                    </a:p>
                  </a:txBody>
                  <a:tcPr/>
                </a:tc>
                <a:tc>
                  <a:txBody>
                    <a:bodyPr/>
                    <a:lstStyle/>
                    <a:p>
                      <a:pPr algn="ctr"/>
                      <a:r>
                        <a:rPr lang="en-US" sz="1200" dirty="0"/>
                        <a:t>1</a:t>
                      </a:r>
                    </a:p>
                  </a:txBody>
                  <a:tcPr/>
                </a:tc>
                <a:tc>
                  <a:txBody>
                    <a:bodyPr/>
                    <a:lstStyle/>
                    <a:p>
                      <a:pPr algn="ctr"/>
                      <a:r>
                        <a:rPr lang="en-US" sz="1200" dirty="0"/>
                        <a:t>0</a:t>
                      </a:r>
                    </a:p>
                  </a:txBody>
                  <a:tcPr/>
                </a:tc>
                <a:extLst>
                  <a:ext uri="{0D108BD9-81ED-4DB2-BD59-A6C34878D82A}">
                    <a16:rowId xmlns:a16="http://schemas.microsoft.com/office/drawing/2014/main" val="10003"/>
                  </a:ext>
                </a:extLst>
              </a:tr>
              <a:tr h="18288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u="none" kern="1200" dirty="0">
                          <a:solidFill>
                            <a:schemeClr val="dk1"/>
                          </a:solidFill>
                          <a:latin typeface="+mn-lt"/>
                          <a:ea typeface="+mn-ea"/>
                          <a:cs typeface="+mn-cs"/>
                        </a:rPr>
                        <a:t>Slot 2 CS 1</a:t>
                      </a:r>
                      <a:endParaRPr lang="en-US" sz="1000" u="none" dirty="0">
                        <a:latin typeface="+mn-lt"/>
                      </a:endParaRPr>
                    </a:p>
                  </a:txBody>
                  <a:tcPr/>
                </a:tc>
                <a:tc>
                  <a:txBody>
                    <a:bodyPr/>
                    <a:lstStyle/>
                    <a:p>
                      <a:pPr algn="ctr"/>
                      <a:r>
                        <a:rPr lang="en-US" sz="1200" dirty="0"/>
                        <a:t>3</a:t>
                      </a:r>
                    </a:p>
                  </a:txBody>
                  <a:tcPr/>
                </a:tc>
                <a:tc>
                  <a:txBody>
                    <a:bodyPr/>
                    <a:lstStyle/>
                    <a:p>
                      <a:pPr algn="ctr"/>
                      <a:r>
                        <a:rPr lang="en-US" sz="1200" dirty="0"/>
                        <a:t>0</a:t>
                      </a:r>
                    </a:p>
                  </a:txBody>
                  <a:tcPr/>
                </a:tc>
                <a:tc>
                  <a:txBody>
                    <a:bodyPr/>
                    <a:lstStyle/>
                    <a:p>
                      <a:pPr algn="ctr"/>
                      <a:r>
                        <a:rPr lang="en-US" sz="1200" dirty="0"/>
                        <a:t>0</a:t>
                      </a:r>
                    </a:p>
                  </a:txBody>
                  <a:tcPr/>
                </a:tc>
                <a:tc>
                  <a:txBody>
                    <a:bodyPr/>
                    <a:lstStyle/>
                    <a:p>
                      <a:pPr algn="ctr"/>
                      <a:r>
                        <a:rPr lang="en-US" sz="1200" dirty="0"/>
                        <a:t>0</a:t>
                      </a:r>
                    </a:p>
                  </a:txBody>
                  <a:tcPr/>
                </a:tc>
                <a:tc>
                  <a:txBody>
                    <a:bodyPr/>
                    <a:lstStyle/>
                    <a:p>
                      <a:pPr algn="ctr"/>
                      <a:r>
                        <a:rPr lang="en-US" sz="1200" dirty="0"/>
                        <a:t>1</a:t>
                      </a:r>
                    </a:p>
                  </a:txBody>
                  <a:tcPr/>
                </a:tc>
                <a:tc>
                  <a:txBody>
                    <a:bodyPr/>
                    <a:lstStyle/>
                    <a:p>
                      <a:pPr algn="ctr"/>
                      <a:r>
                        <a:rPr lang="en-US" sz="1200" dirty="0"/>
                        <a:t>1</a:t>
                      </a:r>
                    </a:p>
                  </a:txBody>
                  <a:tcPr/>
                </a:tc>
                <a:extLst>
                  <a:ext uri="{0D108BD9-81ED-4DB2-BD59-A6C34878D82A}">
                    <a16:rowId xmlns:a16="http://schemas.microsoft.com/office/drawing/2014/main" val="10004"/>
                  </a:ext>
                </a:extLst>
              </a:tr>
              <a:tr h="18288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u="none" kern="1200" dirty="0">
                          <a:solidFill>
                            <a:schemeClr val="dk1"/>
                          </a:solidFill>
                          <a:latin typeface="+mn-lt"/>
                          <a:ea typeface="+mn-ea"/>
                          <a:cs typeface="+mn-cs"/>
                        </a:rPr>
                        <a:t>Slot 2 CS 2</a:t>
                      </a:r>
                      <a:endParaRPr lang="en-US" sz="1000" u="none" dirty="0">
                        <a:latin typeface="+mn-lt"/>
                      </a:endParaRPr>
                    </a:p>
                  </a:txBody>
                  <a:tcPr/>
                </a:tc>
                <a:tc>
                  <a:txBody>
                    <a:bodyPr/>
                    <a:lstStyle/>
                    <a:p>
                      <a:pPr algn="ctr"/>
                      <a:r>
                        <a:rPr lang="en-US" sz="1200" dirty="0"/>
                        <a:t>4</a:t>
                      </a:r>
                    </a:p>
                  </a:txBody>
                  <a:tcPr/>
                </a:tc>
                <a:tc>
                  <a:txBody>
                    <a:bodyPr/>
                    <a:lstStyle/>
                    <a:p>
                      <a:pPr algn="ctr"/>
                      <a:r>
                        <a:rPr lang="en-US" sz="1200" dirty="0"/>
                        <a:t>0</a:t>
                      </a:r>
                    </a:p>
                  </a:txBody>
                  <a:tcPr/>
                </a:tc>
                <a:tc>
                  <a:txBody>
                    <a:bodyPr/>
                    <a:lstStyle/>
                    <a:p>
                      <a:pPr algn="ctr"/>
                      <a:r>
                        <a:rPr lang="en-US" sz="1200" dirty="0"/>
                        <a:t>0</a:t>
                      </a:r>
                    </a:p>
                  </a:txBody>
                  <a:tcPr/>
                </a:tc>
                <a:tc>
                  <a:txBody>
                    <a:bodyPr/>
                    <a:lstStyle/>
                    <a:p>
                      <a:pPr algn="ctr"/>
                      <a:r>
                        <a:rPr lang="en-US" sz="1200" dirty="0"/>
                        <a:t>1</a:t>
                      </a:r>
                    </a:p>
                  </a:txBody>
                  <a:tcPr/>
                </a:tc>
                <a:tc>
                  <a:txBody>
                    <a:bodyPr/>
                    <a:lstStyle/>
                    <a:p>
                      <a:pPr algn="ctr"/>
                      <a:r>
                        <a:rPr lang="en-US" sz="1200" dirty="0"/>
                        <a:t>0</a:t>
                      </a:r>
                    </a:p>
                  </a:txBody>
                  <a:tcPr/>
                </a:tc>
                <a:tc>
                  <a:txBody>
                    <a:bodyPr/>
                    <a:lstStyle/>
                    <a:p>
                      <a:pPr algn="ctr"/>
                      <a:r>
                        <a:rPr lang="en-US" sz="1200" dirty="0"/>
                        <a:t>0</a:t>
                      </a:r>
                    </a:p>
                  </a:txBody>
                  <a:tcPr/>
                </a:tc>
                <a:extLst>
                  <a:ext uri="{0D108BD9-81ED-4DB2-BD59-A6C34878D82A}">
                    <a16:rowId xmlns:a16="http://schemas.microsoft.com/office/drawing/2014/main" val="10005"/>
                  </a:ext>
                </a:extLst>
              </a:tr>
              <a:tr h="182880">
                <a:tc>
                  <a:txBody>
                    <a:bodyPr/>
                    <a:lstStyle/>
                    <a:p>
                      <a:pPr algn="ctr"/>
                      <a:r>
                        <a:rPr lang="en-US" sz="1000" u="none" kern="1200" dirty="0">
                          <a:solidFill>
                            <a:schemeClr val="dk1"/>
                          </a:solidFill>
                          <a:latin typeface="+mn-lt"/>
                          <a:ea typeface="+mn-ea"/>
                          <a:cs typeface="+mn-cs"/>
                        </a:rPr>
                        <a:t>Slot 3 CS 1</a:t>
                      </a:r>
                      <a:endParaRPr lang="en-US" sz="1000" u="none" dirty="0">
                        <a:latin typeface="+mn-lt"/>
                      </a:endParaRPr>
                    </a:p>
                  </a:txBody>
                  <a:tcPr/>
                </a:tc>
                <a:tc>
                  <a:txBody>
                    <a:bodyPr/>
                    <a:lstStyle/>
                    <a:p>
                      <a:pPr algn="ctr"/>
                      <a:r>
                        <a:rPr lang="en-US" sz="1200" dirty="0"/>
                        <a:t>5</a:t>
                      </a:r>
                    </a:p>
                  </a:txBody>
                  <a:tcPr/>
                </a:tc>
                <a:tc>
                  <a:txBody>
                    <a:bodyPr/>
                    <a:lstStyle/>
                    <a:p>
                      <a:pPr algn="ctr"/>
                      <a:r>
                        <a:rPr lang="en-US" sz="1200" dirty="0"/>
                        <a:t>0</a:t>
                      </a:r>
                    </a:p>
                  </a:txBody>
                  <a:tcPr/>
                </a:tc>
                <a:tc>
                  <a:txBody>
                    <a:bodyPr/>
                    <a:lstStyle/>
                    <a:p>
                      <a:pPr algn="ctr"/>
                      <a:r>
                        <a:rPr lang="en-US" sz="1200" dirty="0"/>
                        <a:t>0</a:t>
                      </a:r>
                    </a:p>
                  </a:txBody>
                  <a:tcPr/>
                </a:tc>
                <a:tc>
                  <a:txBody>
                    <a:bodyPr/>
                    <a:lstStyle/>
                    <a:p>
                      <a:pPr algn="ctr"/>
                      <a:r>
                        <a:rPr lang="en-US" sz="1200" dirty="0"/>
                        <a:t>1</a:t>
                      </a:r>
                    </a:p>
                  </a:txBody>
                  <a:tcPr/>
                </a:tc>
                <a:tc>
                  <a:txBody>
                    <a:bodyPr/>
                    <a:lstStyle/>
                    <a:p>
                      <a:pPr algn="ctr"/>
                      <a:r>
                        <a:rPr lang="en-US" sz="1200" dirty="0"/>
                        <a:t>0</a:t>
                      </a:r>
                    </a:p>
                  </a:txBody>
                  <a:tcPr/>
                </a:tc>
                <a:tc>
                  <a:txBody>
                    <a:bodyPr/>
                    <a:lstStyle/>
                    <a:p>
                      <a:pPr algn="ctr"/>
                      <a:r>
                        <a:rPr lang="en-US" sz="1200" dirty="0"/>
                        <a:t>1</a:t>
                      </a:r>
                    </a:p>
                  </a:txBody>
                  <a:tcPr/>
                </a:tc>
                <a:extLst>
                  <a:ext uri="{0D108BD9-81ED-4DB2-BD59-A6C34878D82A}">
                    <a16:rowId xmlns:a16="http://schemas.microsoft.com/office/drawing/2014/main" val="10006"/>
                  </a:ext>
                </a:extLst>
              </a:tr>
              <a:tr h="182880">
                <a:tc>
                  <a:txBody>
                    <a:bodyPr/>
                    <a:lstStyle/>
                    <a:p>
                      <a:pPr algn="ctr"/>
                      <a:r>
                        <a:rPr lang="en-US" sz="1000" u="none" kern="1200" dirty="0">
                          <a:solidFill>
                            <a:schemeClr val="dk1"/>
                          </a:solidFill>
                          <a:latin typeface="+mn-lt"/>
                          <a:ea typeface="+mn-ea"/>
                          <a:cs typeface="+mn-cs"/>
                        </a:rPr>
                        <a:t>Slot 3 CS 2</a:t>
                      </a:r>
                      <a:endParaRPr lang="en-US" sz="1000" u="none" dirty="0">
                        <a:latin typeface="+mn-lt"/>
                      </a:endParaRPr>
                    </a:p>
                  </a:txBody>
                  <a:tcPr/>
                </a:tc>
                <a:tc>
                  <a:txBody>
                    <a:bodyPr/>
                    <a:lstStyle/>
                    <a:p>
                      <a:pPr algn="ctr"/>
                      <a:r>
                        <a:rPr lang="en-US" sz="1200" dirty="0"/>
                        <a:t>6</a:t>
                      </a:r>
                    </a:p>
                  </a:txBody>
                  <a:tcPr/>
                </a:tc>
                <a:tc>
                  <a:txBody>
                    <a:bodyPr/>
                    <a:lstStyle/>
                    <a:p>
                      <a:pPr algn="ctr"/>
                      <a:r>
                        <a:rPr lang="en-US" sz="1200" dirty="0"/>
                        <a:t>0</a:t>
                      </a:r>
                    </a:p>
                  </a:txBody>
                  <a:tcPr/>
                </a:tc>
                <a:tc>
                  <a:txBody>
                    <a:bodyPr/>
                    <a:lstStyle/>
                    <a:p>
                      <a:pPr algn="ctr"/>
                      <a:r>
                        <a:rPr lang="en-US" sz="1200" dirty="0"/>
                        <a:t>0</a:t>
                      </a:r>
                    </a:p>
                  </a:txBody>
                  <a:tcPr/>
                </a:tc>
                <a:tc>
                  <a:txBody>
                    <a:bodyPr/>
                    <a:lstStyle/>
                    <a:p>
                      <a:pPr algn="ctr"/>
                      <a:r>
                        <a:rPr lang="en-US" sz="1200" dirty="0"/>
                        <a:t>1</a:t>
                      </a:r>
                    </a:p>
                  </a:txBody>
                  <a:tcPr/>
                </a:tc>
                <a:tc>
                  <a:txBody>
                    <a:bodyPr/>
                    <a:lstStyle/>
                    <a:p>
                      <a:pPr algn="ctr"/>
                      <a:r>
                        <a:rPr lang="en-US" sz="1200" dirty="0"/>
                        <a:t>1</a:t>
                      </a:r>
                    </a:p>
                  </a:txBody>
                  <a:tcPr/>
                </a:tc>
                <a:tc>
                  <a:txBody>
                    <a:bodyPr/>
                    <a:lstStyle/>
                    <a:p>
                      <a:pPr algn="ctr"/>
                      <a:r>
                        <a:rPr lang="en-US" sz="1200" dirty="0"/>
                        <a:t>0</a:t>
                      </a:r>
                    </a:p>
                  </a:txBody>
                  <a:tcPr/>
                </a:tc>
                <a:extLst>
                  <a:ext uri="{0D108BD9-81ED-4DB2-BD59-A6C34878D82A}">
                    <a16:rowId xmlns:a16="http://schemas.microsoft.com/office/drawing/2014/main" val="10007"/>
                  </a:ext>
                </a:extLst>
              </a:tr>
              <a:tr h="182880">
                <a:tc>
                  <a:txBody>
                    <a:bodyPr/>
                    <a:lstStyle/>
                    <a:p>
                      <a:pPr algn="ctr"/>
                      <a:r>
                        <a:rPr lang="en-US" sz="1000" u="none" kern="1200" dirty="0">
                          <a:solidFill>
                            <a:schemeClr val="dk1"/>
                          </a:solidFill>
                          <a:latin typeface="+mn-lt"/>
                          <a:ea typeface="+mn-ea"/>
                          <a:cs typeface="+mn-cs"/>
                        </a:rPr>
                        <a:t>Slot 4 CS 1</a:t>
                      </a:r>
                      <a:endParaRPr lang="en-US" sz="1000" u="none" dirty="0">
                        <a:latin typeface="+mn-lt"/>
                      </a:endParaRPr>
                    </a:p>
                  </a:txBody>
                  <a:tcPr/>
                </a:tc>
                <a:tc>
                  <a:txBody>
                    <a:bodyPr/>
                    <a:lstStyle/>
                    <a:p>
                      <a:pPr algn="ctr"/>
                      <a:r>
                        <a:rPr lang="en-US" sz="1200" dirty="0"/>
                        <a:t>7</a:t>
                      </a:r>
                    </a:p>
                  </a:txBody>
                  <a:tcPr/>
                </a:tc>
                <a:tc>
                  <a:txBody>
                    <a:bodyPr/>
                    <a:lstStyle/>
                    <a:p>
                      <a:pPr algn="ctr"/>
                      <a:r>
                        <a:rPr lang="en-US" sz="1200" dirty="0"/>
                        <a:t>0</a:t>
                      </a:r>
                    </a:p>
                  </a:txBody>
                  <a:tcPr/>
                </a:tc>
                <a:tc>
                  <a:txBody>
                    <a:bodyPr/>
                    <a:lstStyle/>
                    <a:p>
                      <a:pPr algn="ctr"/>
                      <a:r>
                        <a:rPr lang="en-US" sz="1200" dirty="0"/>
                        <a:t>0</a:t>
                      </a:r>
                    </a:p>
                  </a:txBody>
                  <a:tcPr/>
                </a:tc>
                <a:tc>
                  <a:txBody>
                    <a:bodyPr/>
                    <a:lstStyle/>
                    <a:p>
                      <a:pPr algn="ctr"/>
                      <a:r>
                        <a:rPr lang="en-US" sz="1200" dirty="0"/>
                        <a:t>1</a:t>
                      </a:r>
                    </a:p>
                  </a:txBody>
                  <a:tcPr/>
                </a:tc>
                <a:tc>
                  <a:txBody>
                    <a:bodyPr/>
                    <a:lstStyle/>
                    <a:p>
                      <a:pPr algn="ctr"/>
                      <a:r>
                        <a:rPr lang="en-US" sz="1200" dirty="0"/>
                        <a:t>1</a:t>
                      </a:r>
                    </a:p>
                  </a:txBody>
                  <a:tcPr/>
                </a:tc>
                <a:tc>
                  <a:txBody>
                    <a:bodyPr/>
                    <a:lstStyle/>
                    <a:p>
                      <a:pPr algn="ctr"/>
                      <a:r>
                        <a:rPr lang="en-US" sz="1200" dirty="0"/>
                        <a:t>1</a:t>
                      </a:r>
                    </a:p>
                  </a:txBody>
                  <a:tcPr/>
                </a:tc>
                <a:extLst>
                  <a:ext uri="{0D108BD9-81ED-4DB2-BD59-A6C34878D82A}">
                    <a16:rowId xmlns:a16="http://schemas.microsoft.com/office/drawing/2014/main" val="10008"/>
                  </a:ext>
                </a:extLst>
              </a:tr>
              <a:tr h="182880">
                <a:tc>
                  <a:txBody>
                    <a:bodyPr/>
                    <a:lstStyle/>
                    <a:p>
                      <a:pPr algn="ctr"/>
                      <a:r>
                        <a:rPr lang="en-US" sz="1000" u="none" kern="1200" dirty="0">
                          <a:solidFill>
                            <a:schemeClr val="dk1"/>
                          </a:solidFill>
                          <a:latin typeface="+mn-lt"/>
                          <a:ea typeface="+mn-ea"/>
                          <a:cs typeface="+mn-cs"/>
                        </a:rPr>
                        <a:t>Slot 4 CS 2</a:t>
                      </a:r>
                      <a:endParaRPr lang="en-US" sz="1000" u="none" dirty="0">
                        <a:latin typeface="+mn-lt"/>
                      </a:endParaRPr>
                    </a:p>
                  </a:txBody>
                  <a:tcPr/>
                </a:tc>
                <a:tc>
                  <a:txBody>
                    <a:bodyPr/>
                    <a:lstStyle/>
                    <a:p>
                      <a:pPr algn="ctr"/>
                      <a:r>
                        <a:rPr lang="en-US" sz="1200" dirty="0"/>
                        <a:t>8</a:t>
                      </a:r>
                    </a:p>
                  </a:txBody>
                  <a:tcPr/>
                </a:tc>
                <a:tc>
                  <a:txBody>
                    <a:bodyPr/>
                    <a:lstStyle/>
                    <a:p>
                      <a:pPr algn="ctr"/>
                      <a:r>
                        <a:rPr lang="en-US" sz="1200" dirty="0"/>
                        <a:t>0</a:t>
                      </a:r>
                    </a:p>
                  </a:txBody>
                  <a:tcPr/>
                </a:tc>
                <a:tc>
                  <a:txBody>
                    <a:bodyPr/>
                    <a:lstStyle/>
                    <a:p>
                      <a:pPr algn="ctr"/>
                      <a:r>
                        <a:rPr lang="en-US" sz="1200" dirty="0"/>
                        <a:t>1</a:t>
                      </a:r>
                    </a:p>
                  </a:txBody>
                  <a:tcPr/>
                </a:tc>
                <a:tc>
                  <a:txBody>
                    <a:bodyPr/>
                    <a:lstStyle/>
                    <a:p>
                      <a:pPr algn="ctr"/>
                      <a:r>
                        <a:rPr lang="en-US" sz="1200" dirty="0"/>
                        <a:t>0</a:t>
                      </a:r>
                    </a:p>
                  </a:txBody>
                  <a:tcPr/>
                </a:tc>
                <a:tc>
                  <a:txBody>
                    <a:bodyPr/>
                    <a:lstStyle/>
                    <a:p>
                      <a:pPr algn="ctr"/>
                      <a:r>
                        <a:rPr lang="en-US" sz="1200" dirty="0"/>
                        <a:t>0</a:t>
                      </a:r>
                    </a:p>
                  </a:txBody>
                  <a:tcPr/>
                </a:tc>
                <a:tc>
                  <a:txBody>
                    <a:bodyPr/>
                    <a:lstStyle/>
                    <a:p>
                      <a:pPr algn="ctr"/>
                      <a:r>
                        <a:rPr lang="en-US" sz="1200" dirty="0"/>
                        <a:t>0</a:t>
                      </a:r>
                    </a:p>
                  </a:txBody>
                  <a:tcPr/>
                </a:tc>
                <a:extLst>
                  <a:ext uri="{0D108BD9-81ED-4DB2-BD59-A6C34878D82A}">
                    <a16:rowId xmlns:a16="http://schemas.microsoft.com/office/drawing/2014/main" val="10009"/>
                  </a:ext>
                </a:extLst>
              </a:tr>
              <a:tr h="182880">
                <a:tc>
                  <a:txBody>
                    <a:bodyPr/>
                    <a:lstStyle/>
                    <a:p>
                      <a:pPr algn="ctr"/>
                      <a:r>
                        <a:rPr lang="en-US" sz="1000" u="none" kern="1200" dirty="0">
                          <a:solidFill>
                            <a:schemeClr val="dk1"/>
                          </a:solidFill>
                          <a:latin typeface="+mn-lt"/>
                          <a:ea typeface="+mn-ea"/>
                          <a:cs typeface="+mn-cs"/>
                        </a:rPr>
                        <a:t>Slot 5 CS 1</a:t>
                      </a:r>
                      <a:endParaRPr lang="en-US" sz="1000" u="none" dirty="0">
                        <a:latin typeface="+mn-lt"/>
                      </a:endParaRPr>
                    </a:p>
                  </a:txBody>
                  <a:tcPr/>
                </a:tc>
                <a:tc>
                  <a:txBody>
                    <a:bodyPr/>
                    <a:lstStyle/>
                    <a:p>
                      <a:pPr algn="ctr"/>
                      <a:r>
                        <a:rPr lang="en-US" sz="1200" dirty="0"/>
                        <a:t>9</a:t>
                      </a:r>
                    </a:p>
                  </a:txBody>
                  <a:tcPr/>
                </a:tc>
                <a:tc>
                  <a:txBody>
                    <a:bodyPr/>
                    <a:lstStyle/>
                    <a:p>
                      <a:pPr algn="ctr"/>
                      <a:r>
                        <a:rPr lang="en-US" sz="1200" dirty="0"/>
                        <a:t>0</a:t>
                      </a:r>
                    </a:p>
                  </a:txBody>
                  <a:tcPr/>
                </a:tc>
                <a:tc>
                  <a:txBody>
                    <a:bodyPr/>
                    <a:lstStyle/>
                    <a:p>
                      <a:pPr algn="ctr"/>
                      <a:r>
                        <a:rPr lang="en-US" sz="1200" dirty="0"/>
                        <a:t>1</a:t>
                      </a:r>
                    </a:p>
                  </a:txBody>
                  <a:tcPr/>
                </a:tc>
                <a:tc>
                  <a:txBody>
                    <a:bodyPr/>
                    <a:lstStyle/>
                    <a:p>
                      <a:pPr algn="ctr"/>
                      <a:r>
                        <a:rPr lang="en-US" sz="1200" dirty="0"/>
                        <a:t>0</a:t>
                      </a:r>
                    </a:p>
                  </a:txBody>
                  <a:tcPr/>
                </a:tc>
                <a:tc>
                  <a:txBody>
                    <a:bodyPr/>
                    <a:lstStyle/>
                    <a:p>
                      <a:pPr algn="ctr"/>
                      <a:r>
                        <a:rPr lang="en-US" sz="1200" dirty="0"/>
                        <a:t>0</a:t>
                      </a:r>
                    </a:p>
                  </a:txBody>
                  <a:tcPr/>
                </a:tc>
                <a:tc>
                  <a:txBody>
                    <a:bodyPr/>
                    <a:lstStyle/>
                    <a:p>
                      <a:pPr algn="ctr"/>
                      <a:r>
                        <a:rPr lang="en-US" sz="1200" dirty="0"/>
                        <a:t>1</a:t>
                      </a:r>
                    </a:p>
                  </a:txBody>
                  <a:tcPr/>
                </a:tc>
                <a:extLst>
                  <a:ext uri="{0D108BD9-81ED-4DB2-BD59-A6C34878D82A}">
                    <a16:rowId xmlns:a16="http://schemas.microsoft.com/office/drawing/2014/main" val="10010"/>
                  </a:ext>
                </a:extLst>
              </a:tr>
              <a:tr h="182880">
                <a:tc>
                  <a:txBody>
                    <a:bodyPr/>
                    <a:lstStyle/>
                    <a:p>
                      <a:pPr algn="ctr"/>
                      <a:r>
                        <a:rPr lang="en-US" sz="1000" u="none" kern="1200" dirty="0">
                          <a:solidFill>
                            <a:schemeClr val="dk1"/>
                          </a:solidFill>
                          <a:latin typeface="+mn-lt"/>
                          <a:ea typeface="+mn-ea"/>
                          <a:cs typeface="+mn-cs"/>
                        </a:rPr>
                        <a:t>Slot 5 CS 2</a:t>
                      </a:r>
                      <a:endParaRPr lang="en-US" sz="1000" u="none" dirty="0">
                        <a:latin typeface="+mn-lt"/>
                      </a:endParaRPr>
                    </a:p>
                  </a:txBody>
                  <a:tcPr/>
                </a:tc>
                <a:tc>
                  <a:txBody>
                    <a:bodyPr/>
                    <a:lstStyle/>
                    <a:p>
                      <a:pPr algn="ctr"/>
                      <a:r>
                        <a:rPr lang="en-US" sz="1200" dirty="0"/>
                        <a:t>10</a:t>
                      </a:r>
                    </a:p>
                  </a:txBody>
                  <a:tcPr/>
                </a:tc>
                <a:tc>
                  <a:txBody>
                    <a:bodyPr/>
                    <a:lstStyle/>
                    <a:p>
                      <a:pPr algn="ctr"/>
                      <a:r>
                        <a:rPr lang="en-US" sz="1200" dirty="0"/>
                        <a:t>0</a:t>
                      </a:r>
                    </a:p>
                  </a:txBody>
                  <a:tcPr/>
                </a:tc>
                <a:tc>
                  <a:txBody>
                    <a:bodyPr/>
                    <a:lstStyle/>
                    <a:p>
                      <a:pPr algn="ctr"/>
                      <a:r>
                        <a:rPr lang="en-US" sz="1200" dirty="0"/>
                        <a:t>1</a:t>
                      </a:r>
                    </a:p>
                  </a:txBody>
                  <a:tcPr/>
                </a:tc>
                <a:tc>
                  <a:txBody>
                    <a:bodyPr/>
                    <a:lstStyle/>
                    <a:p>
                      <a:pPr algn="ctr"/>
                      <a:r>
                        <a:rPr lang="en-US" sz="1200" dirty="0"/>
                        <a:t>0</a:t>
                      </a:r>
                    </a:p>
                  </a:txBody>
                  <a:tcPr/>
                </a:tc>
                <a:tc>
                  <a:txBody>
                    <a:bodyPr/>
                    <a:lstStyle/>
                    <a:p>
                      <a:pPr algn="ctr"/>
                      <a:r>
                        <a:rPr lang="en-US" sz="1200" dirty="0"/>
                        <a:t>1</a:t>
                      </a:r>
                    </a:p>
                  </a:txBody>
                  <a:tcPr/>
                </a:tc>
                <a:tc>
                  <a:txBody>
                    <a:bodyPr/>
                    <a:lstStyle/>
                    <a:p>
                      <a:pPr algn="ctr"/>
                      <a:r>
                        <a:rPr lang="en-US" sz="1200" dirty="0"/>
                        <a:t>0</a:t>
                      </a:r>
                    </a:p>
                  </a:txBody>
                  <a:tcPr/>
                </a:tc>
                <a:extLst>
                  <a:ext uri="{0D108BD9-81ED-4DB2-BD59-A6C34878D82A}">
                    <a16:rowId xmlns:a16="http://schemas.microsoft.com/office/drawing/2014/main" val="10011"/>
                  </a:ext>
                </a:extLst>
              </a:tr>
              <a:tr h="182880">
                <a:tc>
                  <a:txBody>
                    <a:bodyPr/>
                    <a:lstStyle/>
                    <a:p>
                      <a:pPr algn="ctr"/>
                      <a:r>
                        <a:rPr lang="en-US" sz="1000" u="none" kern="1200" dirty="0">
                          <a:solidFill>
                            <a:schemeClr val="dk1"/>
                          </a:solidFill>
                          <a:latin typeface="+mn-lt"/>
                          <a:ea typeface="+mn-ea"/>
                          <a:cs typeface="+mn-cs"/>
                        </a:rPr>
                        <a:t>Slot 6 CS 1</a:t>
                      </a:r>
                      <a:endParaRPr lang="en-US" sz="1000" u="none" dirty="0">
                        <a:latin typeface="+mn-lt"/>
                      </a:endParaRPr>
                    </a:p>
                  </a:txBody>
                  <a:tcPr/>
                </a:tc>
                <a:tc>
                  <a:txBody>
                    <a:bodyPr/>
                    <a:lstStyle/>
                    <a:p>
                      <a:pPr algn="ctr"/>
                      <a:r>
                        <a:rPr lang="en-US" sz="1200" dirty="0"/>
                        <a:t>11</a:t>
                      </a:r>
                    </a:p>
                  </a:txBody>
                  <a:tcPr/>
                </a:tc>
                <a:tc>
                  <a:txBody>
                    <a:bodyPr/>
                    <a:lstStyle/>
                    <a:p>
                      <a:pPr algn="ctr"/>
                      <a:r>
                        <a:rPr lang="en-US" sz="1200" dirty="0"/>
                        <a:t>0</a:t>
                      </a:r>
                    </a:p>
                  </a:txBody>
                  <a:tcPr/>
                </a:tc>
                <a:tc>
                  <a:txBody>
                    <a:bodyPr/>
                    <a:lstStyle/>
                    <a:p>
                      <a:pPr algn="ctr"/>
                      <a:r>
                        <a:rPr lang="en-US" sz="1200" dirty="0"/>
                        <a:t>1</a:t>
                      </a:r>
                    </a:p>
                  </a:txBody>
                  <a:tcPr/>
                </a:tc>
                <a:tc>
                  <a:txBody>
                    <a:bodyPr/>
                    <a:lstStyle/>
                    <a:p>
                      <a:pPr algn="ctr"/>
                      <a:r>
                        <a:rPr lang="en-US" sz="1200" dirty="0"/>
                        <a:t>0</a:t>
                      </a:r>
                    </a:p>
                  </a:txBody>
                  <a:tcPr/>
                </a:tc>
                <a:tc>
                  <a:txBody>
                    <a:bodyPr/>
                    <a:lstStyle/>
                    <a:p>
                      <a:pPr algn="ctr"/>
                      <a:r>
                        <a:rPr lang="en-US" sz="1200" dirty="0"/>
                        <a:t>1</a:t>
                      </a:r>
                    </a:p>
                  </a:txBody>
                  <a:tcPr/>
                </a:tc>
                <a:tc>
                  <a:txBody>
                    <a:bodyPr/>
                    <a:lstStyle/>
                    <a:p>
                      <a:pPr algn="ctr"/>
                      <a:r>
                        <a:rPr lang="en-US" sz="1200" dirty="0"/>
                        <a:t>1</a:t>
                      </a:r>
                    </a:p>
                  </a:txBody>
                  <a:tcPr/>
                </a:tc>
                <a:extLst>
                  <a:ext uri="{0D108BD9-81ED-4DB2-BD59-A6C34878D82A}">
                    <a16:rowId xmlns:a16="http://schemas.microsoft.com/office/drawing/2014/main" val="10012"/>
                  </a:ext>
                </a:extLst>
              </a:tr>
              <a:tr h="182880">
                <a:tc>
                  <a:txBody>
                    <a:bodyPr/>
                    <a:lstStyle/>
                    <a:p>
                      <a:pPr algn="ctr"/>
                      <a:r>
                        <a:rPr lang="en-US" sz="1000" u="none" kern="1200" dirty="0">
                          <a:solidFill>
                            <a:schemeClr val="dk1"/>
                          </a:solidFill>
                          <a:latin typeface="+mn-lt"/>
                          <a:ea typeface="+mn-ea"/>
                          <a:cs typeface="+mn-cs"/>
                        </a:rPr>
                        <a:t>Slot 6 CS 2</a:t>
                      </a:r>
                      <a:endParaRPr lang="en-US" sz="1000" u="none" dirty="0">
                        <a:latin typeface="+mn-lt"/>
                      </a:endParaRPr>
                    </a:p>
                  </a:txBody>
                  <a:tcPr/>
                </a:tc>
                <a:tc>
                  <a:txBody>
                    <a:bodyPr/>
                    <a:lstStyle/>
                    <a:p>
                      <a:pPr algn="ctr"/>
                      <a:r>
                        <a:rPr lang="en-US" sz="1200" dirty="0"/>
                        <a:t>12</a:t>
                      </a:r>
                    </a:p>
                  </a:txBody>
                  <a:tcPr/>
                </a:tc>
                <a:tc>
                  <a:txBody>
                    <a:bodyPr/>
                    <a:lstStyle/>
                    <a:p>
                      <a:pPr algn="ctr"/>
                      <a:r>
                        <a:rPr lang="en-US" sz="1200" dirty="0"/>
                        <a:t>0</a:t>
                      </a:r>
                    </a:p>
                  </a:txBody>
                  <a:tcPr/>
                </a:tc>
                <a:tc>
                  <a:txBody>
                    <a:bodyPr/>
                    <a:lstStyle/>
                    <a:p>
                      <a:pPr algn="ctr"/>
                      <a:r>
                        <a:rPr lang="en-US" sz="1200" dirty="0"/>
                        <a:t>1</a:t>
                      </a:r>
                    </a:p>
                  </a:txBody>
                  <a:tcPr/>
                </a:tc>
                <a:tc>
                  <a:txBody>
                    <a:bodyPr/>
                    <a:lstStyle/>
                    <a:p>
                      <a:pPr algn="ctr"/>
                      <a:r>
                        <a:rPr lang="en-US" sz="1200" dirty="0"/>
                        <a:t>1</a:t>
                      </a:r>
                    </a:p>
                  </a:txBody>
                  <a:tcPr/>
                </a:tc>
                <a:tc>
                  <a:txBody>
                    <a:bodyPr/>
                    <a:lstStyle/>
                    <a:p>
                      <a:pPr algn="ctr"/>
                      <a:r>
                        <a:rPr lang="en-US" sz="1200" dirty="0"/>
                        <a:t>0</a:t>
                      </a:r>
                    </a:p>
                  </a:txBody>
                  <a:tcPr/>
                </a:tc>
                <a:tc>
                  <a:txBody>
                    <a:bodyPr/>
                    <a:lstStyle/>
                    <a:p>
                      <a:pPr algn="ctr"/>
                      <a:r>
                        <a:rPr lang="en-US" sz="1200" dirty="0"/>
                        <a:t>0</a:t>
                      </a:r>
                    </a:p>
                  </a:txBody>
                  <a:tcPr/>
                </a:tc>
                <a:extLst>
                  <a:ext uri="{0D108BD9-81ED-4DB2-BD59-A6C34878D82A}">
                    <a16:rowId xmlns:a16="http://schemas.microsoft.com/office/drawing/2014/main" val="10013"/>
                  </a:ext>
                </a:extLst>
              </a:tr>
              <a:tr h="182880">
                <a:tc>
                  <a:txBody>
                    <a:bodyPr/>
                    <a:lstStyle/>
                    <a:p>
                      <a:pPr algn="ctr"/>
                      <a:r>
                        <a:rPr lang="en-US" sz="1000" u="none" kern="1200" dirty="0">
                          <a:solidFill>
                            <a:schemeClr val="dk1"/>
                          </a:solidFill>
                          <a:latin typeface="+mn-lt"/>
                          <a:ea typeface="+mn-ea"/>
                          <a:cs typeface="+mn-cs"/>
                        </a:rPr>
                        <a:t>Slot 7 CS 1</a:t>
                      </a:r>
                      <a:endParaRPr lang="en-US" sz="1000" u="none" dirty="0">
                        <a:latin typeface="+mn-lt"/>
                      </a:endParaRPr>
                    </a:p>
                  </a:txBody>
                  <a:tcPr/>
                </a:tc>
                <a:tc>
                  <a:txBody>
                    <a:bodyPr/>
                    <a:lstStyle/>
                    <a:p>
                      <a:pPr algn="ctr"/>
                      <a:r>
                        <a:rPr lang="en-US" sz="1200" dirty="0"/>
                        <a:t>13</a:t>
                      </a:r>
                    </a:p>
                  </a:txBody>
                  <a:tcPr/>
                </a:tc>
                <a:tc>
                  <a:txBody>
                    <a:bodyPr/>
                    <a:lstStyle/>
                    <a:p>
                      <a:pPr algn="ctr"/>
                      <a:r>
                        <a:rPr lang="en-US" sz="1200" dirty="0"/>
                        <a:t>0</a:t>
                      </a:r>
                    </a:p>
                  </a:txBody>
                  <a:tcPr/>
                </a:tc>
                <a:tc>
                  <a:txBody>
                    <a:bodyPr/>
                    <a:lstStyle/>
                    <a:p>
                      <a:pPr algn="ctr"/>
                      <a:r>
                        <a:rPr lang="en-US" sz="1200" dirty="0"/>
                        <a:t>1</a:t>
                      </a:r>
                    </a:p>
                  </a:txBody>
                  <a:tcPr/>
                </a:tc>
                <a:tc>
                  <a:txBody>
                    <a:bodyPr/>
                    <a:lstStyle/>
                    <a:p>
                      <a:pPr algn="ctr"/>
                      <a:r>
                        <a:rPr lang="en-US" sz="1200" dirty="0"/>
                        <a:t>1</a:t>
                      </a:r>
                    </a:p>
                  </a:txBody>
                  <a:tcPr/>
                </a:tc>
                <a:tc>
                  <a:txBody>
                    <a:bodyPr/>
                    <a:lstStyle/>
                    <a:p>
                      <a:pPr algn="ctr"/>
                      <a:r>
                        <a:rPr lang="en-US" sz="1200" dirty="0"/>
                        <a:t>0</a:t>
                      </a:r>
                    </a:p>
                  </a:txBody>
                  <a:tcPr/>
                </a:tc>
                <a:tc>
                  <a:txBody>
                    <a:bodyPr/>
                    <a:lstStyle/>
                    <a:p>
                      <a:pPr algn="ctr"/>
                      <a:r>
                        <a:rPr lang="en-US" sz="1200" dirty="0"/>
                        <a:t>1</a:t>
                      </a:r>
                    </a:p>
                  </a:txBody>
                  <a:tcPr/>
                </a:tc>
                <a:extLst>
                  <a:ext uri="{0D108BD9-81ED-4DB2-BD59-A6C34878D82A}">
                    <a16:rowId xmlns:a16="http://schemas.microsoft.com/office/drawing/2014/main" val="10014"/>
                  </a:ext>
                </a:extLst>
              </a:tr>
              <a:tr h="182880">
                <a:tc>
                  <a:txBody>
                    <a:bodyPr/>
                    <a:lstStyle/>
                    <a:p>
                      <a:pPr algn="ctr"/>
                      <a:r>
                        <a:rPr lang="en-US" sz="1000" u="none" kern="1200" dirty="0">
                          <a:solidFill>
                            <a:schemeClr val="dk1"/>
                          </a:solidFill>
                          <a:latin typeface="+mn-lt"/>
                          <a:ea typeface="+mn-ea"/>
                          <a:cs typeface="+mn-cs"/>
                        </a:rPr>
                        <a:t>Slot 7 CS 2</a:t>
                      </a:r>
                      <a:endParaRPr lang="en-US" sz="1000" u="none" dirty="0">
                        <a:latin typeface="+mn-lt"/>
                      </a:endParaRPr>
                    </a:p>
                  </a:txBody>
                  <a:tcPr/>
                </a:tc>
                <a:tc>
                  <a:txBody>
                    <a:bodyPr/>
                    <a:lstStyle/>
                    <a:p>
                      <a:pPr algn="ctr"/>
                      <a:r>
                        <a:rPr lang="en-US" sz="1200" dirty="0"/>
                        <a:t>14</a:t>
                      </a:r>
                    </a:p>
                  </a:txBody>
                  <a:tcPr/>
                </a:tc>
                <a:tc>
                  <a:txBody>
                    <a:bodyPr/>
                    <a:lstStyle/>
                    <a:p>
                      <a:pPr algn="ctr"/>
                      <a:r>
                        <a:rPr lang="en-US" sz="1200" dirty="0"/>
                        <a:t>0</a:t>
                      </a:r>
                    </a:p>
                  </a:txBody>
                  <a:tcPr/>
                </a:tc>
                <a:tc>
                  <a:txBody>
                    <a:bodyPr/>
                    <a:lstStyle/>
                    <a:p>
                      <a:pPr algn="ctr"/>
                      <a:r>
                        <a:rPr lang="en-US" sz="1200" dirty="0"/>
                        <a:t>1</a:t>
                      </a:r>
                    </a:p>
                  </a:txBody>
                  <a:tcPr/>
                </a:tc>
                <a:tc>
                  <a:txBody>
                    <a:bodyPr/>
                    <a:lstStyle/>
                    <a:p>
                      <a:pPr algn="ctr"/>
                      <a:r>
                        <a:rPr lang="en-US" sz="1200" dirty="0"/>
                        <a:t>1</a:t>
                      </a:r>
                    </a:p>
                  </a:txBody>
                  <a:tcPr/>
                </a:tc>
                <a:tc>
                  <a:txBody>
                    <a:bodyPr/>
                    <a:lstStyle/>
                    <a:p>
                      <a:pPr algn="ctr"/>
                      <a:r>
                        <a:rPr lang="en-US" sz="1200" dirty="0"/>
                        <a:t>1</a:t>
                      </a:r>
                    </a:p>
                  </a:txBody>
                  <a:tcPr/>
                </a:tc>
                <a:tc>
                  <a:txBody>
                    <a:bodyPr/>
                    <a:lstStyle/>
                    <a:p>
                      <a:pPr algn="ctr"/>
                      <a:r>
                        <a:rPr lang="en-US" sz="1200" dirty="0"/>
                        <a:t>0</a:t>
                      </a:r>
                    </a:p>
                  </a:txBody>
                  <a:tcPr/>
                </a:tc>
                <a:extLst>
                  <a:ext uri="{0D108BD9-81ED-4DB2-BD59-A6C34878D82A}">
                    <a16:rowId xmlns:a16="http://schemas.microsoft.com/office/drawing/2014/main" val="10015"/>
                  </a:ext>
                </a:extLst>
              </a:tr>
              <a:tr h="182880">
                <a:tc>
                  <a:txBody>
                    <a:bodyPr/>
                    <a:lstStyle/>
                    <a:p>
                      <a:pPr algn="ctr"/>
                      <a:r>
                        <a:rPr lang="en-US" sz="1000" u="none" dirty="0">
                          <a:latin typeface="+mn-lt"/>
                        </a:rPr>
                        <a:t>EEPROM</a:t>
                      </a:r>
                    </a:p>
                  </a:txBody>
                  <a:tcPr/>
                </a:tc>
                <a:tc>
                  <a:txBody>
                    <a:bodyPr/>
                    <a:lstStyle/>
                    <a:p>
                      <a:pPr algn="ctr"/>
                      <a:r>
                        <a:rPr lang="en-US" sz="1200" dirty="0"/>
                        <a:t>15</a:t>
                      </a:r>
                    </a:p>
                  </a:txBody>
                  <a:tcPr/>
                </a:tc>
                <a:tc>
                  <a:txBody>
                    <a:bodyPr/>
                    <a:lstStyle/>
                    <a:p>
                      <a:pPr algn="ctr"/>
                      <a:r>
                        <a:rPr lang="en-US" sz="1200" dirty="0"/>
                        <a:t>0</a:t>
                      </a:r>
                    </a:p>
                  </a:txBody>
                  <a:tcPr/>
                </a:tc>
                <a:tc>
                  <a:txBody>
                    <a:bodyPr/>
                    <a:lstStyle/>
                    <a:p>
                      <a:pPr algn="ctr"/>
                      <a:r>
                        <a:rPr lang="en-US" sz="1200" dirty="0"/>
                        <a:t>1</a:t>
                      </a:r>
                    </a:p>
                  </a:txBody>
                  <a:tcPr/>
                </a:tc>
                <a:tc>
                  <a:txBody>
                    <a:bodyPr/>
                    <a:lstStyle/>
                    <a:p>
                      <a:pPr algn="ctr"/>
                      <a:r>
                        <a:rPr lang="en-US" sz="1200" dirty="0"/>
                        <a:t>1</a:t>
                      </a:r>
                    </a:p>
                  </a:txBody>
                  <a:tcPr/>
                </a:tc>
                <a:tc>
                  <a:txBody>
                    <a:bodyPr/>
                    <a:lstStyle/>
                    <a:p>
                      <a:pPr algn="ctr"/>
                      <a:r>
                        <a:rPr lang="en-US" sz="1200" dirty="0"/>
                        <a:t>1</a:t>
                      </a:r>
                    </a:p>
                  </a:txBody>
                  <a:tcPr/>
                </a:tc>
                <a:tc>
                  <a:txBody>
                    <a:bodyPr/>
                    <a:lstStyle/>
                    <a:p>
                      <a:pPr algn="ctr"/>
                      <a:r>
                        <a:rPr lang="en-US" sz="1200" dirty="0"/>
                        <a:t>1</a:t>
                      </a:r>
                    </a:p>
                  </a:txBody>
                  <a:tcPr/>
                </a:tc>
                <a:extLst>
                  <a:ext uri="{0D108BD9-81ED-4DB2-BD59-A6C34878D82A}">
                    <a16:rowId xmlns:a16="http://schemas.microsoft.com/office/drawing/2014/main" val="10016"/>
                  </a:ext>
                </a:extLst>
              </a:tr>
              <a:tr h="182880">
                <a:tc>
                  <a:txBody>
                    <a:bodyPr/>
                    <a:lstStyle/>
                    <a:p>
                      <a:pPr algn="ctr"/>
                      <a:r>
                        <a:rPr lang="en-US" sz="1000" u="none" dirty="0">
                          <a:latin typeface="+mn-lt"/>
                        </a:rPr>
                        <a:t>MAX3421</a:t>
                      </a:r>
                    </a:p>
                  </a:txBody>
                  <a:tcPr/>
                </a:tc>
                <a:tc>
                  <a:txBody>
                    <a:bodyPr/>
                    <a:lstStyle/>
                    <a:p>
                      <a:pPr algn="ctr"/>
                      <a:r>
                        <a:rPr lang="en-US" sz="1200" dirty="0"/>
                        <a:t>16</a:t>
                      </a:r>
                    </a:p>
                  </a:txBody>
                  <a:tcPr/>
                </a:tc>
                <a:tc>
                  <a:txBody>
                    <a:bodyPr/>
                    <a:lstStyle/>
                    <a:p>
                      <a:pPr algn="ctr"/>
                      <a:r>
                        <a:rPr lang="en-US" sz="1200" dirty="0"/>
                        <a:t>1</a:t>
                      </a:r>
                    </a:p>
                  </a:txBody>
                  <a:tcPr/>
                </a:tc>
                <a:tc>
                  <a:txBody>
                    <a:bodyPr/>
                    <a:lstStyle/>
                    <a:p>
                      <a:pPr algn="ctr"/>
                      <a:r>
                        <a:rPr lang="en-US" sz="1200" dirty="0"/>
                        <a:t>0</a:t>
                      </a:r>
                    </a:p>
                  </a:txBody>
                  <a:tcPr/>
                </a:tc>
                <a:tc>
                  <a:txBody>
                    <a:bodyPr/>
                    <a:lstStyle/>
                    <a:p>
                      <a:pPr algn="ctr"/>
                      <a:r>
                        <a:rPr lang="en-US" sz="1200" dirty="0"/>
                        <a:t>0</a:t>
                      </a:r>
                    </a:p>
                  </a:txBody>
                  <a:tcPr/>
                </a:tc>
                <a:tc>
                  <a:txBody>
                    <a:bodyPr/>
                    <a:lstStyle/>
                    <a:p>
                      <a:pPr algn="ctr"/>
                      <a:r>
                        <a:rPr lang="en-US" sz="1200" dirty="0"/>
                        <a:t>0</a:t>
                      </a:r>
                    </a:p>
                  </a:txBody>
                  <a:tcPr/>
                </a:tc>
                <a:tc>
                  <a:txBody>
                    <a:bodyPr/>
                    <a:lstStyle/>
                    <a:p>
                      <a:pPr algn="ctr"/>
                      <a:r>
                        <a:rPr lang="en-US" sz="1200" dirty="0"/>
                        <a:t>0</a:t>
                      </a:r>
                    </a:p>
                  </a:txBody>
                  <a:tcPr/>
                </a:tc>
                <a:extLst>
                  <a:ext uri="{0D108BD9-81ED-4DB2-BD59-A6C34878D82A}">
                    <a16:rowId xmlns:a16="http://schemas.microsoft.com/office/drawing/2014/main" val="10017"/>
                  </a:ext>
                </a:extLst>
              </a:tr>
            </a:tbl>
          </a:graphicData>
        </a:graphic>
      </p:graphicFrame>
      <p:sp>
        <p:nvSpPr>
          <p:cNvPr id="39" name="TextBox 38"/>
          <p:cNvSpPr txBox="1"/>
          <p:nvPr/>
        </p:nvSpPr>
        <p:spPr>
          <a:xfrm>
            <a:off x="1295400" y="1905000"/>
            <a:ext cx="902619" cy="276999"/>
          </a:xfrm>
          <a:prstGeom prst="rect">
            <a:avLst/>
          </a:prstGeom>
          <a:noFill/>
        </p:spPr>
        <p:txBody>
          <a:bodyPr wrap="none" rtlCol="0">
            <a:spAutoFit/>
          </a:bodyPr>
          <a:lstStyle/>
          <a:p>
            <a:r>
              <a:rPr lang="en-US" sz="1200" dirty="0"/>
              <a:t>CS1_1_REG</a:t>
            </a:r>
          </a:p>
        </p:txBody>
      </p:sp>
      <p:cxnSp>
        <p:nvCxnSpPr>
          <p:cNvPr id="40" name="Elbow Connector 39"/>
          <p:cNvCxnSpPr/>
          <p:nvPr/>
        </p:nvCxnSpPr>
        <p:spPr>
          <a:xfrm>
            <a:off x="304800" y="20574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44" name="TextBox 43"/>
          <p:cNvSpPr txBox="1"/>
          <p:nvPr/>
        </p:nvSpPr>
        <p:spPr>
          <a:xfrm>
            <a:off x="1295400" y="2057400"/>
            <a:ext cx="902619" cy="276999"/>
          </a:xfrm>
          <a:prstGeom prst="rect">
            <a:avLst/>
          </a:prstGeom>
          <a:noFill/>
        </p:spPr>
        <p:txBody>
          <a:bodyPr wrap="none" rtlCol="0">
            <a:spAutoFit/>
          </a:bodyPr>
          <a:lstStyle/>
          <a:p>
            <a:r>
              <a:rPr lang="en-US" sz="1200" dirty="0"/>
              <a:t>CS1_2_REG</a:t>
            </a:r>
          </a:p>
        </p:txBody>
      </p:sp>
      <p:cxnSp>
        <p:nvCxnSpPr>
          <p:cNvPr id="45" name="Elbow Connector 44"/>
          <p:cNvCxnSpPr/>
          <p:nvPr/>
        </p:nvCxnSpPr>
        <p:spPr>
          <a:xfrm>
            <a:off x="304800" y="22098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46" name="TextBox 45"/>
          <p:cNvSpPr txBox="1"/>
          <p:nvPr/>
        </p:nvSpPr>
        <p:spPr>
          <a:xfrm>
            <a:off x="1295400" y="2209800"/>
            <a:ext cx="902619" cy="276999"/>
          </a:xfrm>
          <a:prstGeom prst="rect">
            <a:avLst/>
          </a:prstGeom>
          <a:noFill/>
        </p:spPr>
        <p:txBody>
          <a:bodyPr wrap="none" rtlCol="0">
            <a:spAutoFit/>
          </a:bodyPr>
          <a:lstStyle/>
          <a:p>
            <a:r>
              <a:rPr lang="en-US" sz="1200" dirty="0"/>
              <a:t>CS2_1_REG</a:t>
            </a:r>
          </a:p>
        </p:txBody>
      </p:sp>
      <p:cxnSp>
        <p:nvCxnSpPr>
          <p:cNvPr id="47" name="Elbow Connector 46"/>
          <p:cNvCxnSpPr/>
          <p:nvPr/>
        </p:nvCxnSpPr>
        <p:spPr>
          <a:xfrm>
            <a:off x="304800" y="23622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48" name="TextBox 47"/>
          <p:cNvSpPr txBox="1"/>
          <p:nvPr/>
        </p:nvSpPr>
        <p:spPr>
          <a:xfrm>
            <a:off x="1295400" y="2362200"/>
            <a:ext cx="902619" cy="276999"/>
          </a:xfrm>
          <a:prstGeom prst="rect">
            <a:avLst/>
          </a:prstGeom>
          <a:noFill/>
        </p:spPr>
        <p:txBody>
          <a:bodyPr wrap="none" rtlCol="0">
            <a:spAutoFit/>
          </a:bodyPr>
          <a:lstStyle/>
          <a:p>
            <a:r>
              <a:rPr lang="en-US" sz="1200" dirty="0"/>
              <a:t>CS2_2_REG</a:t>
            </a:r>
          </a:p>
        </p:txBody>
      </p:sp>
      <p:cxnSp>
        <p:nvCxnSpPr>
          <p:cNvPr id="49" name="Elbow Connector 48"/>
          <p:cNvCxnSpPr/>
          <p:nvPr/>
        </p:nvCxnSpPr>
        <p:spPr>
          <a:xfrm>
            <a:off x="304800" y="25146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cxnSp>
        <p:nvCxnSpPr>
          <p:cNvPr id="50" name="Elbow Connector 49"/>
          <p:cNvCxnSpPr/>
          <p:nvPr/>
        </p:nvCxnSpPr>
        <p:spPr>
          <a:xfrm>
            <a:off x="304800" y="26670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51" name="TextBox 50"/>
          <p:cNvSpPr txBox="1"/>
          <p:nvPr/>
        </p:nvSpPr>
        <p:spPr>
          <a:xfrm>
            <a:off x="1295400" y="2667000"/>
            <a:ext cx="902619" cy="276999"/>
          </a:xfrm>
          <a:prstGeom prst="rect">
            <a:avLst/>
          </a:prstGeom>
          <a:noFill/>
        </p:spPr>
        <p:txBody>
          <a:bodyPr wrap="none" rtlCol="0">
            <a:spAutoFit/>
          </a:bodyPr>
          <a:lstStyle/>
          <a:p>
            <a:r>
              <a:rPr lang="en-US" sz="1200" dirty="0"/>
              <a:t>CS3_2_REG</a:t>
            </a:r>
          </a:p>
        </p:txBody>
      </p:sp>
      <p:cxnSp>
        <p:nvCxnSpPr>
          <p:cNvPr id="52" name="Elbow Connector 51"/>
          <p:cNvCxnSpPr/>
          <p:nvPr/>
        </p:nvCxnSpPr>
        <p:spPr>
          <a:xfrm>
            <a:off x="304800" y="28194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53" name="TextBox 52"/>
          <p:cNvSpPr txBox="1"/>
          <p:nvPr/>
        </p:nvSpPr>
        <p:spPr>
          <a:xfrm>
            <a:off x="1295400" y="2819400"/>
            <a:ext cx="902619" cy="276999"/>
          </a:xfrm>
          <a:prstGeom prst="rect">
            <a:avLst/>
          </a:prstGeom>
          <a:noFill/>
        </p:spPr>
        <p:txBody>
          <a:bodyPr wrap="none" rtlCol="0">
            <a:spAutoFit/>
          </a:bodyPr>
          <a:lstStyle/>
          <a:p>
            <a:r>
              <a:rPr lang="en-US" sz="1200" dirty="0"/>
              <a:t>CS4_1_REG</a:t>
            </a:r>
          </a:p>
        </p:txBody>
      </p:sp>
      <p:cxnSp>
        <p:nvCxnSpPr>
          <p:cNvPr id="54" name="Elbow Connector 53"/>
          <p:cNvCxnSpPr/>
          <p:nvPr/>
        </p:nvCxnSpPr>
        <p:spPr>
          <a:xfrm>
            <a:off x="304800" y="29718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55" name="TextBox 54"/>
          <p:cNvSpPr txBox="1"/>
          <p:nvPr/>
        </p:nvSpPr>
        <p:spPr>
          <a:xfrm>
            <a:off x="1295400" y="2971800"/>
            <a:ext cx="902619" cy="276999"/>
          </a:xfrm>
          <a:prstGeom prst="rect">
            <a:avLst/>
          </a:prstGeom>
          <a:noFill/>
        </p:spPr>
        <p:txBody>
          <a:bodyPr wrap="none" rtlCol="0">
            <a:spAutoFit/>
          </a:bodyPr>
          <a:lstStyle/>
          <a:p>
            <a:r>
              <a:rPr lang="en-US" sz="1200" dirty="0"/>
              <a:t>CS4_2_REG</a:t>
            </a:r>
          </a:p>
        </p:txBody>
      </p:sp>
      <p:cxnSp>
        <p:nvCxnSpPr>
          <p:cNvPr id="56" name="Elbow Connector 55"/>
          <p:cNvCxnSpPr/>
          <p:nvPr/>
        </p:nvCxnSpPr>
        <p:spPr>
          <a:xfrm>
            <a:off x="304800" y="31242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57" name="TextBox 56"/>
          <p:cNvSpPr txBox="1"/>
          <p:nvPr/>
        </p:nvSpPr>
        <p:spPr>
          <a:xfrm>
            <a:off x="1295400" y="2514600"/>
            <a:ext cx="902619" cy="276999"/>
          </a:xfrm>
          <a:prstGeom prst="rect">
            <a:avLst/>
          </a:prstGeom>
          <a:noFill/>
        </p:spPr>
        <p:txBody>
          <a:bodyPr wrap="none" rtlCol="0">
            <a:spAutoFit/>
          </a:bodyPr>
          <a:lstStyle/>
          <a:p>
            <a:r>
              <a:rPr lang="en-US" sz="1200" dirty="0"/>
              <a:t>CS3_1_REG</a:t>
            </a:r>
          </a:p>
        </p:txBody>
      </p:sp>
      <p:sp>
        <p:nvSpPr>
          <p:cNvPr id="58" name="TextBox 57"/>
          <p:cNvSpPr txBox="1"/>
          <p:nvPr/>
        </p:nvSpPr>
        <p:spPr>
          <a:xfrm>
            <a:off x="1295400" y="3124200"/>
            <a:ext cx="902619" cy="276999"/>
          </a:xfrm>
          <a:prstGeom prst="rect">
            <a:avLst/>
          </a:prstGeom>
          <a:noFill/>
        </p:spPr>
        <p:txBody>
          <a:bodyPr wrap="none" rtlCol="0">
            <a:spAutoFit/>
          </a:bodyPr>
          <a:lstStyle/>
          <a:p>
            <a:r>
              <a:rPr lang="en-US" sz="1200" dirty="0"/>
              <a:t>CS5_1_REG</a:t>
            </a:r>
          </a:p>
        </p:txBody>
      </p:sp>
      <p:cxnSp>
        <p:nvCxnSpPr>
          <p:cNvPr id="59" name="Elbow Connector 58"/>
          <p:cNvCxnSpPr/>
          <p:nvPr/>
        </p:nvCxnSpPr>
        <p:spPr>
          <a:xfrm>
            <a:off x="304800" y="32766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60" name="TextBox 59"/>
          <p:cNvSpPr txBox="1"/>
          <p:nvPr/>
        </p:nvSpPr>
        <p:spPr>
          <a:xfrm>
            <a:off x="1295400" y="3276600"/>
            <a:ext cx="902619" cy="276999"/>
          </a:xfrm>
          <a:prstGeom prst="rect">
            <a:avLst/>
          </a:prstGeom>
          <a:noFill/>
        </p:spPr>
        <p:txBody>
          <a:bodyPr wrap="none" rtlCol="0">
            <a:spAutoFit/>
          </a:bodyPr>
          <a:lstStyle/>
          <a:p>
            <a:r>
              <a:rPr lang="en-US" sz="1200" dirty="0"/>
              <a:t>CS5_2_REG</a:t>
            </a:r>
          </a:p>
        </p:txBody>
      </p:sp>
      <p:cxnSp>
        <p:nvCxnSpPr>
          <p:cNvPr id="61" name="Elbow Connector 60"/>
          <p:cNvCxnSpPr/>
          <p:nvPr/>
        </p:nvCxnSpPr>
        <p:spPr>
          <a:xfrm>
            <a:off x="304800" y="34290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62" name="TextBox 61"/>
          <p:cNvSpPr txBox="1"/>
          <p:nvPr/>
        </p:nvSpPr>
        <p:spPr>
          <a:xfrm>
            <a:off x="1295400" y="3429000"/>
            <a:ext cx="902619" cy="276999"/>
          </a:xfrm>
          <a:prstGeom prst="rect">
            <a:avLst/>
          </a:prstGeom>
          <a:noFill/>
        </p:spPr>
        <p:txBody>
          <a:bodyPr wrap="none" rtlCol="0">
            <a:spAutoFit/>
          </a:bodyPr>
          <a:lstStyle/>
          <a:p>
            <a:r>
              <a:rPr lang="en-US" sz="1200" dirty="0"/>
              <a:t>CS6_1_REG</a:t>
            </a:r>
          </a:p>
        </p:txBody>
      </p:sp>
      <p:cxnSp>
        <p:nvCxnSpPr>
          <p:cNvPr id="63" name="Elbow Connector 62"/>
          <p:cNvCxnSpPr/>
          <p:nvPr/>
        </p:nvCxnSpPr>
        <p:spPr>
          <a:xfrm>
            <a:off x="304800" y="35814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64" name="TextBox 63"/>
          <p:cNvSpPr txBox="1"/>
          <p:nvPr/>
        </p:nvSpPr>
        <p:spPr>
          <a:xfrm>
            <a:off x="1295400" y="3581400"/>
            <a:ext cx="902619" cy="276999"/>
          </a:xfrm>
          <a:prstGeom prst="rect">
            <a:avLst/>
          </a:prstGeom>
          <a:noFill/>
        </p:spPr>
        <p:txBody>
          <a:bodyPr wrap="none" rtlCol="0">
            <a:spAutoFit/>
          </a:bodyPr>
          <a:lstStyle/>
          <a:p>
            <a:r>
              <a:rPr lang="en-US" sz="1200" dirty="0"/>
              <a:t>CS6_2_REG</a:t>
            </a:r>
          </a:p>
        </p:txBody>
      </p:sp>
      <p:cxnSp>
        <p:nvCxnSpPr>
          <p:cNvPr id="65" name="Elbow Connector 64"/>
          <p:cNvCxnSpPr/>
          <p:nvPr/>
        </p:nvCxnSpPr>
        <p:spPr>
          <a:xfrm>
            <a:off x="304800" y="37338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cxnSp>
        <p:nvCxnSpPr>
          <p:cNvPr id="66" name="Elbow Connector 65"/>
          <p:cNvCxnSpPr/>
          <p:nvPr/>
        </p:nvCxnSpPr>
        <p:spPr>
          <a:xfrm>
            <a:off x="304800" y="38862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67" name="TextBox 66"/>
          <p:cNvSpPr txBox="1"/>
          <p:nvPr/>
        </p:nvSpPr>
        <p:spPr>
          <a:xfrm>
            <a:off x="1295400" y="3886200"/>
            <a:ext cx="902619" cy="276999"/>
          </a:xfrm>
          <a:prstGeom prst="rect">
            <a:avLst/>
          </a:prstGeom>
          <a:noFill/>
        </p:spPr>
        <p:txBody>
          <a:bodyPr wrap="none" rtlCol="0">
            <a:spAutoFit/>
          </a:bodyPr>
          <a:lstStyle/>
          <a:p>
            <a:r>
              <a:rPr lang="en-US" sz="1200" dirty="0"/>
              <a:t>CS7_2_REG</a:t>
            </a:r>
          </a:p>
        </p:txBody>
      </p:sp>
      <p:cxnSp>
        <p:nvCxnSpPr>
          <p:cNvPr id="68" name="Elbow Connector 67"/>
          <p:cNvCxnSpPr/>
          <p:nvPr/>
        </p:nvCxnSpPr>
        <p:spPr>
          <a:xfrm>
            <a:off x="304800" y="40386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69" name="TextBox 68"/>
          <p:cNvSpPr txBox="1"/>
          <p:nvPr/>
        </p:nvSpPr>
        <p:spPr>
          <a:xfrm>
            <a:off x="1295400" y="4038600"/>
            <a:ext cx="1255600" cy="276999"/>
          </a:xfrm>
          <a:prstGeom prst="rect">
            <a:avLst/>
          </a:prstGeom>
          <a:noFill/>
        </p:spPr>
        <p:txBody>
          <a:bodyPr wrap="none" rtlCol="0">
            <a:spAutoFit/>
          </a:bodyPr>
          <a:lstStyle/>
          <a:p>
            <a:r>
              <a:rPr lang="en-US" sz="1200" dirty="0"/>
              <a:t>CS_EEPROM_PIN</a:t>
            </a:r>
          </a:p>
        </p:txBody>
      </p:sp>
      <p:cxnSp>
        <p:nvCxnSpPr>
          <p:cNvPr id="70" name="Elbow Connector 69"/>
          <p:cNvCxnSpPr/>
          <p:nvPr/>
        </p:nvCxnSpPr>
        <p:spPr>
          <a:xfrm>
            <a:off x="304800" y="41910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71" name="TextBox 70"/>
          <p:cNvSpPr txBox="1"/>
          <p:nvPr/>
        </p:nvSpPr>
        <p:spPr>
          <a:xfrm>
            <a:off x="1295400" y="4191000"/>
            <a:ext cx="1324402" cy="276999"/>
          </a:xfrm>
          <a:prstGeom prst="rect">
            <a:avLst/>
          </a:prstGeom>
          <a:noFill/>
        </p:spPr>
        <p:txBody>
          <a:bodyPr wrap="none" rtlCol="0">
            <a:spAutoFit/>
          </a:bodyPr>
          <a:lstStyle/>
          <a:p>
            <a:r>
              <a:rPr lang="en-US" sz="1200" dirty="0"/>
              <a:t>CS_MAX6421_PIN</a:t>
            </a:r>
          </a:p>
        </p:txBody>
      </p:sp>
      <p:cxnSp>
        <p:nvCxnSpPr>
          <p:cNvPr id="72" name="Elbow Connector 71"/>
          <p:cNvCxnSpPr/>
          <p:nvPr/>
        </p:nvCxnSpPr>
        <p:spPr>
          <a:xfrm>
            <a:off x="304800" y="43434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73" name="TextBox 72"/>
          <p:cNvSpPr txBox="1"/>
          <p:nvPr/>
        </p:nvSpPr>
        <p:spPr>
          <a:xfrm>
            <a:off x="1295400" y="3733800"/>
            <a:ext cx="902619" cy="276999"/>
          </a:xfrm>
          <a:prstGeom prst="rect">
            <a:avLst/>
          </a:prstGeom>
          <a:noFill/>
        </p:spPr>
        <p:txBody>
          <a:bodyPr wrap="none" rtlCol="0">
            <a:spAutoFit/>
          </a:bodyPr>
          <a:lstStyle/>
          <a:p>
            <a:r>
              <a:rPr lang="en-US" sz="1200" dirty="0"/>
              <a:t>CS7_1_REG</a:t>
            </a:r>
          </a:p>
        </p:txBody>
      </p:sp>
      <p:sp>
        <p:nvSpPr>
          <p:cNvPr id="74" name="TextBox 73"/>
          <p:cNvSpPr txBox="1"/>
          <p:nvPr/>
        </p:nvSpPr>
        <p:spPr>
          <a:xfrm>
            <a:off x="1600200" y="4648200"/>
            <a:ext cx="910955" cy="276999"/>
          </a:xfrm>
          <a:prstGeom prst="rect">
            <a:avLst/>
          </a:prstGeom>
          <a:noFill/>
        </p:spPr>
        <p:txBody>
          <a:bodyPr wrap="none" rtlCol="0">
            <a:spAutoFit/>
          </a:bodyPr>
          <a:lstStyle/>
          <a:p>
            <a:r>
              <a:rPr lang="en-US" sz="1200" dirty="0"/>
              <a:t>Up to 32 CS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219200" y="457200"/>
            <a:ext cx="7391400" cy="6096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8" name="TextBox 7"/>
          <p:cNvSpPr txBox="1"/>
          <p:nvPr/>
        </p:nvSpPr>
        <p:spPr>
          <a:xfrm>
            <a:off x="1295400" y="838200"/>
            <a:ext cx="1112805" cy="276999"/>
          </a:xfrm>
          <a:prstGeom prst="rect">
            <a:avLst/>
          </a:prstGeom>
          <a:noFill/>
        </p:spPr>
        <p:txBody>
          <a:bodyPr wrap="none" rtlCol="0">
            <a:spAutoFit/>
          </a:bodyPr>
          <a:lstStyle/>
          <a:p>
            <a:r>
              <a:rPr lang="en-US" sz="1200"/>
              <a:t>CM_2(pin </a:t>
            </a:r>
            <a:r>
              <a:rPr lang="en-US" sz="1200" dirty="0"/>
              <a:t>107)</a:t>
            </a:r>
          </a:p>
        </p:txBody>
      </p:sp>
      <p:sp>
        <p:nvSpPr>
          <p:cNvPr id="19" name="TextBox 18"/>
          <p:cNvSpPr txBox="1"/>
          <p:nvPr/>
        </p:nvSpPr>
        <p:spPr>
          <a:xfrm>
            <a:off x="152400" y="152400"/>
            <a:ext cx="1265026" cy="276999"/>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sz="1200" dirty="0"/>
              <a:t>OW_DET Module</a:t>
            </a:r>
          </a:p>
        </p:txBody>
      </p:sp>
      <p:sp>
        <p:nvSpPr>
          <p:cNvPr id="25" name="TextBox 24"/>
          <p:cNvSpPr txBox="1"/>
          <p:nvPr/>
        </p:nvSpPr>
        <p:spPr>
          <a:xfrm>
            <a:off x="3505200" y="533400"/>
            <a:ext cx="5097036" cy="461665"/>
          </a:xfrm>
          <a:prstGeom prst="rect">
            <a:avLst/>
          </a:prstGeom>
          <a:noFill/>
        </p:spPr>
        <p:txBody>
          <a:bodyPr wrap="none" rtlCol="0">
            <a:spAutoFit/>
          </a:bodyPr>
          <a:lstStyle/>
          <a:p>
            <a:r>
              <a:rPr lang="en-US" sz="1200" dirty="0"/>
              <a:t>Used for cable detection, just routs the </a:t>
            </a:r>
            <a:r>
              <a:rPr lang="en-US" sz="1200"/>
              <a:t>OW_ID pin </a:t>
            </a:r>
            <a:r>
              <a:rPr lang="en-US" sz="1200" dirty="0"/>
              <a:t>from slot to </a:t>
            </a:r>
            <a:r>
              <a:rPr lang="en-US" sz="1200" dirty="0" err="1"/>
              <a:t>uC</a:t>
            </a:r>
            <a:r>
              <a:rPr lang="en-US" sz="1200" dirty="0"/>
              <a:t> </a:t>
            </a:r>
            <a:r>
              <a:rPr lang="en-US" sz="1200"/>
              <a:t>through pin </a:t>
            </a:r>
            <a:endParaRPr lang="en-US" sz="1200" dirty="0"/>
          </a:p>
          <a:p>
            <a:r>
              <a:rPr lang="en-US" sz="1200" dirty="0"/>
              <a:t>CM _2</a:t>
            </a:r>
          </a:p>
        </p:txBody>
      </p:sp>
      <p:cxnSp>
        <p:nvCxnSpPr>
          <p:cNvPr id="28" name="Straight Connector 27"/>
          <p:cNvCxnSpPr/>
          <p:nvPr/>
        </p:nvCxnSpPr>
        <p:spPr>
          <a:xfrm rot="5400000">
            <a:off x="304800" y="3505200"/>
            <a:ext cx="6096794" cy="794"/>
          </a:xfrm>
          <a:prstGeom prst="line">
            <a:avLst/>
          </a:prstGeom>
        </p:spPr>
        <p:style>
          <a:lnRef idx="1">
            <a:schemeClr val="dk1"/>
          </a:lnRef>
          <a:fillRef idx="0">
            <a:schemeClr val="dk1"/>
          </a:fillRef>
          <a:effectRef idx="0">
            <a:schemeClr val="dk1"/>
          </a:effectRef>
          <a:fontRef idx="minor">
            <a:schemeClr val="tx1"/>
          </a:fontRef>
        </p:style>
      </p:cxnSp>
      <p:sp>
        <p:nvSpPr>
          <p:cNvPr id="22" name="TextBox 21"/>
          <p:cNvSpPr txBox="1"/>
          <p:nvPr/>
        </p:nvSpPr>
        <p:spPr>
          <a:xfrm>
            <a:off x="1676400" y="533400"/>
            <a:ext cx="857607" cy="276999"/>
          </a:xfrm>
          <a:prstGeom prst="rect">
            <a:avLst/>
          </a:prstGeom>
          <a:noFill/>
        </p:spPr>
        <p:txBody>
          <a:bodyPr wrap="none" rtlCol="0">
            <a:spAutoFit/>
          </a:bodyPr>
          <a:lstStyle/>
          <a:p>
            <a:r>
              <a:rPr lang="en-US" sz="1200" dirty="0"/>
              <a:t>IO’s to Slot</a:t>
            </a:r>
          </a:p>
        </p:txBody>
      </p:sp>
      <p:cxnSp>
        <p:nvCxnSpPr>
          <p:cNvPr id="14" name="Elbow Connector 13"/>
          <p:cNvCxnSpPr/>
          <p:nvPr/>
        </p:nvCxnSpPr>
        <p:spPr>
          <a:xfrm>
            <a:off x="304800" y="9906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9" name="TextBox 8"/>
          <p:cNvSpPr txBox="1"/>
          <p:nvPr/>
        </p:nvSpPr>
        <p:spPr>
          <a:xfrm>
            <a:off x="1219200" y="6096000"/>
            <a:ext cx="1141659" cy="276999"/>
          </a:xfrm>
          <a:prstGeom prst="rect">
            <a:avLst/>
          </a:prstGeom>
          <a:noFill/>
        </p:spPr>
        <p:txBody>
          <a:bodyPr wrap="none" rtlCol="0">
            <a:spAutoFit/>
          </a:bodyPr>
          <a:lstStyle/>
          <a:p>
            <a:r>
              <a:rPr lang="en-US" sz="1200" dirty="0"/>
              <a:t>CLK_???</a:t>
            </a:r>
            <a:r>
              <a:rPr lang="en-US" sz="1200" dirty="0" err="1"/>
              <a:t>Hz_PLL</a:t>
            </a:r>
            <a:endParaRPr lang="en-US" sz="1200" dirty="0"/>
          </a:p>
        </p:txBody>
      </p:sp>
      <p:sp>
        <p:nvSpPr>
          <p:cNvPr id="10" name="TextBox 9"/>
          <p:cNvSpPr txBox="1"/>
          <p:nvPr/>
        </p:nvSpPr>
        <p:spPr>
          <a:xfrm>
            <a:off x="1676400" y="5791200"/>
            <a:ext cx="833946" cy="276999"/>
          </a:xfrm>
          <a:prstGeom prst="rect">
            <a:avLst/>
          </a:prstGeom>
          <a:noFill/>
        </p:spPr>
        <p:txBody>
          <a:bodyPr wrap="none" rtlCol="0">
            <a:spAutoFit/>
          </a:bodyPr>
          <a:lstStyle/>
          <a:p>
            <a:r>
              <a:rPr lang="en-US" sz="1200"/>
              <a:t>CLOCKS IN</a:t>
            </a:r>
            <a:endParaRPr lang="en-US" sz="1200" dirty="0"/>
          </a:p>
        </p:txBody>
      </p:sp>
      <p:cxnSp>
        <p:nvCxnSpPr>
          <p:cNvPr id="11" name="Straight Connector 10"/>
          <p:cNvCxnSpPr/>
          <p:nvPr/>
        </p:nvCxnSpPr>
        <p:spPr>
          <a:xfrm flipV="1">
            <a:off x="1219200" y="5715000"/>
            <a:ext cx="2133600" cy="1588"/>
          </a:xfrm>
          <a:prstGeom prst="line">
            <a:avLst/>
          </a:prstGeom>
        </p:spPr>
        <p:style>
          <a:lnRef idx="2">
            <a:schemeClr val="dk1"/>
          </a:lnRef>
          <a:fillRef idx="0">
            <a:schemeClr val="dk1"/>
          </a:fillRef>
          <a:effectRef idx="1">
            <a:schemeClr val="dk1"/>
          </a:effectRef>
          <a:fontRef idx="minor">
            <a:schemeClr val="tx1"/>
          </a:fontRef>
        </p:style>
      </p:cxnSp>
      <p:cxnSp>
        <p:nvCxnSpPr>
          <p:cNvPr id="12" name="Elbow Connector 11"/>
          <p:cNvCxnSpPr/>
          <p:nvPr/>
        </p:nvCxnSpPr>
        <p:spPr>
          <a:xfrm>
            <a:off x="304800" y="62484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cxnSp>
        <p:nvCxnSpPr>
          <p:cNvPr id="16" name="Straight Connector 15"/>
          <p:cNvCxnSpPr/>
          <p:nvPr/>
        </p:nvCxnSpPr>
        <p:spPr>
          <a:xfrm flipV="1">
            <a:off x="1219200" y="3505200"/>
            <a:ext cx="2133600" cy="1588"/>
          </a:xfrm>
          <a:prstGeom prst="line">
            <a:avLst/>
          </a:prstGeom>
        </p:spPr>
        <p:style>
          <a:lnRef idx="2">
            <a:schemeClr val="dk1"/>
          </a:lnRef>
          <a:fillRef idx="0">
            <a:schemeClr val="dk1"/>
          </a:fillRef>
          <a:effectRef idx="1">
            <a:schemeClr val="dk1"/>
          </a:effectRef>
          <a:fontRef idx="minor">
            <a:schemeClr val="tx1"/>
          </a:fontRef>
        </p:style>
      </p:cxnSp>
      <p:sp>
        <p:nvSpPr>
          <p:cNvPr id="17" name="TextBox 16"/>
          <p:cNvSpPr txBox="1"/>
          <p:nvPr/>
        </p:nvSpPr>
        <p:spPr>
          <a:xfrm>
            <a:off x="1295400" y="3886200"/>
            <a:ext cx="1852430" cy="276999"/>
          </a:xfrm>
          <a:prstGeom prst="rect">
            <a:avLst/>
          </a:prstGeom>
          <a:noFill/>
        </p:spPr>
        <p:txBody>
          <a:bodyPr wrap="none" rtlCol="0">
            <a:spAutoFit/>
          </a:bodyPr>
          <a:lstStyle/>
          <a:p>
            <a:r>
              <a:rPr lang="en-US" sz="1200"/>
              <a:t>OW_ID_PIN (pin </a:t>
            </a:r>
            <a:r>
              <a:rPr lang="en-US" sz="1200" dirty="0"/>
              <a:t>from slot)</a:t>
            </a:r>
          </a:p>
        </p:txBody>
      </p:sp>
      <p:cxnSp>
        <p:nvCxnSpPr>
          <p:cNvPr id="18" name="Elbow Connector 17"/>
          <p:cNvCxnSpPr/>
          <p:nvPr/>
        </p:nvCxnSpPr>
        <p:spPr>
          <a:xfrm>
            <a:off x="304800" y="40386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20" name="TextBox 19"/>
          <p:cNvSpPr txBox="1"/>
          <p:nvPr/>
        </p:nvSpPr>
        <p:spPr>
          <a:xfrm>
            <a:off x="1752600" y="3581400"/>
            <a:ext cx="683007" cy="276999"/>
          </a:xfrm>
          <a:prstGeom prst="rect">
            <a:avLst/>
          </a:prstGeom>
          <a:noFill/>
        </p:spPr>
        <p:txBody>
          <a:bodyPr wrap="none" rtlCol="0">
            <a:spAutoFit/>
          </a:bodyPr>
          <a:lstStyle/>
          <a:p>
            <a:r>
              <a:rPr lang="en-US" sz="1200"/>
              <a:t>REGS IN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219200" y="457200"/>
            <a:ext cx="7391400" cy="6096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9" name="Elbow Connector 8"/>
          <p:cNvCxnSpPr/>
          <p:nvPr/>
        </p:nvCxnSpPr>
        <p:spPr>
          <a:xfrm>
            <a:off x="304800" y="16764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10" name="TextBox 9"/>
          <p:cNvSpPr txBox="1"/>
          <p:nvPr/>
        </p:nvSpPr>
        <p:spPr>
          <a:xfrm>
            <a:off x="1295400" y="1524000"/>
            <a:ext cx="1112805" cy="276999"/>
          </a:xfrm>
          <a:prstGeom prst="rect">
            <a:avLst/>
          </a:prstGeom>
          <a:noFill/>
        </p:spPr>
        <p:txBody>
          <a:bodyPr wrap="none" rtlCol="0">
            <a:spAutoFit/>
          </a:bodyPr>
          <a:lstStyle/>
          <a:p>
            <a:r>
              <a:rPr lang="en-US" sz="1200" dirty="0"/>
              <a:t>CHA _WIRE_IN</a:t>
            </a:r>
          </a:p>
        </p:txBody>
      </p:sp>
      <p:cxnSp>
        <p:nvCxnSpPr>
          <p:cNvPr id="11" name="Elbow Connector 10"/>
          <p:cNvCxnSpPr/>
          <p:nvPr/>
        </p:nvCxnSpPr>
        <p:spPr>
          <a:xfrm>
            <a:off x="304800" y="19050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12" name="TextBox 11"/>
          <p:cNvSpPr txBox="1"/>
          <p:nvPr/>
        </p:nvSpPr>
        <p:spPr>
          <a:xfrm>
            <a:off x="1295400" y="1752600"/>
            <a:ext cx="1106393" cy="276999"/>
          </a:xfrm>
          <a:prstGeom prst="rect">
            <a:avLst/>
          </a:prstGeom>
          <a:noFill/>
        </p:spPr>
        <p:txBody>
          <a:bodyPr wrap="none" rtlCol="0">
            <a:spAutoFit/>
          </a:bodyPr>
          <a:lstStyle/>
          <a:p>
            <a:r>
              <a:rPr lang="en-US" sz="1200" dirty="0"/>
              <a:t>CHB _WIRE_IN</a:t>
            </a:r>
          </a:p>
        </p:txBody>
      </p:sp>
      <p:cxnSp>
        <p:nvCxnSpPr>
          <p:cNvPr id="13" name="Elbow Connector 12"/>
          <p:cNvCxnSpPr/>
          <p:nvPr/>
        </p:nvCxnSpPr>
        <p:spPr>
          <a:xfrm>
            <a:off x="304800" y="9906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14" name="TextBox 13"/>
          <p:cNvSpPr txBox="1"/>
          <p:nvPr/>
        </p:nvSpPr>
        <p:spPr>
          <a:xfrm>
            <a:off x="1295400" y="838200"/>
            <a:ext cx="973343" cy="276999"/>
          </a:xfrm>
          <a:prstGeom prst="rect">
            <a:avLst/>
          </a:prstGeom>
          <a:noFill/>
        </p:spPr>
        <p:txBody>
          <a:bodyPr wrap="none" rtlCol="0">
            <a:spAutoFit/>
          </a:bodyPr>
          <a:lstStyle/>
          <a:p>
            <a:r>
              <a:rPr lang="en-US" sz="1200" dirty="0"/>
              <a:t>UL_WIRE_IN</a:t>
            </a:r>
          </a:p>
        </p:txBody>
      </p:sp>
      <p:cxnSp>
        <p:nvCxnSpPr>
          <p:cNvPr id="15" name="Elbow Connector 14"/>
          <p:cNvCxnSpPr/>
          <p:nvPr/>
        </p:nvCxnSpPr>
        <p:spPr>
          <a:xfrm>
            <a:off x="304800" y="12192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16" name="TextBox 15"/>
          <p:cNvSpPr txBox="1"/>
          <p:nvPr/>
        </p:nvSpPr>
        <p:spPr>
          <a:xfrm>
            <a:off x="1295400" y="1066800"/>
            <a:ext cx="938077" cy="276999"/>
          </a:xfrm>
          <a:prstGeom prst="rect">
            <a:avLst/>
          </a:prstGeom>
          <a:noFill/>
        </p:spPr>
        <p:txBody>
          <a:bodyPr wrap="none" rtlCol="0">
            <a:spAutoFit/>
          </a:bodyPr>
          <a:lstStyle/>
          <a:p>
            <a:r>
              <a:rPr lang="en-US" sz="1200" dirty="0"/>
              <a:t>LL_WIRE_IN</a:t>
            </a:r>
          </a:p>
        </p:txBody>
      </p:sp>
      <p:sp>
        <p:nvSpPr>
          <p:cNvPr id="19" name="TextBox 18"/>
          <p:cNvSpPr txBox="1"/>
          <p:nvPr/>
        </p:nvSpPr>
        <p:spPr>
          <a:xfrm>
            <a:off x="152400" y="152400"/>
            <a:ext cx="1316642" cy="276999"/>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sz="1200" dirty="0"/>
              <a:t>ENCODER Module</a:t>
            </a:r>
          </a:p>
        </p:txBody>
      </p:sp>
      <p:cxnSp>
        <p:nvCxnSpPr>
          <p:cNvPr id="20" name="Elbow Connector 19"/>
          <p:cNvCxnSpPr/>
          <p:nvPr/>
        </p:nvCxnSpPr>
        <p:spPr>
          <a:xfrm>
            <a:off x="304800" y="14478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21" name="TextBox 20"/>
          <p:cNvSpPr txBox="1"/>
          <p:nvPr/>
        </p:nvSpPr>
        <p:spPr>
          <a:xfrm>
            <a:off x="1295400" y="1295400"/>
            <a:ext cx="1197764" cy="276999"/>
          </a:xfrm>
          <a:prstGeom prst="rect">
            <a:avLst/>
          </a:prstGeom>
          <a:noFill/>
        </p:spPr>
        <p:txBody>
          <a:bodyPr wrap="none" rtlCol="0">
            <a:spAutoFit/>
          </a:bodyPr>
          <a:lstStyle/>
          <a:p>
            <a:r>
              <a:rPr lang="en-US" sz="1200" dirty="0"/>
              <a:t>INDEX_WIRE_IN</a:t>
            </a:r>
          </a:p>
        </p:txBody>
      </p:sp>
      <p:sp>
        <p:nvSpPr>
          <p:cNvPr id="24" name="TextBox 23"/>
          <p:cNvSpPr txBox="1"/>
          <p:nvPr/>
        </p:nvSpPr>
        <p:spPr>
          <a:xfrm>
            <a:off x="1676400" y="533400"/>
            <a:ext cx="857607" cy="276999"/>
          </a:xfrm>
          <a:prstGeom prst="rect">
            <a:avLst/>
          </a:prstGeom>
          <a:noFill/>
        </p:spPr>
        <p:txBody>
          <a:bodyPr wrap="none" rtlCol="0">
            <a:spAutoFit/>
          </a:bodyPr>
          <a:lstStyle/>
          <a:p>
            <a:r>
              <a:rPr lang="en-US" sz="1200" dirty="0"/>
              <a:t>IO’s to Slot</a:t>
            </a:r>
          </a:p>
        </p:txBody>
      </p:sp>
      <p:sp>
        <p:nvSpPr>
          <p:cNvPr id="25" name="TextBox 24"/>
          <p:cNvSpPr txBox="1"/>
          <p:nvPr/>
        </p:nvSpPr>
        <p:spPr>
          <a:xfrm>
            <a:off x="3276600" y="533400"/>
            <a:ext cx="475323" cy="276999"/>
          </a:xfrm>
          <a:prstGeom prst="rect">
            <a:avLst/>
          </a:prstGeom>
          <a:noFill/>
        </p:spPr>
        <p:txBody>
          <a:bodyPr wrap="none" rtlCol="0">
            <a:spAutoFit/>
          </a:bodyPr>
          <a:lstStyle/>
          <a:p>
            <a:r>
              <a:rPr lang="en-US" sz="1200" dirty="0"/>
              <a:t>Regs</a:t>
            </a:r>
          </a:p>
        </p:txBody>
      </p:sp>
      <p:sp>
        <p:nvSpPr>
          <p:cNvPr id="26" name="TextBox 25"/>
          <p:cNvSpPr txBox="1"/>
          <p:nvPr/>
        </p:nvSpPr>
        <p:spPr>
          <a:xfrm>
            <a:off x="3200400" y="838200"/>
            <a:ext cx="5334000" cy="2677656"/>
          </a:xfrm>
          <a:prstGeom prst="rect">
            <a:avLst/>
          </a:prstGeom>
          <a:noFill/>
        </p:spPr>
        <p:txBody>
          <a:bodyPr wrap="square" rtlCol="0">
            <a:spAutoFit/>
          </a:bodyPr>
          <a:lstStyle/>
          <a:p>
            <a:r>
              <a:rPr lang="en-US" sz="1200" dirty="0"/>
              <a:t>[SET]</a:t>
            </a:r>
          </a:p>
          <a:p>
            <a:r>
              <a:rPr lang="en-US" sz="1200" dirty="0"/>
              <a:t>ENC_ENABLE: 1 enabled, 0 disabled</a:t>
            </a:r>
          </a:p>
          <a:p>
            <a:r>
              <a:rPr lang="en-US" sz="1200" dirty="0"/>
              <a:t>ENC_LIMITS:  HAS_UL | HAS_LL | HAS_INDEX</a:t>
            </a:r>
          </a:p>
          <a:p>
            <a:r>
              <a:rPr lang="en-US" sz="1200" dirty="0"/>
              <a:t>ENC_ZOL (zero on limit): 1 enbled, 0 disabled</a:t>
            </a:r>
          </a:p>
          <a:p>
            <a:r>
              <a:rPr lang="en-US" sz="1200" dirty="0"/>
              <a:t>ENC_SET_COUNTS: 32bits LSB</a:t>
            </a:r>
          </a:p>
          <a:p>
            <a:endParaRPr lang="en-US" sz="1200" dirty="0"/>
          </a:p>
          <a:p>
            <a:r>
              <a:rPr lang="en-US" sz="1200" dirty="0"/>
              <a:t>[GET]</a:t>
            </a:r>
          </a:p>
          <a:p>
            <a:r>
              <a:rPr lang="en-US" sz="1200" dirty="0"/>
              <a:t>ENC_GET_COUNTS: 32bits LSB</a:t>
            </a:r>
          </a:p>
          <a:p>
            <a:r>
              <a:rPr lang="en-US" sz="1200" dirty="0"/>
              <a:t>ENC_READ_INTERRUPT:  UL| LL | INDEX</a:t>
            </a:r>
          </a:p>
          <a:p>
            <a:endParaRPr lang="en-US" sz="1200" dirty="0"/>
          </a:p>
          <a:p>
            <a:r>
              <a:rPr lang="en-US" sz="1200" dirty="0"/>
              <a:t>[INTERRUPT]</a:t>
            </a:r>
          </a:p>
          <a:p>
            <a:r>
              <a:rPr lang="en-US" sz="1200" dirty="0"/>
              <a:t>Interrupt on all edges of enabled limits, clear when read, debounce done on </a:t>
            </a:r>
            <a:r>
              <a:rPr lang="en-US" sz="1200" dirty="0" err="1"/>
              <a:t>uC</a:t>
            </a:r>
            <a:r>
              <a:rPr lang="en-US" sz="1200" dirty="0"/>
              <a:t>.</a:t>
            </a:r>
          </a:p>
          <a:p>
            <a:r>
              <a:rPr lang="en-US" sz="1200" dirty="0"/>
              <a:t>SPI 2</a:t>
            </a:r>
            <a:r>
              <a:rPr lang="en-US" sz="1200" baseline="30000" dirty="0"/>
              <a:t>nd</a:t>
            </a:r>
            <a:r>
              <a:rPr lang="en-US" sz="1200" dirty="0"/>
              <a:t> byte specifies interrupt source i.e. ENCODER because there may be other source for slot interrupts.</a:t>
            </a:r>
          </a:p>
        </p:txBody>
      </p:sp>
      <p:cxnSp>
        <p:nvCxnSpPr>
          <p:cNvPr id="28" name="Straight Connector 27"/>
          <p:cNvCxnSpPr/>
          <p:nvPr/>
        </p:nvCxnSpPr>
        <p:spPr>
          <a:xfrm rot="5400000">
            <a:off x="75406" y="3505200"/>
            <a:ext cx="6096794" cy="794"/>
          </a:xfrm>
          <a:prstGeom prst="line">
            <a:avLst/>
          </a:prstGeom>
        </p:spPr>
        <p:style>
          <a:lnRef idx="1">
            <a:schemeClr val="dk1"/>
          </a:lnRef>
          <a:fillRef idx="0">
            <a:schemeClr val="dk1"/>
          </a:fillRef>
          <a:effectRef idx="0">
            <a:schemeClr val="dk1"/>
          </a:effectRef>
          <a:fontRef idx="minor">
            <a:schemeClr val="tx1"/>
          </a:fontRef>
        </p:style>
      </p:cxnSp>
      <p:cxnSp>
        <p:nvCxnSpPr>
          <p:cNvPr id="32" name="Elbow Connector 31"/>
          <p:cNvCxnSpPr/>
          <p:nvPr/>
        </p:nvCxnSpPr>
        <p:spPr>
          <a:xfrm>
            <a:off x="304800" y="31242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33" name="TextBox 32"/>
          <p:cNvSpPr txBox="1"/>
          <p:nvPr/>
        </p:nvSpPr>
        <p:spPr>
          <a:xfrm>
            <a:off x="1295400" y="2971800"/>
            <a:ext cx="1034257" cy="276999"/>
          </a:xfrm>
          <a:prstGeom prst="rect">
            <a:avLst/>
          </a:prstGeom>
          <a:noFill/>
        </p:spPr>
        <p:txBody>
          <a:bodyPr wrap="none" rtlCol="0">
            <a:spAutoFit/>
          </a:bodyPr>
          <a:lstStyle/>
          <a:p>
            <a:r>
              <a:rPr lang="en-US" sz="1200" dirty="0"/>
              <a:t>INT_1 : INT_7</a:t>
            </a:r>
          </a:p>
        </p:txBody>
      </p:sp>
      <p:sp>
        <p:nvSpPr>
          <p:cNvPr id="34" name="TextBox 33"/>
          <p:cNvSpPr txBox="1"/>
          <p:nvPr/>
        </p:nvSpPr>
        <p:spPr>
          <a:xfrm>
            <a:off x="1752600" y="3581400"/>
            <a:ext cx="822469" cy="276999"/>
          </a:xfrm>
          <a:prstGeom prst="rect">
            <a:avLst/>
          </a:prstGeom>
          <a:noFill/>
        </p:spPr>
        <p:txBody>
          <a:bodyPr wrap="none" rtlCol="0">
            <a:spAutoFit/>
          </a:bodyPr>
          <a:lstStyle/>
          <a:p>
            <a:r>
              <a:rPr lang="en-US" sz="1200" dirty="0"/>
              <a:t>REGS OUT</a:t>
            </a:r>
          </a:p>
        </p:txBody>
      </p:sp>
      <p:cxnSp>
        <p:nvCxnSpPr>
          <p:cNvPr id="36" name="Straight Connector 35"/>
          <p:cNvCxnSpPr>
            <a:stCxn id="5" idx="1"/>
          </p:cNvCxnSpPr>
          <p:nvPr/>
        </p:nvCxnSpPr>
        <p:spPr>
          <a:xfrm rot="10800000" flipH="1">
            <a:off x="1219200" y="3505200"/>
            <a:ext cx="1905000" cy="1588"/>
          </a:xfrm>
          <a:prstGeom prst="line">
            <a:avLst/>
          </a:prstGeom>
        </p:spPr>
        <p:style>
          <a:lnRef idx="2">
            <a:schemeClr val="dk1"/>
          </a:lnRef>
          <a:fillRef idx="0">
            <a:schemeClr val="dk1"/>
          </a:fillRef>
          <a:effectRef idx="1">
            <a:schemeClr val="dk1"/>
          </a:effectRef>
          <a:fontRef idx="minor">
            <a:schemeClr val="tx1"/>
          </a:fontRef>
        </p:style>
      </p:cxnSp>
      <p:cxnSp>
        <p:nvCxnSpPr>
          <p:cNvPr id="37" name="Elbow Connector 36"/>
          <p:cNvCxnSpPr/>
          <p:nvPr/>
        </p:nvCxnSpPr>
        <p:spPr>
          <a:xfrm>
            <a:off x="304800" y="40386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38" name="TextBox 37"/>
          <p:cNvSpPr txBox="1"/>
          <p:nvPr/>
        </p:nvSpPr>
        <p:spPr>
          <a:xfrm>
            <a:off x="1295400" y="3886200"/>
            <a:ext cx="1906548" cy="461665"/>
          </a:xfrm>
          <a:prstGeom prst="rect">
            <a:avLst/>
          </a:prstGeom>
          <a:noFill/>
        </p:spPr>
        <p:txBody>
          <a:bodyPr wrap="none" rtlCol="0">
            <a:spAutoFit/>
          </a:bodyPr>
          <a:lstStyle/>
          <a:p>
            <a:r>
              <a:rPr lang="en-US" sz="1200" dirty="0"/>
              <a:t>ENC_COUNT_CLK (used for </a:t>
            </a:r>
          </a:p>
          <a:p>
            <a:r>
              <a:rPr lang="en-US" sz="1200" dirty="0"/>
              <a:t>constant velocity)</a:t>
            </a:r>
          </a:p>
        </p:txBody>
      </p:sp>
      <p:sp>
        <p:nvSpPr>
          <p:cNvPr id="41" name="TextBox 40"/>
          <p:cNvSpPr txBox="1"/>
          <p:nvPr/>
        </p:nvSpPr>
        <p:spPr>
          <a:xfrm>
            <a:off x="1676400" y="2667000"/>
            <a:ext cx="780663" cy="276999"/>
          </a:xfrm>
          <a:prstGeom prst="rect">
            <a:avLst/>
          </a:prstGeom>
          <a:noFill/>
        </p:spPr>
        <p:txBody>
          <a:bodyPr wrap="none" rtlCol="0">
            <a:spAutoFit/>
          </a:bodyPr>
          <a:lstStyle/>
          <a:p>
            <a:r>
              <a:rPr lang="en-US" sz="1200" dirty="0"/>
              <a:t>IO’s to uC</a:t>
            </a:r>
          </a:p>
        </p:txBody>
      </p:sp>
      <p:cxnSp>
        <p:nvCxnSpPr>
          <p:cNvPr id="42" name="Straight Connector 41"/>
          <p:cNvCxnSpPr/>
          <p:nvPr/>
        </p:nvCxnSpPr>
        <p:spPr>
          <a:xfrm rot="10800000" flipH="1">
            <a:off x="1219200" y="2667000"/>
            <a:ext cx="1905000" cy="1588"/>
          </a:xfrm>
          <a:prstGeom prst="line">
            <a:avLst/>
          </a:prstGeom>
        </p:spPr>
        <p:style>
          <a:lnRef idx="2">
            <a:schemeClr val="dk1"/>
          </a:lnRef>
          <a:fillRef idx="0">
            <a:schemeClr val="dk1"/>
          </a:fillRef>
          <a:effectRef idx="1">
            <a:schemeClr val="dk1"/>
          </a:effectRef>
          <a:fontRef idx="minor">
            <a:schemeClr val="tx1"/>
          </a:fontRef>
        </p:style>
      </p:cxnSp>
      <p:sp>
        <p:nvSpPr>
          <p:cNvPr id="27" name="TextBox 26"/>
          <p:cNvSpPr txBox="1"/>
          <p:nvPr/>
        </p:nvSpPr>
        <p:spPr>
          <a:xfrm>
            <a:off x="1219200" y="6096000"/>
            <a:ext cx="1297150" cy="276999"/>
          </a:xfrm>
          <a:prstGeom prst="rect">
            <a:avLst/>
          </a:prstGeom>
          <a:noFill/>
        </p:spPr>
        <p:txBody>
          <a:bodyPr wrap="none" rtlCol="0">
            <a:spAutoFit/>
          </a:bodyPr>
          <a:lstStyle/>
          <a:p>
            <a:r>
              <a:rPr lang="en-US" sz="1200" dirty="0"/>
              <a:t>CLK_400MHz_PLL</a:t>
            </a:r>
          </a:p>
        </p:txBody>
      </p:sp>
      <p:sp>
        <p:nvSpPr>
          <p:cNvPr id="29" name="TextBox 28"/>
          <p:cNvSpPr txBox="1"/>
          <p:nvPr/>
        </p:nvSpPr>
        <p:spPr>
          <a:xfrm>
            <a:off x="1676400" y="5791200"/>
            <a:ext cx="833946" cy="276999"/>
          </a:xfrm>
          <a:prstGeom prst="rect">
            <a:avLst/>
          </a:prstGeom>
          <a:noFill/>
        </p:spPr>
        <p:txBody>
          <a:bodyPr wrap="none" rtlCol="0">
            <a:spAutoFit/>
          </a:bodyPr>
          <a:lstStyle/>
          <a:p>
            <a:r>
              <a:rPr lang="en-US" sz="1200"/>
              <a:t>CLOCKS IN</a:t>
            </a:r>
            <a:endParaRPr lang="en-US" sz="1200" dirty="0"/>
          </a:p>
        </p:txBody>
      </p:sp>
      <p:cxnSp>
        <p:nvCxnSpPr>
          <p:cNvPr id="30" name="Straight Connector 29"/>
          <p:cNvCxnSpPr/>
          <p:nvPr/>
        </p:nvCxnSpPr>
        <p:spPr>
          <a:xfrm rot="10800000" flipH="1">
            <a:off x="1219200" y="5715000"/>
            <a:ext cx="1905000" cy="1588"/>
          </a:xfrm>
          <a:prstGeom prst="line">
            <a:avLst/>
          </a:prstGeom>
        </p:spPr>
        <p:style>
          <a:lnRef idx="2">
            <a:schemeClr val="dk1"/>
          </a:lnRef>
          <a:fillRef idx="0">
            <a:schemeClr val="dk1"/>
          </a:fillRef>
          <a:effectRef idx="1">
            <a:schemeClr val="dk1"/>
          </a:effectRef>
          <a:fontRef idx="minor">
            <a:schemeClr val="tx1"/>
          </a:fontRef>
        </p:style>
      </p:cxnSp>
      <p:cxnSp>
        <p:nvCxnSpPr>
          <p:cNvPr id="31" name="Elbow Connector 30"/>
          <p:cNvCxnSpPr/>
          <p:nvPr/>
        </p:nvCxnSpPr>
        <p:spPr>
          <a:xfrm>
            <a:off x="304800" y="62484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219200" y="457200"/>
            <a:ext cx="7391400" cy="6096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4" name="TextBox 13"/>
          <p:cNvSpPr txBox="1"/>
          <p:nvPr/>
        </p:nvSpPr>
        <p:spPr>
          <a:xfrm>
            <a:off x="1295400" y="838200"/>
            <a:ext cx="1297150" cy="276999"/>
          </a:xfrm>
          <a:prstGeom prst="rect">
            <a:avLst/>
          </a:prstGeom>
          <a:noFill/>
        </p:spPr>
        <p:txBody>
          <a:bodyPr wrap="none" rtlCol="0">
            <a:spAutoFit/>
          </a:bodyPr>
          <a:lstStyle/>
          <a:p>
            <a:r>
              <a:rPr lang="en-US" sz="1200" dirty="0"/>
              <a:t>PWM_WIRE_OUT</a:t>
            </a:r>
          </a:p>
        </p:txBody>
      </p:sp>
      <p:sp>
        <p:nvSpPr>
          <p:cNvPr id="19" name="TextBox 18"/>
          <p:cNvSpPr txBox="1"/>
          <p:nvPr/>
        </p:nvSpPr>
        <p:spPr>
          <a:xfrm>
            <a:off x="152400" y="152400"/>
            <a:ext cx="1053494" cy="276999"/>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sz="1200" dirty="0"/>
              <a:t>PWM Module</a:t>
            </a:r>
          </a:p>
        </p:txBody>
      </p:sp>
      <p:sp>
        <p:nvSpPr>
          <p:cNvPr id="24" name="TextBox 23"/>
          <p:cNvSpPr txBox="1"/>
          <p:nvPr/>
        </p:nvSpPr>
        <p:spPr>
          <a:xfrm>
            <a:off x="1676400" y="533400"/>
            <a:ext cx="857607" cy="276999"/>
          </a:xfrm>
          <a:prstGeom prst="rect">
            <a:avLst/>
          </a:prstGeom>
          <a:noFill/>
        </p:spPr>
        <p:txBody>
          <a:bodyPr wrap="none" rtlCol="0">
            <a:spAutoFit/>
          </a:bodyPr>
          <a:lstStyle/>
          <a:p>
            <a:r>
              <a:rPr lang="en-US" sz="1200" dirty="0"/>
              <a:t>IO’s to Slot</a:t>
            </a:r>
          </a:p>
        </p:txBody>
      </p:sp>
      <p:sp>
        <p:nvSpPr>
          <p:cNvPr id="25" name="TextBox 24"/>
          <p:cNvSpPr txBox="1"/>
          <p:nvPr/>
        </p:nvSpPr>
        <p:spPr>
          <a:xfrm>
            <a:off x="3276600" y="533400"/>
            <a:ext cx="475323" cy="276999"/>
          </a:xfrm>
          <a:prstGeom prst="rect">
            <a:avLst/>
          </a:prstGeom>
          <a:noFill/>
        </p:spPr>
        <p:txBody>
          <a:bodyPr wrap="none" rtlCol="0">
            <a:spAutoFit/>
          </a:bodyPr>
          <a:lstStyle/>
          <a:p>
            <a:r>
              <a:rPr lang="en-US" sz="1200" dirty="0"/>
              <a:t>Regs</a:t>
            </a:r>
          </a:p>
        </p:txBody>
      </p:sp>
      <p:sp>
        <p:nvSpPr>
          <p:cNvPr id="26" name="TextBox 25"/>
          <p:cNvSpPr txBox="1"/>
          <p:nvPr/>
        </p:nvSpPr>
        <p:spPr>
          <a:xfrm>
            <a:off x="3200400" y="838200"/>
            <a:ext cx="5334000" cy="830997"/>
          </a:xfrm>
          <a:prstGeom prst="rect">
            <a:avLst/>
          </a:prstGeom>
          <a:noFill/>
        </p:spPr>
        <p:txBody>
          <a:bodyPr wrap="square" rtlCol="0">
            <a:spAutoFit/>
          </a:bodyPr>
          <a:lstStyle/>
          <a:p>
            <a:r>
              <a:rPr lang="en-US" sz="1200" dirty="0"/>
              <a:t>[SET]</a:t>
            </a:r>
          </a:p>
          <a:p>
            <a:r>
              <a:rPr lang="en-US" sz="1200" dirty="0"/>
              <a:t>PWM_ENABLE: 1 enabled, 0 disabled</a:t>
            </a:r>
          </a:p>
          <a:p>
            <a:r>
              <a:rPr lang="en-US" sz="1200" dirty="0"/>
              <a:t>PWM_SET_PWM_FREQ:  32bit value</a:t>
            </a:r>
          </a:p>
          <a:p>
            <a:r>
              <a:rPr lang="en-US" sz="1200" dirty="0"/>
              <a:t>PWM_SET_PWM_DUTY:  32bit value</a:t>
            </a:r>
          </a:p>
        </p:txBody>
      </p:sp>
      <p:cxnSp>
        <p:nvCxnSpPr>
          <p:cNvPr id="28" name="Straight Connector 27"/>
          <p:cNvCxnSpPr/>
          <p:nvPr/>
        </p:nvCxnSpPr>
        <p:spPr>
          <a:xfrm rot="5400000">
            <a:off x="75406" y="3505200"/>
            <a:ext cx="6096794" cy="794"/>
          </a:xfrm>
          <a:prstGeom prst="line">
            <a:avLst/>
          </a:prstGeom>
        </p:spPr>
        <p:style>
          <a:lnRef idx="1">
            <a:schemeClr val="dk1"/>
          </a:lnRef>
          <a:fillRef idx="0">
            <a:schemeClr val="dk1"/>
          </a:fillRef>
          <a:effectRef idx="0">
            <a:schemeClr val="dk1"/>
          </a:effectRef>
          <a:fontRef idx="minor">
            <a:schemeClr val="tx1"/>
          </a:fontRef>
        </p:style>
      </p:cxnSp>
      <p:cxnSp>
        <p:nvCxnSpPr>
          <p:cNvPr id="32" name="Elbow Connector 31"/>
          <p:cNvCxnSpPr/>
          <p:nvPr/>
        </p:nvCxnSpPr>
        <p:spPr>
          <a:xfrm>
            <a:off x="304800" y="9906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11" name="TextBox 10"/>
          <p:cNvSpPr txBox="1"/>
          <p:nvPr/>
        </p:nvSpPr>
        <p:spPr>
          <a:xfrm>
            <a:off x="1752600" y="3581400"/>
            <a:ext cx="683007" cy="276999"/>
          </a:xfrm>
          <a:prstGeom prst="rect">
            <a:avLst/>
          </a:prstGeom>
          <a:noFill/>
        </p:spPr>
        <p:txBody>
          <a:bodyPr wrap="none" rtlCol="0">
            <a:spAutoFit/>
          </a:bodyPr>
          <a:lstStyle/>
          <a:p>
            <a:r>
              <a:rPr lang="en-US" sz="1200"/>
              <a:t>REGS IN</a:t>
            </a:r>
            <a:endParaRPr lang="en-US" sz="1200" dirty="0"/>
          </a:p>
        </p:txBody>
      </p:sp>
      <p:cxnSp>
        <p:nvCxnSpPr>
          <p:cNvPr id="12" name="Straight Connector 11"/>
          <p:cNvCxnSpPr/>
          <p:nvPr/>
        </p:nvCxnSpPr>
        <p:spPr>
          <a:xfrm rot="10800000" flipH="1">
            <a:off x="1219200" y="3505200"/>
            <a:ext cx="1905000" cy="1588"/>
          </a:xfrm>
          <a:prstGeom prst="line">
            <a:avLst/>
          </a:prstGeom>
        </p:spPr>
        <p:style>
          <a:lnRef idx="2">
            <a:schemeClr val="dk1"/>
          </a:lnRef>
          <a:fillRef idx="0">
            <a:schemeClr val="dk1"/>
          </a:fillRef>
          <a:effectRef idx="1">
            <a:schemeClr val="dk1"/>
          </a:effectRef>
          <a:fontRef idx="minor">
            <a:schemeClr val="tx1"/>
          </a:fontRef>
        </p:style>
      </p:cxnSp>
      <p:sp>
        <p:nvSpPr>
          <p:cNvPr id="15" name="TextBox 14"/>
          <p:cNvSpPr txBox="1"/>
          <p:nvPr/>
        </p:nvSpPr>
        <p:spPr>
          <a:xfrm>
            <a:off x="1295400" y="3886200"/>
            <a:ext cx="1404231" cy="276999"/>
          </a:xfrm>
          <a:prstGeom prst="rect">
            <a:avLst/>
          </a:prstGeom>
          <a:noFill/>
        </p:spPr>
        <p:txBody>
          <a:bodyPr wrap="none" rtlCol="0">
            <a:spAutoFit/>
          </a:bodyPr>
          <a:lstStyle/>
          <a:p>
            <a:r>
              <a:rPr lang="en-US" sz="1200" dirty="0"/>
              <a:t>PWM_DUTY: 32bits</a:t>
            </a:r>
          </a:p>
        </p:txBody>
      </p:sp>
      <p:cxnSp>
        <p:nvCxnSpPr>
          <p:cNvPr id="16" name="Elbow Connector 15"/>
          <p:cNvCxnSpPr/>
          <p:nvPr/>
        </p:nvCxnSpPr>
        <p:spPr>
          <a:xfrm>
            <a:off x="304800" y="40386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17" name="TextBox 16"/>
          <p:cNvSpPr txBox="1"/>
          <p:nvPr/>
        </p:nvSpPr>
        <p:spPr>
          <a:xfrm>
            <a:off x="1219200" y="6096000"/>
            <a:ext cx="1297150" cy="276999"/>
          </a:xfrm>
          <a:prstGeom prst="rect">
            <a:avLst/>
          </a:prstGeom>
          <a:noFill/>
        </p:spPr>
        <p:txBody>
          <a:bodyPr wrap="none" rtlCol="0">
            <a:spAutoFit/>
          </a:bodyPr>
          <a:lstStyle/>
          <a:p>
            <a:r>
              <a:rPr lang="en-US" sz="1200" dirty="0"/>
              <a:t>CLK_120MHz_PLL</a:t>
            </a:r>
          </a:p>
        </p:txBody>
      </p:sp>
      <p:sp>
        <p:nvSpPr>
          <p:cNvPr id="18" name="TextBox 17"/>
          <p:cNvSpPr txBox="1"/>
          <p:nvPr/>
        </p:nvSpPr>
        <p:spPr>
          <a:xfrm>
            <a:off x="1676400" y="5791200"/>
            <a:ext cx="833946" cy="276999"/>
          </a:xfrm>
          <a:prstGeom prst="rect">
            <a:avLst/>
          </a:prstGeom>
          <a:noFill/>
        </p:spPr>
        <p:txBody>
          <a:bodyPr wrap="none" rtlCol="0">
            <a:spAutoFit/>
          </a:bodyPr>
          <a:lstStyle/>
          <a:p>
            <a:r>
              <a:rPr lang="en-US" sz="1200"/>
              <a:t>CLOCKS IN</a:t>
            </a:r>
            <a:endParaRPr lang="en-US" sz="1200" dirty="0"/>
          </a:p>
        </p:txBody>
      </p:sp>
      <p:cxnSp>
        <p:nvCxnSpPr>
          <p:cNvPr id="20" name="Straight Connector 19"/>
          <p:cNvCxnSpPr/>
          <p:nvPr/>
        </p:nvCxnSpPr>
        <p:spPr>
          <a:xfrm rot="10800000" flipH="1">
            <a:off x="1219200" y="5715000"/>
            <a:ext cx="1905000" cy="1588"/>
          </a:xfrm>
          <a:prstGeom prst="line">
            <a:avLst/>
          </a:prstGeom>
        </p:spPr>
        <p:style>
          <a:lnRef idx="2">
            <a:schemeClr val="dk1"/>
          </a:lnRef>
          <a:fillRef idx="0">
            <a:schemeClr val="dk1"/>
          </a:fillRef>
          <a:effectRef idx="1">
            <a:schemeClr val="dk1"/>
          </a:effectRef>
          <a:fontRef idx="minor">
            <a:schemeClr val="tx1"/>
          </a:fontRef>
        </p:style>
      </p:cxnSp>
      <p:cxnSp>
        <p:nvCxnSpPr>
          <p:cNvPr id="21" name="Elbow Connector 20"/>
          <p:cNvCxnSpPr/>
          <p:nvPr/>
        </p:nvCxnSpPr>
        <p:spPr>
          <a:xfrm>
            <a:off x="304800" y="62484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22" name="TextBox 21"/>
          <p:cNvSpPr txBox="1"/>
          <p:nvPr/>
        </p:nvSpPr>
        <p:spPr>
          <a:xfrm>
            <a:off x="1295400" y="1066800"/>
            <a:ext cx="1157689" cy="276999"/>
          </a:xfrm>
          <a:prstGeom prst="rect">
            <a:avLst/>
          </a:prstGeom>
          <a:noFill/>
        </p:spPr>
        <p:txBody>
          <a:bodyPr wrap="none" rtlCol="0">
            <a:spAutoFit/>
          </a:bodyPr>
          <a:lstStyle/>
          <a:p>
            <a:r>
              <a:rPr lang="en-US" sz="1200" dirty="0"/>
              <a:t>PWM_WIRE_IN</a:t>
            </a:r>
          </a:p>
        </p:txBody>
      </p:sp>
      <p:cxnSp>
        <p:nvCxnSpPr>
          <p:cNvPr id="23" name="Elbow Connector 22"/>
          <p:cNvCxnSpPr/>
          <p:nvPr/>
        </p:nvCxnSpPr>
        <p:spPr>
          <a:xfrm>
            <a:off x="304800" y="12192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219200" y="457200"/>
            <a:ext cx="7391400" cy="6096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 name="Elbow Connector 6"/>
          <p:cNvCxnSpPr/>
          <p:nvPr/>
        </p:nvCxnSpPr>
        <p:spPr>
          <a:xfrm>
            <a:off x="304800" y="9906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8" name="TextBox 7"/>
          <p:cNvSpPr txBox="1"/>
          <p:nvPr/>
        </p:nvSpPr>
        <p:spPr>
          <a:xfrm>
            <a:off x="1295400" y="838200"/>
            <a:ext cx="800347" cy="276999"/>
          </a:xfrm>
          <a:prstGeom prst="rect">
            <a:avLst/>
          </a:prstGeom>
          <a:noFill/>
        </p:spPr>
        <p:txBody>
          <a:bodyPr wrap="none" rtlCol="0">
            <a:spAutoFit/>
          </a:bodyPr>
          <a:lstStyle/>
          <a:p>
            <a:r>
              <a:rPr lang="en-US" sz="1200" dirty="0"/>
              <a:t>C1: RESET</a:t>
            </a:r>
          </a:p>
        </p:txBody>
      </p:sp>
      <p:cxnSp>
        <p:nvCxnSpPr>
          <p:cNvPr id="9" name="Elbow Connector 8"/>
          <p:cNvCxnSpPr/>
          <p:nvPr/>
        </p:nvCxnSpPr>
        <p:spPr>
          <a:xfrm>
            <a:off x="304800" y="12192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10" name="TextBox 9"/>
          <p:cNvSpPr txBox="1"/>
          <p:nvPr/>
        </p:nvSpPr>
        <p:spPr>
          <a:xfrm>
            <a:off x="1295400" y="1752600"/>
            <a:ext cx="1570686" cy="276999"/>
          </a:xfrm>
          <a:prstGeom prst="rect">
            <a:avLst/>
          </a:prstGeom>
          <a:noFill/>
        </p:spPr>
        <p:txBody>
          <a:bodyPr wrap="none" rtlCol="0">
            <a:spAutoFit/>
          </a:bodyPr>
          <a:lstStyle/>
          <a:p>
            <a:r>
              <a:rPr lang="en-US" sz="1200" dirty="0"/>
              <a:t>C5: OW_ID (cable det)</a:t>
            </a:r>
          </a:p>
        </p:txBody>
      </p:sp>
      <p:cxnSp>
        <p:nvCxnSpPr>
          <p:cNvPr id="11" name="Elbow Connector 10"/>
          <p:cNvCxnSpPr/>
          <p:nvPr/>
        </p:nvCxnSpPr>
        <p:spPr>
          <a:xfrm>
            <a:off x="304800" y="14478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12" name="TextBox 11"/>
          <p:cNvSpPr txBox="1"/>
          <p:nvPr/>
        </p:nvSpPr>
        <p:spPr>
          <a:xfrm>
            <a:off x="1295400" y="2209800"/>
            <a:ext cx="2055819" cy="276999"/>
          </a:xfrm>
          <a:prstGeom prst="rect">
            <a:avLst/>
          </a:prstGeom>
          <a:noFill/>
        </p:spPr>
        <p:txBody>
          <a:bodyPr wrap="none" rtlCol="0">
            <a:spAutoFit/>
          </a:bodyPr>
          <a:lstStyle/>
          <a:p>
            <a:r>
              <a:rPr lang="en-US" sz="1200" dirty="0"/>
              <a:t>C7: STCK (step clock not used)</a:t>
            </a:r>
          </a:p>
        </p:txBody>
      </p:sp>
      <p:sp>
        <p:nvSpPr>
          <p:cNvPr id="19" name="TextBox 18"/>
          <p:cNvSpPr txBox="1"/>
          <p:nvPr/>
        </p:nvSpPr>
        <p:spPr>
          <a:xfrm>
            <a:off x="152400" y="152400"/>
            <a:ext cx="1192891" cy="276999"/>
          </a:xfrm>
          <a:prstGeom prst="rect">
            <a:avLst/>
          </a:prstGeom>
        </p:spPr>
        <p:style>
          <a:lnRef idx="1">
            <a:schemeClr val="accent3"/>
          </a:lnRef>
          <a:fillRef idx="2">
            <a:schemeClr val="accent3"/>
          </a:fillRef>
          <a:effectRef idx="1">
            <a:schemeClr val="accent3"/>
          </a:effectRef>
          <a:fontRef idx="minor">
            <a:schemeClr val="dk1"/>
          </a:fontRef>
        </p:style>
        <p:txBody>
          <a:bodyPr wrap="none" rtlCol="0">
            <a:spAutoFit/>
          </a:bodyPr>
          <a:lstStyle/>
          <a:p>
            <a:r>
              <a:rPr lang="en-US" sz="1200" dirty="0"/>
              <a:t>Stepper Module</a:t>
            </a:r>
          </a:p>
        </p:txBody>
      </p:sp>
      <p:sp>
        <p:nvSpPr>
          <p:cNvPr id="25" name="TextBox 24"/>
          <p:cNvSpPr txBox="1"/>
          <p:nvPr/>
        </p:nvSpPr>
        <p:spPr>
          <a:xfrm>
            <a:off x="3505200" y="533400"/>
            <a:ext cx="475323" cy="276999"/>
          </a:xfrm>
          <a:prstGeom prst="rect">
            <a:avLst/>
          </a:prstGeom>
          <a:noFill/>
        </p:spPr>
        <p:txBody>
          <a:bodyPr wrap="none" rtlCol="0">
            <a:spAutoFit/>
          </a:bodyPr>
          <a:lstStyle/>
          <a:p>
            <a:r>
              <a:rPr lang="en-US" sz="1200" dirty="0"/>
              <a:t>Regs</a:t>
            </a:r>
          </a:p>
        </p:txBody>
      </p:sp>
      <p:sp>
        <p:nvSpPr>
          <p:cNvPr id="26" name="TextBox 25"/>
          <p:cNvSpPr txBox="1"/>
          <p:nvPr/>
        </p:nvSpPr>
        <p:spPr>
          <a:xfrm>
            <a:off x="3429000" y="838200"/>
            <a:ext cx="5029200" cy="1015663"/>
          </a:xfrm>
          <a:prstGeom prst="rect">
            <a:avLst/>
          </a:prstGeom>
          <a:noFill/>
        </p:spPr>
        <p:txBody>
          <a:bodyPr wrap="square" rtlCol="0">
            <a:spAutoFit/>
          </a:bodyPr>
          <a:lstStyle/>
          <a:p>
            <a:r>
              <a:rPr lang="en-US" sz="1200" dirty="0"/>
              <a:t>[SET]</a:t>
            </a:r>
          </a:p>
          <a:p>
            <a:r>
              <a:rPr lang="en-US" sz="1200" dirty="0"/>
              <a:t>STEP_ENABLE: 2 enbled</a:t>
            </a:r>
            <a:r>
              <a:rPr lang="en-US" sz="1200"/>
              <a:t>, 1 connects only OW_ID, 0 </a:t>
            </a:r>
            <a:r>
              <a:rPr lang="en-US" sz="1200" dirty="0"/>
              <a:t>disabled ( connects IO to other modules when enabled  or tri-states if disabled)</a:t>
            </a:r>
          </a:p>
          <a:p>
            <a:r>
              <a:rPr lang="en-US" sz="1200" dirty="0"/>
              <a:t>STEP_RESET: 1 HIGH, 0 LOW</a:t>
            </a:r>
          </a:p>
          <a:p>
            <a:r>
              <a:rPr lang="en-US" sz="1200" dirty="0"/>
              <a:t>STEP_STCK: 1 HIGH, 0 LOW</a:t>
            </a:r>
          </a:p>
        </p:txBody>
      </p:sp>
      <p:cxnSp>
        <p:nvCxnSpPr>
          <p:cNvPr id="28" name="Straight Connector 27"/>
          <p:cNvCxnSpPr/>
          <p:nvPr/>
        </p:nvCxnSpPr>
        <p:spPr>
          <a:xfrm rot="5400000">
            <a:off x="304800" y="3505200"/>
            <a:ext cx="6096794" cy="794"/>
          </a:xfrm>
          <a:prstGeom prst="line">
            <a:avLst/>
          </a:prstGeom>
        </p:spPr>
        <p:style>
          <a:lnRef idx="1">
            <a:schemeClr val="dk1"/>
          </a:lnRef>
          <a:fillRef idx="0">
            <a:schemeClr val="dk1"/>
          </a:fillRef>
          <a:effectRef idx="0">
            <a:schemeClr val="dk1"/>
          </a:effectRef>
          <a:fontRef idx="minor">
            <a:schemeClr val="tx1"/>
          </a:fontRef>
        </p:style>
      </p:cxnSp>
      <p:sp>
        <p:nvSpPr>
          <p:cNvPr id="22" name="TextBox 21"/>
          <p:cNvSpPr txBox="1"/>
          <p:nvPr/>
        </p:nvSpPr>
        <p:spPr>
          <a:xfrm>
            <a:off x="1676400" y="533400"/>
            <a:ext cx="857607" cy="276999"/>
          </a:xfrm>
          <a:prstGeom prst="rect">
            <a:avLst/>
          </a:prstGeom>
          <a:noFill/>
        </p:spPr>
        <p:txBody>
          <a:bodyPr wrap="none" rtlCol="0">
            <a:spAutoFit/>
          </a:bodyPr>
          <a:lstStyle/>
          <a:p>
            <a:r>
              <a:rPr lang="en-US" sz="1200" dirty="0"/>
              <a:t>IO’s to Slot</a:t>
            </a:r>
          </a:p>
        </p:txBody>
      </p:sp>
      <p:sp>
        <p:nvSpPr>
          <p:cNvPr id="23" name="TextBox 22"/>
          <p:cNvSpPr txBox="1"/>
          <p:nvPr/>
        </p:nvSpPr>
        <p:spPr>
          <a:xfrm>
            <a:off x="3505200" y="5867400"/>
            <a:ext cx="1911742" cy="276999"/>
          </a:xfrm>
          <a:prstGeom prst="rect">
            <a:avLst/>
          </a:prstGeom>
          <a:noFill/>
        </p:spPr>
        <p:txBody>
          <a:bodyPr wrap="none" rtlCol="0">
            <a:spAutoFit/>
          </a:bodyPr>
          <a:lstStyle/>
          <a:p>
            <a:pPr>
              <a:buFont typeface="Arial" pitchFamily="34" charset="0"/>
              <a:buChar char="•"/>
            </a:pPr>
            <a:r>
              <a:rPr lang="en-US" sz="1200" dirty="0"/>
              <a:t>May use Encoder Moudule</a:t>
            </a:r>
          </a:p>
        </p:txBody>
      </p:sp>
      <p:cxnSp>
        <p:nvCxnSpPr>
          <p:cNvPr id="29" name="Straight Connector 28"/>
          <p:cNvCxnSpPr/>
          <p:nvPr/>
        </p:nvCxnSpPr>
        <p:spPr>
          <a:xfrm>
            <a:off x="3352800" y="5638800"/>
            <a:ext cx="5257800" cy="1588"/>
          </a:xfrm>
          <a:prstGeom prst="line">
            <a:avLst/>
          </a:prstGeom>
        </p:spPr>
        <p:style>
          <a:lnRef idx="2">
            <a:schemeClr val="dk1"/>
          </a:lnRef>
          <a:fillRef idx="0">
            <a:schemeClr val="dk1"/>
          </a:fillRef>
          <a:effectRef idx="1">
            <a:schemeClr val="dk1"/>
          </a:effectRef>
          <a:fontRef idx="minor">
            <a:schemeClr val="tx1"/>
          </a:fontRef>
        </p:style>
      </p:cxnSp>
      <p:sp>
        <p:nvSpPr>
          <p:cNvPr id="16" name="TextBox 15"/>
          <p:cNvSpPr txBox="1"/>
          <p:nvPr/>
        </p:nvSpPr>
        <p:spPr>
          <a:xfrm>
            <a:off x="1219200" y="6096000"/>
            <a:ext cx="1297150" cy="276999"/>
          </a:xfrm>
          <a:prstGeom prst="rect">
            <a:avLst/>
          </a:prstGeom>
          <a:noFill/>
        </p:spPr>
        <p:txBody>
          <a:bodyPr wrap="none" rtlCol="0">
            <a:spAutoFit/>
          </a:bodyPr>
          <a:lstStyle/>
          <a:p>
            <a:r>
              <a:rPr lang="en-US" sz="1200" dirty="0"/>
              <a:t>CLK_400MHz_PLL</a:t>
            </a:r>
          </a:p>
        </p:txBody>
      </p:sp>
      <p:sp>
        <p:nvSpPr>
          <p:cNvPr id="17" name="TextBox 16"/>
          <p:cNvSpPr txBox="1"/>
          <p:nvPr/>
        </p:nvSpPr>
        <p:spPr>
          <a:xfrm>
            <a:off x="1676400" y="5791200"/>
            <a:ext cx="833946" cy="276999"/>
          </a:xfrm>
          <a:prstGeom prst="rect">
            <a:avLst/>
          </a:prstGeom>
          <a:noFill/>
        </p:spPr>
        <p:txBody>
          <a:bodyPr wrap="none" rtlCol="0">
            <a:spAutoFit/>
          </a:bodyPr>
          <a:lstStyle/>
          <a:p>
            <a:r>
              <a:rPr lang="en-US" sz="1200"/>
              <a:t>CLOCKS IN</a:t>
            </a:r>
            <a:endParaRPr lang="en-US" sz="1200" dirty="0"/>
          </a:p>
        </p:txBody>
      </p:sp>
      <p:cxnSp>
        <p:nvCxnSpPr>
          <p:cNvPr id="18" name="Straight Connector 17"/>
          <p:cNvCxnSpPr/>
          <p:nvPr/>
        </p:nvCxnSpPr>
        <p:spPr>
          <a:xfrm flipV="1">
            <a:off x="1219200" y="5638800"/>
            <a:ext cx="2133600" cy="1588"/>
          </a:xfrm>
          <a:prstGeom prst="line">
            <a:avLst/>
          </a:prstGeom>
        </p:spPr>
        <p:style>
          <a:lnRef idx="2">
            <a:schemeClr val="dk1"/>
          </a:lnRef>
          <a:fillRef idx="0">
            <a:schemeClr val="dk1"/>
          </a:fillRef>
          <a:effectRef idx="1">
            <a:schemeClr val="dk1"/>
          </a:effectRef>
          <a:fontRef idx="minor">
            <a:schemeClr val="tx1"/>
          </a:fontRef>
        </p:style>
      </p:cxnSp>
      <p:cxnSp>
        <p:nvCxnSpPr>
          <p:cNvPr id="20" name="Elbow Connector 19"/>
          <p:cNvCxnSpPr/>
          <p:nvPr/>
        </p:nvCxnSpPr>
        <p:spPr>
          <a:xfrm>
            <a:off x="304800" y="62484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cxnSp>
        <p:nvCxnSpPr>
          <p:cNvPr id="24" name="Elbow Connector 23"/>
          <p:cNvCxnSpPr/>
          <p:nvPr/>
        </p:nvCxnSpPr>
        <p:spPr>
          <a:xfrm>
            <a:off x="304800" y="40386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27" name="TextBox 26"/>
          <p:cNvSpPr txBox="1"/>
          <p:nvPr/>
        </p:nvSpPr>
        <p:spPr>
          <a:xfrm>
            <a:off x="1295400" y="3886200"/>
            <a:ext cx="1173526" cy="276999"/>
          </a:xfrm>
          <a:prstGeom prst="rect">
            <a:avLst/>
          </a:prstGeom>
          <a:noFill/>
        </p:spPr>
        <p:txBody>
          <a:bodyPr wrap="none" rtlCol="0">
            <a:spAutoFit/>
          </a:bodyPr>
          <a:lstStyle/>
          <a:p>
            <a:r>
              <a:rPr lang="en-US" sz="1200" dirty="0"/>
              <a:t>CHA _REG_OUT</a:t>
            </a:r>
          </a:p>
        </p:txBody>
      </p:sp>
      <p:cxnSp>
        <p:nvCxnSpPr>
          <p:cNvPr id="30" name="Elbow Connector 29"/>
          <p:cNvCxnSpPr/>
          <p:nvPr/>
        </p:nvCxnSpPr>
        <p:spPr>
          <a:xfrm>
            <a:off x="304800" y="42672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31" name="TextBox 30"/>
          <p:cNvSpPr txBox="1"/>
          <p:nvPr/>
        </p:nvSpPr>
        <p:spPr>
          <a:xfrm>
            <a:off x="1295400" y="4114800"/>
            <a:ext cx="1167114" cy="276999"/>
          </a:xfrm>
          <a:prstGeom prst="rect">
            <a:avLst/>
          </a:prstGeom>
          <a:noFill/>
        </p:spPr>
        <p:txBody>
          <a:bodyPr wrap="none" rtlCol="0">
            <a:spAutoFit/>
          </a:bodyPr>
          <a:lstStyle/>
          <a:p>
            <a:r>
              <a:rPr lang="en-US" sz="1200" dirty="0"/>
              <a:t>CHB _REG_OUT</a:t>
            </a:r>
          </a:p>
        </p:txBody>
      </p:sp>
      <p:cxnSp>
        <p:nvCxnSpPr>
          <p:cNvPr id="32" name="Elbow Connector 31"/>
          <p:cNvCxnSpPr/>
          <p:nvPr/>
        </p:nvCxnSpPr>
        <p:spPr>
          <a:xfrm>
            <a:off x="304800" y="33528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33" name="TextBox 32"/>
          <p:cNvSpPr txBox="1"/>
          <p:nvPr/>
        </p:nvSpPr>
        <p:spPr>
          <a:xfrm>
            <a:off x="1295400" y="3200400"/>
            <a:ext cx="1034066" cy="276999"/>
          </a:xfrm>
          <a:prstGeom prst="rect">
            <a:avLst/>
          </a:prstGeom>
          <a:noFill/>
        </p:spPr>
        <p:txBody>
          <a:bodyPr wrap="none" rtlCol="0">
            <a:spAutoFit/>
          </a:bodyPr>
          <a:lstStyle/>
          <a:p>
            <a:r>
              <a:rPr lang="en-US" sz="1200" dirty="0"/>
              <a:t>UL_REG_OUT</a:t>
            </a:r>
          </a:p>
        </p:txBody>
      </p:sp>
      <p:cxnSp>
        <p:nvCxnSpPr>
          <p:cNvPr id="34" name="Elbow Connector 33"/>
          <p:cNvCxnSpPr/>
          <p:nvPr/>
        </p:nvCxnSpPr>
        <p:spPr>
          <a:xfrm>
            <a:off x="304800" y="35814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35" name="TextBox 34"/>
          <p:cNvSpPr txBox="1"/>
          <p:nvPr/>
        </p:nvSpPr>
        <p:spPr>
          <a:xfrm>
            <a:off x="1295400" y="3429000"/>
            <a:ext cx="998800" cy="276999"/>
          </a:xfrm>
          <a:prstGeom prst="rect">
            <a:avLst/>
          </a:prstGeom>
          <a:noFill/>
        </p:spPr>
        <p:txBody>
          <a:bodyPr wrap="none" rtlCol="0">
            <a:spAutoFit/>
          </a:bodyPr>
          <a:lstStyle/>
          <a:p>
            <a:r>
              <a:rPr lang="en-US" sz="1200" dirty="0"/>
              <a:t>LL_REG_OUT</a:t>
            </a:r>
          </a:p>
        </p:txBody>
      </p:sp>
      <p:cxnSp>
        <p:nvCxnSpPr>
          <p:cNvPr id="36" name="Elbow Connector 35"/>
          <p:cNvCxnSpPr/>
          <p:nvPr/>
        </p:nvCxnSpPr>
        <p:spPr>
          <a:xfrm>
            <a:off x="304800" y="38100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37" name="TextBox 36"/>
          <p:cNvSpPr txBox="1"/>
          <p:nvPr/>
        </p:nvSpPr>
        <p:spPr>
          <a:xfrm>
            <a:off x="1295400" y="3657600"/>
            <a:ext cx="1258486" cy="276999"/>
          </a:xfrm>
          <a:prstGeom prst="rect">
            <a:avLst/>
          </a:prstGeom>
          <a:noFill/>
        </p:spPr>
        <p:txBody>
          <a:bodyPr wrap="none" rtlCol="0">
            <a:spAutoFit/>
          </a:bodyPr>
          <a:lstStyle/>
          <a:p>
            <a:r>
              <a:rPr lang="en-US" sz="1200" dirty="0"/>
              <a:t>INDEX_REG_OUT</a:t>
            </a:r>
          </a:p>
        </p:txBody>
      </p:sp>
      <p:cxnSp>
        <p:nvCxnSpPr>
          <p:cNvPr id="38" name="Elbow Connector 37"/>
          <p:cNvCxnSpPr/>
          <p:nvPr/>
        </p:nvCxnSpPr>
        <p:spPr>
          <a:xfrm>
            <a:off x="304800" y="23622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39" name="TextBox 38"/>
          <p:cNvSpPr txBox="1"/>
          <p:nvPr/>
        </p:nvSpPr>
        <p:spPr>
          <a:xfrm>
            <a:off x="1295400" y="2438400"/>
            <a:ext cx="689612" cy="276999"/>
          </a:xfrm>
          <a:prstGeom prst="rect">
            <a:avLst/>
          </a:prstGeom>
          <a:noFill/>
        </p:spPr>
        <p:txBody>
          <a:bodyPr wrap="none" rtlCol="0">
            <a:spAutoFit/>
          </a:bodyPr>
          <a:lstStyle/>
          <a:p>
            <a:r>
              <a:rPr lang="en-US" sz="1200" dirty="0"/>
              <a:t>C8: CHA</a:t>
            </a:r>
          </a:p>
        </p:txBody>
      </p:sp>
      <p:cxnSp>
        <p:nvCxnSpPr>
          <p:cNvPr id="40" name="Elbow Connector 39"/>
          <p:cNvCxnSpPr/>
          <p:nvPr/>
        </p:nvCxnSpPr>
        <p:spPr>
          <a:xfrm>
            <a:off x="304800" y="25908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41" name="TextBox 40"/>
          <p:cNvSpPr txBox="1"/>
          <p:nvPr/>
        </p:nvSpPr>
        <p:spPr>
          <a:xfrm>
            <a:off x="1295400" y="2667000"/>
            <a:ext cx="683200" cy="276999"/>
          </a:xfrm>
          <a:prstGeom prst="rect">
            <a:avLst/>
          </a:prstGeom>
          <a:noFill/>
        </p:spPr>
        <p:txBody>
          <a:bodyPr wrap="none" rtlCol="0">
            <a:spAutoFit/>
          </a:bodyPr>
          <a:lstStyle/>
          <a:p>
            <a:r>
              <a:rPr lang="en-US" sz="1200" dirty="0"/>
              <a:t>C9: CHB</a:t>
            </a:r>
          </a:p>
        </p:txBody>
      </p:sp>
      <p:cxnSp>
        <p:nvCxnSpPr>
          <p:cNvPr id="42" name="Elbow Connector 41"/>
          <p:cNvCxnSpPr/>
          <p:nvPr/>
        </p:nvCxnSpPr>
        <p:spPr>
          <a:xfrm>
            <a:off x="304800" y="16764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43" name="TextBox 42"/>
          <p:cNvSpPr txBox="1"/>
          <p:nvPr/>
        </p:nvSpPr>
        <p:spPr>
          <a:xfrm>
            <a:off x="1295400" y="1066800"/>
            <a:ext cx="585417" cy="276999"/>
          </a:xfrm>
          <a:prstGeom prst="rect">
            <a:avLst/>
          </a:prstGeom>
          <a:noFill/>
        </p:spPr>
        <p:txBody>
          <a:bodyPr wrap="none" rtlCol="0">
            <a:spAutoFit/>
          </a:bodyPr>
          <a:lstStyle/>
          <a:p>
            <a:r>
              <a:rPr lang="en-US" sz="1200" dirty="0"/>
              <a:t>C2: UL</a:t>
            </a:r>
          </a:p>
        </p:txBody>
      </p:sp>
      <p:cxnSp>
        <p:nvCxnSpPr>
          <p:cNvPr id="44" name="Elbow Connector 43"/>
          <p:cNvCxnSpPr/>
          <p:nvPr/>
        </p:nvCxnSpPr>
        <p:spPr>
          <a:xfrm>
            <a:off x="304800" y="19050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45" name="TextBox 44"/>
          <p:cNvSpPr txBox="1"/>
          <p:nvPr/>
        </p:nvSpPr>
        <p:spPr>
          <a:xfrm>
            <a:off x="1295400" y="1295400"/>
            <a:ext cx="550151" cy="276999"/>
          </a:xfrm>
          <a:prstGeom prst="rect">
            <a:avLst/>
          </a:prstGeom>
          <a:noFill/>
        </p:spPr>
        <p:txBody>
          <a:bodyPr wrap="none" rtlCol="0">
            <a:spAutoFit/>
          </a:bodyPr>
          <a:lstStyle/>
          <a:p>
            <a:r>
              <a:rPr lang="en-US" sz="1200" dirty="0"/>
              <a:t>C3: LL</a:t>
            </a:r>
          </a:p>
        </p:txBody>
      </p:sp>
      <p:cxnSp>
        <p:nvCxnSpPr>
          <p:cNvPr id="46" name="Elbow Connector 45"/>
          <p:cNvCxnSpPr/>
          <p:nvPr/>
        </p:nvCxnSpPr>
        <p:spPr>
          <a:xfrm>
            <a:off x="304800" y="2133600"/>
            <a:ext cx="914400" cy="1588"/>
          </a:xfrm>
          <a:prstGeom prst="bentConnector3">
            <a:avLst>
              <a:gd name="adj1" fmla="val 38679"/>
            </a:avLst>
          </a:prstGeom>
          <a:ln>
            <a:tailEnd type="arrow"/>
          </a:ln>
        </p:spPr>
        <p:style>
          <a:lnRef idx="2">
            <a:schemeClr val="dk1"/>
          </a:lnRef>
          <a:fillRef idx="0">
            <a:schemeClr val="dk1"/>
          </a:fillRef>
          <a:effectRef idx="1">
            <a:schemeClr val="dk1"/>
          </a:effectRef>
          <a:fontRef idx="minor">
            <a:schemeClr val="tx1"/>
          </a:fontRef>
        </p:style>
      </p:cxnSp>
      <p:sp>
        <p:nvSpPr>
          <p:cNvPr id="47" name="TextBox 46"/>
          <p:cNvSpPr txBox="1"/>
          <p:nvPr/>
        </p:nvSpPr>
        <p:spPr>
          <a:xfrm>
            <a:off x="1295400" y="1524000"/>
            <a:ext cx="809837" cy="276999"/>
          </a:xfrm>
          <a:prstGeom prst="rect">
            <a:avLst/>
          </a:prstGeom>
          <a:noFill/>
        </p:spPr>
        <p:txBody>
          <a:bodyPr wrap="none" rtlCol="0">
            <a:spAutoFit/>
          </a:bodyPr>
          <a:lstStyle/>
          <a:p>
            <a:r>
              <a:rPr lang="en-US" sz="1200" dirty="0"/>
              <a:t>C4: INDEX</a:t>
            </a:r>
          </a:p>
        </p:txBody>
      </p:sp>
      <p:sp>
        <p:nvSpPr>
          <p:cNvPr id="49" name="TextBox 48"/>
          <p:cNvSpPr txBox="1"/>
          <p:nvPr/>
        </p:nvSpPr>
        <p:spPr>
          <a:xfrm>
            <a:off x="1295400" y="1981200"/>
            <a:ext cx="574196" cy="276999"/>
          </a:xfrm>
          <a:prstGeom prst="rect">
            <a:avLst/>
          </a:prstGeom>
          <a:noFill/>
        </p:spPr>
        <p:txBody>
          <a:bodyPr wrap="none" rtlCol="0">
            <a:spAutoFit/>
          </a:bodyPr>
          <a:lstStyle/>
          <a:p>
            <a:r>
              <a:rPr lang="en-US" sz="1200" dirty="0"/>
              <a:t>C6: CS</a:t>
            </a:r>
          </a:p>
        </p:txBody>
      </p:sp>
      <p:cxnSp>
        <p:nvCxnSpPr>
          <p:cNvPr id="50" name="Elbow Connector 49"/>
          <p:cNvCxnSpPr/>
          <p:nvPr/>
        </p:nvCxnSpPr>
        <p:spPr>
          <a:xfrm>
            <a:off x="304800" y="28194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cxnSp>
        <p:nvCxnSpPr>
          <p:cNvPr id="54" name="Elbow Connector 53"/>
          <p:cNvCxnSpPr>
            <a:stCxn id="41" idx="3"/>
            <a:endCxn id="31" idx="3"/>
          </p:cNvCxnSpPr>
          <p:nvPr/>
        </p:nvCxnSpPr>
        <p:spPr>
          <a:xfrm>
            <a:off x="1978600" y="2805500"/>
            <a:ext cx="483914" cy="1447800"/>
          </a:xfrm>
          <a:prstGeom prst="bentConnector3">
            <a:avLst>
              <a:gd name="adj1" fmla="val 147240"/>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63" name="TextBox 62"/>
          <p:cNvSpPr txBox="1"/>
          <p:nvPr/>
        </p:nvSpPr>
        <p:spPr>
          <a:xfrm>
            <a:off x="1981200" y="2667000"/>
            <a:ext cx="1101584" cy="338554"/>
          </a:xfrm>
          <a:prstGeom prst="rect">
            <a:avLst/>
          </a:prstGeom>
          <a:noFill/>
        </p:spPr>
        <p:txBody>
          <a:bodyPr wrap="none" rtlCol="0">
            <a:spAutoFit/>
          </a:bodyPr>
          <a:lstStyle/>
          <a:p>
            <a:r>
              <a:rPr lang="en-US" sz="800" dirty="0"/>
              <a:t>Map IO to encoder on</a:t>
            </a:r>
          </a:p>
          <a:p>
            <a:r>
              <a:rPr lang="en-US" sz="800" dirty="0"/>
              <a:t> card enable</a:t>
            </a:r>
          </a:p>
        </p:txBody>
      </p:sp>
      <p:cxnSp>
        <p:nvCxnSpPr>
          <p:cNvPr id="65" name="Straight Connector 64"/>
          <p:cNvCxnSpPr/>
          <p:nvPr/>
        </p:nvCxnSpPr>
        <p:spPr>
          <a:xfrm flipV="1">
            <a:off x="1219200" y="3124200"/>
            <a:ext cx="2133600" cy="1588"/>
          </a:xfrm>
          <a:prstGeom prst="line">
            <a:avLst/>
          </a:prstGeom>
        </p:spPr>
        <p:style>
          <a:lnRef idx="2">
            <a:schemeClr val="dk1"/>
          </a:lnRef>
          <a:fillRef idx="0">
            <a:schemeClr val="dk1"/>
          </a:fillRef>
          <a:effectRef idx="1">
            <a:schemeClr val="dk1"/>
          </a:effectRef>
          <a:fontRef idx="minor">
            <a:schemeClr val="tx1"/>
          </a:fontRef>
        </p:style>
      </p:cxnSp>
      <p:sp>
        <p:nvSpPr>
          <p:cNvPr id="68" name="TextBox 67"/>
          <p:cNvSpPr txBox="1"/>
          <p:nvPr/>
        </p:nvSpPr>
        <p:spPr>
          <a:xfrm>
            <a:off x="1295400" y="4343400"/>
            <a:ext cx="903261" cy="276999"/>
          </a:xfrm>
          <a:prstGeom prst="rect">
            <a:avLst/>
          </a:prstGeom>
          <a:noFill/>
        </p:spPr>
        <p:txBody>
          <a:bodyPr wrap="none" rtlCol="0">
            <a:spAutoFit/>
          </a:bodyPr>
          <a:lstStyle/>
          <a:p>
            <a:r>
              <a:rPr lang="en-US" sz="1200" dirty="0"/>
              <a:t>CSX_1_REG</a:t>
            </a:r>
          </a:p>
        </p:txBody>
      </p:sp>
      <p:cxnSp>
        <p:nvCxnSpPr>
          <p:cNvPr id="69" name="Elbow Connector 68"/>
          <p:cNvCxnSpPr/>
          <p:nvPr/>
        </p:nvCxnSpPr>
        <p:spPr>
          <a:xfrm>
            <a:off x="304800" y="4495800"/>
            <a:ext cx="914400" cy="1588"/>
          </a:xfrm>
          <a:prstGeom prst="bentConnector3">
            <a:avLst>
              <a:gd name="adj1" fmla="val 50000"/>
            </a:avLst>
          </a:prstGeom>
          <a:ln>
            <a:headEnd type="none"/>
            <a:tailEnd type="arrow"/>
          </a:ln>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219200" y="533400"/>
            <a:ext cx="7391400" cy="6096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 name="Elbow Connector 6"/>
          <p:cNvCxnSpPr/>
          <p:nvPr/>
        </p:nvCxnSpPr>
        <p:spPr>
          <a:xfrm>
            <a:off x="304800" y="8382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8" name="TextBox 7"/>
          <p:cNvSpPr txBox="1"/>
          <p:nvPr/>
        </p:nvSpPr>
        <p:spPr>
          <a:xfrm>
            <a:off x="1295400" y="685800"/>
            <a:ext cx="904415" cy="276999"/>
          </a:xfrm>
          <a:prstGeom prst="rect">
            <a:avLst/>
          </a:prstGeom>
          <a:noFill/>
        </p:spPr>
        <p:txBody>
          <a:bodyPr wrap="none" rtlCol="0">
            <a:spAutoFit/>
          </a:bodyPr>
          <a:lstStyle/>
          <a:p>
            <a:r>
              <a:rPr lang="en-US" sz="1200" dirty="0"/>
              <a:t>C0: MODE2</a:t>
            </a:r>
          </a:p>
        </p:txBody>
      </p:sp>
      <p:sp>
        <p:nvSpPr>
          <p:cNvPr id="10" name="TextBox 9"/>
          <p:cNvSpPr txBox="1"/>
          <p:nvPr/>
        </p:nvSpPr>
        <p:spPr>
          <a:xfrm>
            <a:off x="1295400" y="1143000"/>
            <a:ext cx="833946" cy="276999"/>
          </a:xfrm>
          <a:prstGeom prst="rect">
            <a:avLst/>
          </a:prstGeom>
          <a:noFill/>
        </p:spPr>
        <p:txBody>
          <a:bodyPr wrap="none" rtlCol="0">
            <a:spAutoFit/>
          </a:bodyPr>
          <a:lstStyle/>
          <a:p>
            <a:r>
              <a:rPr lang="en-US" sz="1200" dirty="0"/>
              <a:t>C3:  FAULT</a:t>
            </a:r>
          </a:p>
        </p:txBody>
      </p:sp>
      <p:cxnSp>
        <p:nvCxnSpPr>
          <p:cNvPr id="11" name="Elbow Connector 10"/>
          <p:cNvCxnSpPr/>
          <p:nvPr/>
        </p:nvCxnSpPr>
        <p:spPr>
          <a:xfrm>
            <a:off x="304800" y="15240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12" name="TextBox 11"/>
          <p:cNvSpPr txBox="1"/>
          <p:nvPr/>
        </p:nvSpPr>
        <p:spPr>
          <a:xfrm>
            <a:off x="1295400" y="1371600"/>
            <a:ext cx="904415" cy="276999"/>
          </a:xfrm>
          <a:prstGeom prst="rect">
            <a:avLst/>
          </a:prstGeom>
          <a:noFill/>
        </p:spPr>
        <p:txBody>
          <a:bodyPr wrap="none" rtlCol="0">
            <a:spAutoFit/>
          </a:bodyPr>
          <a:lstStyle/>
          <a:p>
            <a:r>
              <a:rPr lang="en-US" sz="1200" dirty="0"/>
              <a:t>C4: MODE1</a:t>
            </a:r>
          </a:p>
        </p:txBody>
      </p:sp>
      <p:sp>
        <p:nvSpPr>
          <p:cNvPr id="19" name="TextBox 18"/>
          <p:cNvSpPr txBox="1"/>
          <p:nvPr/>
        </p:nvSpPr>
        <p:spPr>
          <a:xfrm>
            <a:off x="152400" y="152400"/>
            <a:ext cx="1056700" cy="276999"/>
          </a:xfrm>
          <a:prstGeom prst="rect">
            <a:avLst/>
          </a:prstGeom>
        </p:spPr>
        <p:style>
          <a:lnRef idx="1">
            <a:schemeClr val="accent3"/>
          </a:lnRef>
          <a:fillRef idx="2">
            <a:schemeClr val="accent3"/>
          </a:fillRef>
          <a:effectRef idx="1">
            <a:schemeClr val="accent3"/>
          </a:effectRef>
          <a:fontRef idx="minor">
            <a:schemeClr val="dk1"/>
          </a:fontRef>
        </p:style>
        <p:txBody>
          <a:bodyPr wrap="none" rtlCol="0">
            <a:spAutoFit/>
          </a:bodyPr>
          <a:lstStyle/>
          <a:p>
            <a:r>
              <a:rPr lang="en-US" sz="1200" dirty="0"/>
              <a:t>Servo Module</a:t>
            </a:r>
          </a:p>
        </p:txBody>
      </p:sp>
      <p:sp>
        <p:nvSpPr>
          <p:cNvPr id="25" name="TextBox 24"/>
          <p:cNvSpPr txBox="1"/>
          <p:nvPr/>
        </p:nvSpPr>
        <p:spPr>
          <a:xfrm>
            <a:off x="3505200" y="533400"/>
            <a:ext cx="475323" cy="276999"/>
          </a:xfrm>
          <a:prstGeom prst="rect">
            <a:avLst/>
          </a:prstGeom>
          <a:noFill/>
        </p:spPr>
        <p:txBody>
          <a:bodyPr wrap="none" rtlCol="0">
            <a:spAutoFit/>
          </a:bodyPr>
          <a:lstStyle/>
          <a:p>
            <a:r>
              <a:rPr lang="en-US" sz="1200" dirty="0"/>
              <a:t>Regs</a:t>
            </a:r>
          </a:p>
        </p:txBody>
      </p:sp>
      <p:sp>
        <p:nvSpPr>
          <p:cNvPr id="26" name="TextBox 25"/>
          <p:cNvSpPr txBox="1"/>
          <p:nvPr/>
        </p:nvSpPr>
        <p:spPr>
          <a:xfrm>
            <a:off x="3429000" y="838200"/>
            <a:ext cx="5029200" cy="2677656"/>
          </a:xfrm>
          <a:prstGeom prst="rect">
            <a:avLst/>
          </a:prstGeom>
          <a:noFill/>
        </p:spPr>
        <p:txBody>
          <a:bodyPr wrap="square" rtlCol="0">
            <a:spAutoFit/>
          </a:bodyPr>
          <a:lstStyle/>
          <a:p>
            <a:r>
              <a:rPr lang="en-US" sz="1200" dirty="0"/>
              <a:t>[SET]</a:t>
            </a:r>
          </a:p>
          <a:p>
            <a:r>
              <a:rPr lang="en-US" sz="1200" dirty="0"/>
              <a:t>SERVO_ENABLE: 2 enbled, 1 connects only OW_ID, 0 disabled ( connects IO to other modules when enabled  or tri-states if disabled)</a:t>
            </a:r>
          </a:p>
          <a:p>
            <a:r>
              <a:rPr lang="en-US" sz="1200" dirty="0"/>
              <a:t>SERVO_MODE: 0  PWM_ONLY, 1 SHUTTER, 2 CONT_VEL</a:t>
            </a:r>
          </a:p>
          <a:p>
            <a:r>
              <a:rPr lang="en-US" sz="1200" dirty="0"/>
              <a:t>SERVO_MODE_PINS: MODE2 | MODE1</a:t>
            </a:r>
          </a:p>
          <a:p>
            <a:r>
              <a:rPr lang="en-US" sz="1200" dirty="0"/>
              <a:t>SERVO_DIR: 1 high, 0 low</a:t>
            </a:r>
          </a:p>
          <a:p>
            <a:r>
              <a:rPr lang="en-US" sz="1200" dirty="0"/>
              <a:t>SERVO_OW_ID: 1 tie to pin  CM_2, 0 Tristate</a:t>
            </a:r>
          </a:p>
          <a:p>
            <a:r>
              <a:rPr lang="en-US" sz="1200" dirty="0"/>
              <a:t>SERVO_SET_CONST_VEL:  32bit value to compare ENC_COUNT_CLK  to 120MHz clock to modulate the PWM_DUTY</a:t>
            </a:r>
          </a:p>
          <a:p>
            <a:endParaRPr lang="en-US" sz="1200" dirty="0"/>
          </a:p>
          <a:p>
            <a:r>
              <a:rPr lang="en-US" sz="1200" dirty="0"/>
              <a:t>[GET]</a:t>
            </a:r>
          </a:p>
          <a:p>
            <a:r>
              <a:rPr lang="en-US" sz="1200" dirty="0"/>
              <a:t>SERVO_READ_FAULT:</a:t>
            </a:r>
          </a:p>
          <a:p>
            <a:endParaRPr lang="en-US" sz="1200" dirty="0"/>
          </a:p>
          <a:p>
            <a:endParaRPr lang="en-US" sz="1200" dirty="0"/>
          </a:p>
        </p:txBody>
      </p:sp>
      <p:cxnSp>
        <p:nvCxnSpPr>
          <p:cNvPr id="28" name="Straight Connector 27"/>
          <p:cNvCxnSpPr/>
          <p:nvPr/>
        </p:nvCxnSpPr>
        <p:spPr>
          <a:xfrm rot="5400000">
            <a:off x="304800" y="3581400"/>
            <a:ext cx="6096794" cy="794"/>
          </a:xfrm>
          <a:prstGeom prst="line">
            <a:avLst/>
          </a:prstGeom>
        </p:spPr>
        <p:style>
          <a:lnRef idx="2">
            <a:schemeClr val="dk1"/>
          </a:lnRef>
          <a:fillRef idx="0">
            <a:schemeClr val="dk1"/>
          </a:fillRef>
          <a:effectRef idx="1">
            <a:schemeClr val="dk1"/>
          </a:effectRef>
          <a:fontRef idx="minor">
            <a:schemeClr val="tx1"/>
          </a:fontRef>
        </p:style>
      </p:cxnSp>
      <p:sp>
        <p:nvSpPr>
          <p:cNvPr id="22" name="TextBox 21"/>
          <p:cNvSpPr txBox="1"/>
          <p:nvPr/>
        </p:nvSpPr>
        <p:spPr>
          <a:xfrm>
            <a:off x="1676400" y="533400"/>
            <a:ext cx="857607" cy="276999"/>
          </a:xfrm>
          <a:prstGeom prst="rect">
            <a:avLst/>
          </a:prstGeom>
          <a:noFill/>
        </p:spPr>
        <p:txBody>
          <a:bodyPr wrap="none" rtlCol="0">
            <a:spAutoFit/>
          </a:bodyPr>
          <a:lstStyle/>
          <a:p>
            <a:r>
              <a:rPr lang="en-US" sz="1200" dirty="0"/>
              <a:t>IO’s to Slot</a:t>
            </a:r>
          </a:p>
        </p:txBody>
      </p:sp>
      <p:cxnSp>
        <p:nvCxnSpPr>
          <p:cNvPr id="14" name="Elbow Connector 13"/>
          <p:cNvCxnSpPr/>
          <p:nvPr/>
        </p:nvCxnSpPr>
        <p:spPr>
          <a:xfrm>
            <a:off x="304800" y="17526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15" name="TextBox 14"/>
          <p:cNvSpPr txBox="1"/>
          <p:nvPr/>
        </p:nvSpPr>
        <p:spPr>
          <a:xfrm>
            <a:off x="1295400" y="1600200"/>
            <a:ext cx="1138453" cy="276999"/>
          </a:xfrm>
          <a:prstGeom prst="rect">
            <a:avLst/>
          </a:prstGeom>
          <a:noFill/>
        </p:spPr>
        <p:txBody>
          <a:bodyPr wrap="none" rtlCol="0">
            <a:spAutoFit/>
          </a:bodyPr>
          <a:lstStyle/>
          <a:p>
            <a:r>
              <a:rPr lang="en-US" sz="1200" dirty="0"/>
              <a:t>C5: DIR (Phase)</a:t>
            </a:r>
          </a:p>
        </p:txBody>
      </p:sp>
      <p:cxnSp>
        <p:nvCxnSpPr>
          <p:cNvPr id="16" name="Elbow Connector 15"/>
          <p:cNvCxnSpPr/>
          <p:nvPr/>
        </p:nvCxnSpPr>
        <p:spPr>
          <a:xfrm>
            <a:off x="304800" y="19812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17" name="TextBox 16"/>
          <p:cNvSpPr txBox="1"/>
          <p:nvPr/>
        </p:nvSpPr>
        <p:spPr>
          <a:xfrm>
            <a:off x="1295400" y="1828800"/>
            <a:ext cx="1570686" cy="276999"/>
          </a:xfrm>
          <a:prstGeom prst="rect">
            <a:avLst/>
          </a:prstGeom>
          <a:noFill/>
        </p:spPr>
        <p:txBody>
          <a:bodyPr wrap="none" rtlCol="0">
            <a:spAutoFit/>
          </a:bodyPr>
          <a:lstStyle/>
          <a:p>
            <a:r>
              <a:rPr lang="en-US" sz="1200" dirty="0"/>
              <a:t>C6: OW_ID (cable det)</a:t>
            </a:r>
          </a:p>
        </p:txBody>
      </p:sp>
      <p:cxnSp>
        <p:nvCxnSpPr>
          <p:cNvPr id="18" name="Elbow Connector 17"/>
          <p:cNvCxnSpPr/>
          <p:nvPr/>
        </p:nvCxnSpPr>
        <p:spPr>
          <a:xfrm>
            <a:off x="304800" y="22098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20" name="TextBox 19"/>
          <p:cNvSpPr txBox="1"/>
          <p:nvPr/>
        </p:nvSpPr>
        <p:spPr>
          <a:xfrm>
            <a:off x="1295400" y="2057400"/>
            <a:ext cx="1385316" cy="276999"/>
          </a:xfrm>
          <a:prstGeom prst="rect">
            <a:avLst/>
          </a:prstGeom>
          <a:noFill/>
        </p:spPr>
        <p:txBody>
          <a:bodyPr wrap="none" rtlCol="0">
            <a:spAutoFit/>
          </a:bodyPr>
          <a:lstStyle/>
          <a:p>
            <a:r>
              <a:rPr lang="en-US" sz="1200" dirty="0"/>
              <a:t>C7: ENABLE (PWM)</a:t>
            </a:r>
          </a:p>
        </p:txBody>
      </p:sp>
      <p:sp>
        <p:nvSpPr>
          <p:cNvPr id="29" name="TextBox 28"/>
          <p:cNvSpPr txBox="1"/>
          <p:nvPr/>
        </p:nvSpPr>
        <p:spPr>
          <a:xfrm>
            <a:off x="3505200" y="5867400"/>
            <a:ext cx="1823576" cy="461665"/>
          </a:xfrm>
          <a:prstGeom prst="rect">
            <a:avLst/>
          </a:prstGeom>
          <a:noFill/>
        </p:spPr>
        <p:txBody>
          <a:bodyPr wrap="none" rtlCol="0">
            <a:spAutoFit/>
          </a:bodyPr>
          <a:lstStyle/>
          <a:p>
            <a:pPr>
              <a:buFont typeface="Arial" pitchFamily="34" charset="0"/>
              <a:buChar char="•"/>
            </a:pPr>
            <a:r>
              <a:rPr lang="en-US" sz="1200" dirty="0"/>
              <a:t>May use Encoder module</a:t>
            </a:r>
          </a:p>
          <a:p>
            <a:pPr>
              <a:buFont typeface="Arial" pitchFamily="34" charset="0"/>
              <a:buChar char="•"/>
            </a:pPr>
            <a:r>
              <a:rPr lang="en-US" sz="1200" dirty="0"/>
              <a:t>Uses PWM module</a:t>
            </a:r>
          </a:p>
        </p:txBody>
      </p:sp>
      <p:cxnSp>
        <p:nvCxnSpPr>
          <p:cNvPr id="30" name="Straight Connector 29"/>
          <p:cNvCxnSpPr/>
          <p:nvPr/>
        </p:nvCxnSpPr>
        <p:spPr>
          <a:xfrm>
            <a:off x="3352800" y="5638800"/>
            <a:ext cx="5257800" cy="1588"/>
          </a:xfrm>
          <a:prstGeom prst="line">
            <a:avLst/>
          </a:prstGeom>
        </p:spPr>
        <p:style>
          <a:lnRef idx="2">
            <a:schemeClr val="dk1"/>
          </a:lnRef>
          <a:fillRef idx="0">
            <a:schemeClr val="dk1"/>
          </a:fillRef>
          <a:effectRef idx="1">
            <a:schemeClr val="dk1"/>
          </a:effectRef>
          <a:fontRef idx="minor">
            <a:schemeClr val="tx1"/>
          </a:fontRef>
        </p:style>
      </p:cxnSp>
      <p:sp>
        <p:nvSpPr>
          <p:cNvPr id="35" name="TextBox 34"/>
          <p:cNvSpPr txBox="1"/>
          <p:nvPr/>
        </p:nvSpPr>
        <p:spPr>
          <a:xfrm>
            <a:off x="1295400" y="4495800"/>
            <a:ext cx="1906548" cy="461665"/>
          </a:xfrm>
          <a:prstGeom prst="rect">
            <a:avLst/>
          </a:prstGeom>
          <a:noFill/>
        </p:spPr>
        <p:txBody>
          <a:bodyPr wrap="none" rtlCol="0">
            <a:spAutoFit/>
          </a:bodyPr>
          <a:lstStyle/>
          <a:p>
            <a:r>
              <a:rPr lang="en-US" sz="1200" dirty="0"/>
              <a:t>ENC_COUNT_CLK (used for </a:t>
            </a:r>
          </a:p>
          <a:p>
            <a:r>
              <a:rPr lang="en-US" sz="1200" dirty="0"/>
              <a:t>constant velocity)</a:t>
            </a:r>
          </a:p>
        </p:txBody>
      </p:sp>
      <p:cxnSp>
        <p:nvCxnSpPr>
          <p:cNvPr id="36" name="Elbow Connector 35"/>
          <p:cNvCxnSpPr/>
          <p:nvPr/>
        </p:nvCxnSpPr>
        <p:spPr>
          <a:xfrm>
            <a:off x="304800" y="46482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cxnSp>
        <p:nvCxnSpPr>
          <p:cNvPr id="27" name="Elbow Connector 26"/>
          <p:cNvCxnSpPr/>
          <p:nvPr/>
        </p:nvCxnSpPr>
        <p:spPr>
          <a:xfrm>
            <a:off x="304800" y="12954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40" name="TextBox 39"/>
          <p:cNvSpPr txBox="1"/>
          <p:nvPr/>
        </p:nvSpPr>
        <p:spPr>
          <a:xfrm>
            <a:off x="1752600" y="5334000"/>
            <a:ext cx="822469" cy="276999"/>
          </a:xfrm>
          <a:prstGeom prst="rect">
            <a:avLst/>
          </a:prstGeom>
          <a:noFill/>
        </p:spPr>
        <p:txBody>
          <a:bodyPr wrap="square" rtlCol="0">
            <a:spAutoFit/>
          </a:bodyPr>
          <a:lstStyle/>
          <a:p>
            <a:r>
              <a:rPr lang="en-US" sz="1200" dirty="0"/>
              <a:t>REGS OUT</a:t>
            </a:r>
          </a:p>
        </p:txBody>
      </p:sp>
      <p:cxnSp>
        <p:nvCxnSpPr>
          <p:cNvPr id="41" name="Straight Connector 40"/>
          <p:cNvCxnSpPr/>
          <p:nvPr/>
        </p:nvCxnSpPr>
        <p:spPr>
          <a:xfrm flipV="1">
            <a:off x="1219200" y="5410200"/>
            <a:ext cx="2133600" cy="1588"/>
          </a:xfrm>
          <a:prstGeom prst="line">
            <a:avLst/>
          </a:prstGeom>
        </p:spPr>
        <p:style>
          <a:lnRef idx="2">
            <a:schemeClr val="dk1"/>
          </a:lnRef>
          <a:fillRef idx="0">
            <a:schemeClr val="dk1"/>
          </a:fillRef>
          <a:effectRef idx="1">
            <a:schemeClr val="dk1"/>
          </a:effectRef>
          <a:fontRef idx="minor">
            <a:schemeClr val="tx1"/>
          </a:fontRef>
        </p:style>
      </p:cxnSp>
      <p:sp>
        <p:nvSpPr>
          <p:cNvPr id="43" name="TextBox 42"/>
          <p:cNvSpPr txBox="1"/>
          <p:nvPr/>
        </p:nvSpPr>
        <p:spPr>
          <a:xfrm>
            <a:off x="1219200" y="5638800"/>
            <a:ext cx="1404231" cy="276999"/>
          </a:xfrm>
          <a:prstGeom prst="rect">
            <a:avLst/>
          </a:prstGeom>
          <a:noFill/>
        </p:spPr>
        <p:txBody>
          <a:bodyPr wrap="none" rtlCol="0">
            <a:spAutoFit/>
          </a:bodyPr>
          <a:lstStyle/>
          <a:p>
            <a:r>
              <a:rPr lang="en-US" sz="1200" dirty="0"/>
              <a:t>PWM_DUTY: 32bits</a:t>
            </a:r>
          </a:p>
        </p:txBody>
      </p:sp>
      <p:cxnSp>
        <p:nvCxnSpPr>
          <p:cNvPr id="44" name="Elbow Connector 43"/>
          <p:cNvCxnSpPr/>
          <p:nvPr/>
        </p:nvCxnSpPr>
        <p:spPr>
          <a:xfrm>
            <a:off x="304800" y="57912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46" name="TextBox 45"/>
          <p:cNvSpPr txBox="1"/>
          <p:nvPr/>
        </p:nvSpPr>
        <p:spPr>
          <a:xfrm>
            <a:off x="1219200" y="6096000"/>
            <a:ext cx="1297150" cy="276999"/>
          </a:xfrm>
          <a:prstGeom prst="rect">
            <a:avLst/>
          </a:prstGeom>
          <a:noFill/>
        </p:spPr>
        <p:txBody>
          <a:bodyPr wrap="square" rtlCol="0">
            <a:spAutoFit/>
          </a:bodyPr>
          <a:lstStyle/>
          <a:p>
            <a:r>
              <a:rPr lang="en-US" sz="1200" dirty="0"/>
              <a:t>CLK_400MHz_PLL</a:t>
            </a:r>
          </a:p>
        </p:txBody>
      </p:sp>
      <p:sp>
        <p:nvSpPr>
          <p:cNvPr id="47" name="TextBox 46"/>
          <p:cNvSpPr txBox="1"/>
          <p:nvPr/>
        </p:nvSpPr>
        <p:spPr>
          <a:xfrm>
            <a:off x="1676400" y="5867400"/>
            <a:ext cx="833946" cy="276999"/>
          </a:xfrm>
          <a:prstGeom prst="rect">
            <a:avLst/>
          </a:prstGeom>
          <a:noFill/>
        </p:spPr>
        <p:txBody>
          <a:bodyPr wrap="square" rtlCol="0">
            <a:spAutoFit/>
          </a:bodyPr>
          <a:lstStyle/>
          <a:p>
            <a:r>
              <a:rPr lang="en-US" sz="1200"/>
              <a:t>CLOCKS IN</a:t>
            </a:r>
            <a:endParaRPr lang="en-US" sz="1200" dirty="0"/>
          </a:p>
        </p:txBody>
      </p:sp>
      <p:cxnSp>
        <p:nvCxnSpPr>
          <p:cNvPr id="48" name="Straight Connector 47"/>
          <p:cNvCxnSpPr/>
          <p:nvPr/>
        </p:nvCxnSpPr>
        <p:spPr>
          <a:xfrm flipV="1">
            <a:off x="1219200" y="5943600"/>
            <a:ext cx="2133600" cy="1588"/>
          </a:xfrm>
          <a:prstGeom prst="line">
            <a:avLst/>
          </a:prstGeom>
        </p:spPr>
        <p:style>
          <a:lnRef idx="2">
            <a:schemeClr val="dk1"/>
          </a:lnRef>
          <a:fillRef idx="0">
            <a:schemeClr val="dk1"/>
          </a:fillRef>
          <a:effectRef idx="1">
            <a:schemeClr val="dk1"/>
          </a:effectRef>
          <a:fontRef idx="minor">
            <a:schemeClr val="tx1"/>
          </a:fontRef>
        </p:style>
      </p:cxnSp>
      <p:cxnSp>
        <p:nvCxnSpPr>
          <p:cNvPr id="49" name="Elbow Connector 48"/>
          <p:cNvCxnSpPr/>
          <p:nvPr/>
        </p:nvCxnSpPr>
        <p:spPr>
          <a:xfrm>
            <a:off x="304800" y="62484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52" name="TextBox 51"/>
          <p:cNvSpPr txBox="1"/>
          <p:nvPr/>
        </p:nvSpPr>
        <p:spPr>
          <a:xfrm>
            <a:off x="1219200" y="6324600"/>
            <a:ext cx="1297150" cy="276999"/>
          </a:xfrm>
          <a:prstGeom prst="rect">
            <a:avLst/>
          </a:prstGeom>
          <a:noFill/>
        </p:spPr>
        <p:txBody>
          <a:bodyPr wrap="square" rtlCol="0">
            <a:spAutoFit/>
          </a:bodyPr>
          <a:lstStyle/>
          <a:p>
            <a:r>
              <a:rPr lang="en-US" sz="1200" dirty="0"/>
              <a:t>CLK_120MHz_PLL</a:t>
            </a:r>
          </a:p>
        </p:txBody>
      </p:sp>
      <p:cxnSp>
        <p:nvCxnSpPr>
          <p:cNvPr id="53" name="Elbow Connector 52"/>
          <p:cNvCxnSpPr/>
          <p:nvPr/>
        </p:nvCxnSpPr>
        <p:spPr>
          <a:xfrm>
            <a:off x="304800" y="64770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cxnSp>
        <p:nvCxnSpPr>
          <p:cNvPr id="54" name="Elbow Connector 53"/>
          <p:cNvCxnSpPr/>
          <p:nvPr/>
        </p:nvCxnSpPr>
        <p:spPr>
          <a:xfrm>
            <a:off x="304800" y="37338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55" name="TextBox 54"/>
          <p:cNvSpPr txBox="1"/>
          <p:nvPr/>
        </p:nvSpPr>
        <p:spPr>
          <a:xfrm>
            <a:off x="1295400" y="3581400"/>
            <a:ext cx="1173526" cy="276999"/>
          </a:xfrm>
          <a:prstGeom prst="rect">
            <a:avLst/>
          </a:prstGeom>
          <a:noFill/>
        </p:spPr>
        <p:txBody>
          <a:bodyPr wrap="none" rtlCol="0">
            <a:spAutoFit/>
          </a:bodyPr>
          <a:lstStyle/>
          <a:p>
            <a:r>
              <a:rPr lang="en-US" sz="1200" dirty="0"/>
              <a:t>CHA _REG_OUT</a:t>
            </a:r>
          </a:p>
        </p:txBody>
      </p:sp>
      <p:cxnSp>
        <p:nvCxnSpPr>
          <p:cNvPr id="56" name="Elbow Connector 55"/>
          <p:cNvCxnSpPr/>
          <p:nvPr/>
        </p:nvCxnSpPr>
        <p:spPr>
          <a:xfrm>
            <a:off x="304800" y="39624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57" name="TextBox 56"/>
          <p:cNvSpPr txBox="1"/>
          <p:nvPr/>
        </p:nvSpPr>
        <p:spPr>
          <a:xfrm>
            <a:off x="1295400" y="3810000"/>
            <a:ext cx="1167114" cy="276999"/>
          </a:xfrm>
          <a:prstGeom prst="rect">
            <a:avLst/>
          </a:prstGeom>
          <a:noFill/>
        </p:spPr>
        <p:txBody>
          <a:bodyPr wrap="none" rtlCol="0">
            <a:spAutoFit/>
          </a:bodyPr>
          <a:lstStyle/>
          <a:p>
            <a:r>
              <a:rPr lang="en-US" sz="1200" dirty="0"/>
              <a:t>CHB _REG_OUT</a:t>
            </a:r>
          </a:p>
        </p:txBody>
      </p:sp>
      <p:cxnSp>
        <p:nvCxnSpPr>
          <p:cNvPr id="58" name="Elbow Connector 57"/>
          <p:cNvCxnSpPr/>
          <p:nvPr/>
        </p:nvCxnSpPr>
        <p:spPr>
          <a:xfrm>
            <a:off x="304800" y="30480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59" name="TextBox 58"/>
          <p:cNvSpPr txBox="1"/>
          <p:nvPr/>
        </p:nvSpPr>
        <p:spPr>
          <a:xfrm>
            <a:off x="1295400" y="2895600"/>
            <a:ext cx="1034066" cy="276999"/>
          </a:xfrm>
          <a:prstGeom prst="rect">
            <a:avLst/>
          </a:prstGeom>
          <a:noFill/>
        </p:spPr>
        <p:txBody>
          <a:bodyPr wrap="none" rtlCol="0">
            <a:spAutoFit/>
          </a:bodyPr>
          <a:lstStyle/>
          <a:p>
            <a:r>
              <a:rPr lang="en-US" sz="1200" dirty="0"/>
              <a:t>UL_REG_OUT</a:t>
            </a:r>
          </a:p>
        </p:txBody>
      </p:sp>
      <p:cxnSp>
        <p:nvCxnSpPr>
          <p:cNvPr id="60" name="Elbow Connector 59"/>
          <p:cNvCxnSpPr/>
          <p:nvPr/>
        </p:nvCxnSpPr>
        <p:spPr>
          <a:xfrm>
            <a:off x="304800" y="32766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61" name="TextBox 60"/>
          <p:cNvSpPr txBox="1"/>
          <p:nvPr/>
        </p:nvSpPr>
        <p:spPr>
          <a:xfrm>
            <a:off x="1295400" y="3124200"/>
            <a:ext cx="998800" cy="276999"/>
          </a:xfrm>
          <a:prstGeom prst="rect">
            <a:avLst/>
          </a:prstGeom>
          <a:noFill/>
        </p:spPr>
        <p:txBody>
          <a:bodyPr wrap="none" rtlCol="0">
            <a:spAutoFit/>
          </a:bodyPr>
          <a:lstStyle/>
          <a:p>
            <a:r>
              <a:rPr lang="en-US" sz="1200" dirty="0"/>
              <a:t>LL_REG_OUT</a:t>
            </a:r>
          </a:p>
        </p:txBody>
      </p:sp>
      <p:cxnSp>
        <p:nvCxnSpPr>
          <p:cNvPr id="62" name="Elbow Connector 61"/>
          <p:cNvCxnSpPr/>
          <p:nvPr/>
        </p:nvCxnSpPr>
        <p:spPr>
          <a:xfrm>
            <a:off x="304800" y="35052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63" name="TextBox 62"/>
          <p:cNvSpPr txBox="1"/>
          <p:nvPr/>
        </p:nvSpPr>
        <p:spPr>
          <a:xfrm>
            <a:off x="1295400" y="3352800"/>
            <a:ext cx="1258486" cy="276999"/>
          </a:xfrm>
          <a:prstGeom prst="rect">
            <a:avLst/>
          </a:prstGeom>
          <a:noFill/>
        </p:spPr>
        <p:txBody>
          <a:bodyPr wrap="none" rtlCol="0">
            <a:spAutoFit/>
          </a:bodyPr>
          <a:lstStyle/>
          <a:p>
            <a:r>
              <a:rPr lang="en-US" sz="1200" dirty="0"/>
              <a:t>INDEX_REG_OUT</a:t>
            </a:r>
          </a:p>
        </p:txBody>
      </p:sp>
      <p:cxnSp>
        <p:nvCxnSpPr>
          <p:cNvPr id="64" name="Elbow Connector 63"/>
          <p:cNvCxnSpPr/>
          <p:nvPr/>
        </p:nvCxnSpPr>
        <p:spPr>
          <a:xfrm>
            <a:off x="304800" y="10668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65" name="TextBox 64"/>
          <p:cNvSpPr txBox="1"/>
          <p:nvPr/>
        </p:nvSpPr>
        <p:spPr>
          <a:xfrm>
            <a:off x="1295400" y="2286000"/>
            <a:ext cx="689612" cy="276999"/>
          </a:xfrm>
          <a:prstGeom prst="rect">
            <a:avLst/>
          </a:prstGeom>
          <a:noFill/>
        </p:spPr>
        <p:txBody>
          <a:bodyPr wrap="none" rtlCol="0">
            <a:spAutoFit/>
          </a:bodyPr>
          <a:lstStyle/>
          <a:p>
            <a:r>
              <a:rPr lang="en-US" sz="1200" dirty="0"/>
              <a:t>C8: CHA</a:t>
            </a:r>
          </a:p>
        </p:txBody>
      </p:sp>
      <p:cxnSp>
        <p:nvCxnSpPr>
          <p:cNvPr id="66" name="Elbow Connector 65"/>
          <p:cNvCxnSpPr/>
          <p:nvPr/>
        </p:nvCxnSpPr>
        <p:spPr>
          <a:xfrm>
            <a:off x="304800" y="24384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67" name="TextBox 66"/>
          <p:cNvSpPr txBox="1"/>
          <p:nvPr/>
        </p:nvSpPr>
        <p:spPr>
          <a:xfrm>
            <a:off x="1295400" y="2514600"/>
            <a:ext cx="683200" cy="276999"/>
          </a:xfrm>
          <a:prstGeom prst="rect">
            <a:avLst/>
          </a:prstGeom>
          <a:noFill/>
        </p:spPr>
        <p:txBody>
          <a:bodyPr wrap="none" rtlCol="0">
            <a:spAutoFit/>
          </a:bodyPr>
          <a:lstStyle/>
          <a:p>
            <a:r>
              <a:rPr lang="en-US" sz="1200" dirty="0"/>
              <a:t>C9: CHB</a:t>
            </a:r>
          </a:p>
        </p:txBody>
      </p:sp>
      <p:sp>
        <p:nvSpPr>
          <p:cNvPr id="68" name="TextBox 67"/>
          <p:cNvSpPr txBox="1"/>
          <p:nvPr/>
        </p:nvSpPr>
        <p:spPr>
          <a:xfrm>
            <a:off x="1295400" y="914400"/>
            <a:ext cx="585417" cy="276999"/>
          </a:xfrm>
          <a:prstGeom prst="rect">
            <a:avLst/>
          </a:prstGeom>
          <a:noFill/>
        </p:spPr>
        <p:txBody>
          <a:bodyPr wrap="none" rtlCol="0">
            <a:spAutoFit/>
          </a:bodyPr>
          <a:lstStyle/>
          <a:p>
            <a:r>
              <a:rPr lang="en-US" sz="1200" dirty="0"/>
              <a:t>C2: UL</a:t>
            </a:r>
          </a:p>
        </p:txBody>
      </p:sp>
      <p:cxnSp>
        <p:nvCxnSpPr>
          <p:cNvPr id="69" name="Elbow Connector 68"/>
          <p:cNvCxnSpPr/>
          <p:nvPr/>
        </p:nvCxnSpPr>
        <p:spPr>
          <a:xfrm>
            <a:off x="304800" y="26670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cxnSp>
        <p:nvCxnSpPr>
          <p:cNvPr id="70" name="Elbow Connector 69"/>
          <p:cNvCxnSpPr/>
          <p:nvPr/>
        </p:nvCxnSpPr>
        <p:spPr>
          <a:xfrm>
            <a:off x="2209800" y="2438400"/>
            <a:ext cx="562654" cy="1447800"/>
          </a:xfrm>
          <a:prstGeom prst="bentConnector3">
            <a:avLst>
              <a:gd name="adj1" fmla="val 174359"/>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a:off x="2212400" y="2299900"/>
            <a:ext cx="1101584" cy="338554"/>
          </a:xfrm>
          <a:prstGeom prst="rect">
            <a:avLst/>
          </a:prstGeom>
          <a:noFill/>
        </p:spPr>
        <p:txBody>
          <a:bodyPr wrap="none" rtlCol="0">
            <a:spAutoFit/>
          </a:bodyPr>
          <a:lstStyle/>
          <a:p>
            <a:r>
              <a:rPr lang="en-US" sz="800" dirty="0"/>
              <a:t>Map IO to encoder on</a:t>
            </a:r>
          </a:p>
          <a:p>
            <a:r>
              <a:rPr lang="en-US" sz="800" dirty="0"/>
              <a:t> card enable</a:t>
            </a:r>
          </a:p>
        </p:txBody>
      </p:sp>
      <p:cxnSp>
        <p:nvCxnSpPr>
          <p:cNvPr id="72" name="Straight Connector 71"/>
          <p:cNvCxnSpPr/>
          <p:nvPr/>
        </p:nvCxnSpPr>
        <p:spPr>
          <a:xfrm flipV="1">
            <a:off x="1219200" y="2895600"/>
            <a:ext cx="2133600" cy="1588"/>
          </a:xfrm>
          <a:prstGeom prst="line">
            <a:avLst/>
          </a:prstGeom>
        </p:spPr>
        <p:style>
          <a:lnRef idx="2">
            <a:schemeClr val="dk1"/>
          </a:lnRef>
          <a:fillRef idx="0">
            <a:schemeClr val="dk1"/>
          </a:fillRef>
          <a:effectRef idx="1">
            <a:schemeClr val="dk1"/>
          </a:effectRef>
          <a:fontRef idx="minor">
            <a:schemeClr val="tx1"/>
          </a:fontRef>
        </p:style>
      </p:cxnSp>
      <p:sp>
        <p:nvSpPr>
          <p:cNvPr id="81" name="TextBox 80"/>
          <p:cNvSpPr txBox="1"/>
          <p:nvPr/>
        </p:nvSpPr>
        <p:spPr>
          <a:xfrm>
            <a:off x="1295400" y="4038600"/>
            <a:ext cx="1218410" cy="276999"/>
          </a:xfrm>
          <a:prstGeom prst="rect">
            <a:avLst/>
          </a:prstGeom>
          <a:noFill/>
        </p:spPr>
        <p:txBody>
          <a:bodyPr wrap="none" rtlCol="0">
            <a:spAutoFit/>
          </a:bodyPr>
          <a:lstStyle/>
          <a:p>
            <a:r>
              <a:rPr lang="en-US" sz="1200" dirty="0"/>
              <a:t>PWM_REG_OUT</a:t>
            </a:r>
          </a:p>
        </p:txBody>
      </p:sp>
      <p:cxnSp>
        <p:nvCxnSpPr>
          <p:cNvPr id="82" name="Elbow Connector 81"/>
          <p:cNvCxnSpPr/>
          <p:nvPr/>
        </p:nvCxnSpPr>
        <p:spPr>
          <a:xfrm>
            <a:off x="304800" y="41910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83" name="TextBox 82"/>
          <p:cNvSpPr txBox="1"/>
          <p:nvPr/>
        </p:nvSpPr>
        <p:spPr>
          <a:xfrm>
            <a:off x="1295400" y="4267200"/>
            <a:ext cx="1078950" cy="276999"/>
          </a:xfrm>
          <a:prstGeom prst="rect">
            <a:avLst/>
          </a:prstGeom>
          <a:noFill/>
        </p:spPr>
        <p:txBody>
          <a:bodyPr wrap="none" rtlCol="0">
            <a:spAutoFit/>
          </a:bodyPr>
          <a:lstStyle/>
          <a:p>
            <a:r>
              <a:rPr lang="en-US" sz="1200" dirty="0"/>
              <a:t>PWM_REG_IN</a:t>
            </a:r>
          </a:p>
        </p:txBody>
      </p:sp>
      <p:cxnSp>
        <p:nvCxnSpPr>
          <p:cNvPr id="84" name="Elbow Connector 83"/>
          <p:cNvCxnSpPr/>
          <p:nvPr/>
        </p:nvCxnSpPr>
        <p:spPr>
          <a:xfrm>
            <a:off x="304800" y="44196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219200" y="457200"/>
            <a:ext cx="7391400" cy="6096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 name="Elbow Connector 6"/>
          <p:cNvCxnSpPr/>
          <p:nvPr/>
        </p:nvCxnSpPr>
        <p:spPr>
          <a:xfrm>
            <a:off x="304800" y="9906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8" name="TextBox 7"/>
          <p:cNvSpPr txBox="1"/>
          <p:nvPr/>
        </p:nvSpPr>
        <p:spPr>
          <a:xfrm>
            <a:off x="1295400" y="838200"/>
            <a:ext cx="468398" cy="276999"/>
          </a:xfrm>
          <a:prstGeom prst="rect">
            <a:avLst/>
          </a:prstGeom>
          <a:noFill/>
        </p:spPr>
        <p:txBody>
          <a:bodyPr wrap="none" rtlCol="0">
            <a:spAutoFit/>
          </a:bodyPr>
          <a:lstStyle/>
          <a:p>
            <a:r>
              <a:rPr lang="en-US" sz="1200" dirty="0"/>
              <a:t>C1: -</a:t>
            </a:r>
          </a:p>
        </p:txBody>
      </p:sp>
      <p:cxnSp>
        <p:nvCxnSpPr>
          <p:cNvPr id="9" name="Elbow Connector 8"/>
          <p:cNvCxnSpPr/>
          <p:nvPr/>
        </p:nvCxnSpPr>
        <p:spPr>
          <a:xfrm>
            <a:off x="304800" y="12192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10" name="TextBox 9"/>
          <p:cNvSpPr txBox="1"/>
          <p:nvPr/>
        </p:nvSpPr>
        <p:spPr>
          <a:xfrm>
            <a:off x="1295400" y="1752600"/>
            <a:ext cx="468398" cy="276999"/>
          </a:xfrm>
          <a:prstGeom prst="rect">
            <a:avLst/>
          </a:prstGeom>
          <a:noFill/>
        </p:spPr>
        <p:txBody>
          <a:bodyPr wrap="none" rtlCol="0">
            <a:spAutoFit/>
          </a:bodyPr>
          <a:lstStyle/>
          <a:p>
            <a:r>
              <a:rPr lang="en-US" sz="1200" dirty="0"/>
              <a:t>C5: -</a:t>
            </a:r>
          </a:p>
        </p:txBody>
      </p:sp>
      <p:cxnSp>
        <p:nvCxnSpPr>
          <p:cNvPr id="11" name="Elbow Connector 10"/>
          <p:cNvCxnSpPr/>
          <p:nvPr/>
        </p:nvCxnSpPr>
        <p:spPr>
          <a:xfrm>
            <a:off x="304800" y="14478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12" name="TextBox 11"/>
          <p:cNvSpPr txBox="1"/>
          <p:nvPr/>
        </p:nvSpPr>
        <p:spPr>
          <a:xfrm>
            <a:off x="1295400" y="2209800"/>
            <a:ext cx="1285929" cy="276999"/>
          </a:xfrm>
          <a:prstGeom prst="rect">
            <a:avLst/>
          </a:prstGeom>
          <a:noFill/>
        </p:spPr>
        <p:txBody>
          <a:bodyPr wrap="none" rtlCol="0">
            <a:spAutoFit/>
          </a:bodyPr>
          <a:lstStyle/>
          <a:p>
            <a:r>
              <a:rPr lang="en-US" sz="1200" dirty="0"/>
              <a:t>C7: LASER_CNTRL</a:t>
            </a:r>
          </a:p>
        </p:txBody>
      </p:sp>
      <p:sp>
        <p:nvSpPr>
          <p:cNvPr id="19" name="TextBox 18"/>
          <p:cNvSpPr txBox="1"/>
          <p:nvPr/>
        </p:nvSpPr>
        <p:spPr>
          <a:xfrm>
            <a:off x="152400" y="152400"/>
            <a:ext cx="1502142" cy="276999"/>
          </a:xfrm>
          <a:prstGeom prst="rect">
            <a:avLst/>
          </a:prstGeom>
        </p:spPr>
        <p:style>
          <a:lnRef idx="1">
            <a:schemeClr val="accent3"/>
          </a:lnRef>
          <a:fillRef idx="2">
            <a:schemeClr val="accent3"/>
          </a:fillRef>
          <a:effectRef idx="1">
            <a:schemeClr val="accent3"/>
          </a:effectRef>
          <a:fontRef idx="minor">
            <a:schemeClr val="dk1"/>
          </a:fontRef>
        </p:style>
        <p:txBody>
          <a:bodyPr wrap="none" rtlCol="0">
            <a:spAutoFit/>
          </a:bodyPr>
          <a:lstStyle/>
          <a:p>
            <a:r>
              <a:rPr lang="en-US" sz="1200" dirty="0"/>
              <a:t>AD5624 DAC Module</a:t>
            </a:r>
          </a:p>
        </p:txBody>
      </p:sp>
      <p:sp>
        <p:nvSpPr>
          <p:cNvPr id="25" name="TextBox 24"/>
          <p:cNvSpPr txBox="1"/>
          <p:nvPr/>
        </p:nvSpPr>
        <p:spPr>
          <a:xfrm>
            <a:off x="3505200" y="533400"/>
            <a:ext cx="475323" cy="276999"/>
          </a:xfrm>
          <a:prstGeom prst="rect">
            <a:avLst/>
          </a:prstGeom>
          <a:noFill/>
        </p:spPr>
        <p:txBody>
          <a:bodyPr wrap="none" rtlCol="0">
            <a:spAutoFit/>
          </a:bodyPr>
          <a:lstStyle/>
          <a:p>
            <a:r>
              <a:rPr lang="en-US" sz="1200" dirty="0"/>
              <a:t>Regs</a:t>
            </a:r>
          </a:p>
        </p:txBody>
      </p:sp>
      <p:sp>
        <p:nvSpPr>
          <p:cNvPr id="26" name="TextBox 25"/>
          <p:cNvSpPr txBox="1"/>
          <p:nvPr/>
        </p:nvSpPr>
        <p:spPr>
          <a:xfrm>
            <a:off x="3429000" y="838200"/>
            <a:ext cx="5029200" cy="1200329"/>
          </a:xfrm>
          <a:prstGeom prst="rect">
            <a:avLst/>
          </a:prstGeom>
          <a:noFill/>
        </p:spPr>
        <p:txBody>
          <a:bodyPr wrap="square" rtlCol="0">
            <a:spAutoFit/>
          </a:bodyPr>
          <a:lstStyle/>
          <a:p>
            <a:r>
              <a:rPr lang="en-US" sz="1200" dirty="0"/>
              <a:t>[SET]</a:t>
            </a:r>
          </a:p>
          <a:p>
            <a:r>
              <a:rPr lang="en-US" sz="1200" dirty="0"/>
              <a:t>AD5624_ENABLE: 1 enbled, 0 disabled ( connects IO to other modules when enabled  or tri-states if disabled)</a:t>
            </a:r>
          </a:p>
          <a:p>
            <a:r>
              <a:rPr lang="en-US" sz="1200" dirty="0"/>
              <a:t>AD5624_ LASER_CNTRL : 1 enabled, 0 disabled</a:t>
            </a:r>
          </a:p>
          <a:p>
            <a:r>
              <a:rPr lang="en-US" sz="1200" dirty="0"/>
              <a:t>AD5624_ IPG_B_REFL : 1 enabled, 0 disabled</a:t>
            </a:r>
          </a:p>
          <a:p>
            <a:endParaRPr lang="en-US" sz="1200" dirty="0"/>
          </a:p>
        </p:txBody>
      </p:sp>
      <p:cxnSp>
        <p:nvCxnSpPr>
          <p:cNvPr id="28" name="Straight Connector 27"/>
          <p:cNvCxnSpPr/>
          <p:nvPr/>
        </p:nvCxnSpPr>
        <p:spPr>
          <a:xfrm rot="5400000">
            <a:off x="304800" y="3505200"/>
            <a:ext cx="6096794" cy="794"/>
          </a:xfrm>
          <a:prstGeom prst="line">
            <a:avLst/>
          </a:prstGeom>
        </p:spPr>
        <p:style>
          <a:lnRef idx="1">
            <a:schemeClr val="dk1"/>
          </a:lnRef>
          <a:fillRef idx="0">
            <a:schemeClr val="dk1"/>
          </a:fillRef>
          <a:effectRef idx="0">
            <a:schemeClr val="dk1"/>
          </a:effectRef>
          <a:fontRef idx="minor">
            <a:schemeClr val="tx1"/>
          </a:fontRef>
        </p:style>
      </p:cxnSp>
      <p:sp>
        <p:nvSpPr>
          <p:cNvPr id="22" name="TextBox 21"/>
          <p:cNvSpPr txBox="1"/>
          <p:nvPr/>
        </p:nvSpPr>
        <p:spPr>
          <a:xfrm>
            <a:off x="1828800" y="457200"/>
            <a:ext cx="857607" cy="276999"/>
          </a:xfrm>
          <a:prstGeom prst="rect">
            <a:avLst/>
          </a:prstGeom>
          <a:noFill/>
        </p:spPr>
        <p:txBody>
          <a:bodyPr wrap="none" rtlCol="0">
            <a:spAutoFit/>
          </a:bodyPr>
          <a:lstStyle/>
          <a:p>
            <a:r>
              <a:rPr lang="en-US" sz="1200" dirty="0"/>
              <a:t>IO’s to Slot</a:t>
            </a:r>
          </a:p>
        </p:txBody>
      </p:sp>
      <p:cxnSp>
        <p:nvCxnSpPr>
          <p:cNvPr id="29" name="Straight Connector 28"/>
          <p:cNvCxnSpPr/>
          <p:nvPr/>
        </p:nvCxnSpPr>
        <p:spPr>
          <a:xfrm>
            <a:off x="3352800" y="5638800"/>
            <a:ext cx="5257800" cy="1588"/>
          </a:xfrm>
          <a:prstGeom prst="line">
            <a:avLst/>
          </a:prstGeom>
        </p:spPr>
        <p:style>
          <a:lnRef idx="2">
            <a:schemeClr val="dk1"/>
          </a:lnRef>
          <a:fillRef idx="0">
            <a:schemeClr val="dk1"/>
          </a:fillRef>
          <a:effectRef idx="1">
            <a:schemeClr val="dk1"/>
          </a:effectRef>
          <a:fontRef idx="minor">
            <a:schemeClr val="tx1"/>
          </a:fontRef>
        </p:style>
      </p:cxnSp>
      <p:sp>
        <p:nvSpPr>
          <p:cNvPr id="16" name="TextBox 15"/>
          <p:cNvSpPr txBox="1"/>
          <p:nvPr/>
        </p:nvSpPr>
        <p:spPr>
          <a:xfrm>
            <a:off x="1219200" y="6096000"/>
            <a:ext cx="1218603" cy="276999"/>
          </a:xfrm>
          <a:prstGeom prst="rect">
            <a:avLst/>
          </a:prstGeom>
          <a:noFill/>
        </p:spPr>
        <p:txBody>
          <a:bodyPr wrap="none" rtlCol="0">
            <a:spAutoFit/>
          </a:bodyPr>
          <a:lstStyle/>
          <a:p>
            <a:r>
              <a:rPr lang="en-US" sz="1200" dirty="0"/>
              <a:t>CLK_48MHz_PLL</a:t>
            </a:r>
          </a:p>
        </p:txBody>
      </p:sp>
      <p:sp>
        <p:nvSpPr>
          <p:cNvPr id="17" name="TextBox 16"/>
          <p:cNvSpPr txBox="1"/>
          <p:nvPr/>
        </p:nvSpPr>
        <p:spPr>
          <a:xfrm>
            <a:off x="1676400" y="5791200"/>
            <a:ext cx="833946" cy="276999"/>
          </a:xfrm>
          <a:prstGeom prst="rect">
            <a:avLst/>
          </a:prstGeom>
          <a:noFill/>
        </p:spPr>
        <p:txBody>
          <a:bodyPr wrap="none" rtlCol="0">
            <a:spAutoFit/>
          </a:bodyPr>
          <a:lstStyle/>
          <a:p>
            <a:r>
              <a:rPr lang="en-US" sz="1200"/>
              <a:t>CLOCKS IN</a:t>
            </a:r>
            <a:endParaRPr lang="en-US" sz="1200" dirty="0"/>
          </a:p>
        </p:txBody>
      </p:sp>
      <p:cxnSp>
        <p:nvCxnSpPr>
          <p:cNvPr id="18" name="Straight Connector 17"/>
          <p:cNvCxnSpPr/>
          <p:nvPr/>
        </p:nvCxnSpPr>
        <p:spPr>
          <a:xfrm flipV="1">
            <a:off x="1219200" y="5638800"/>
            <a:ext cx="2133600" cy="1588"/>
          </a:xfrm>
          <a:prstGeom prst="line">
            <a:avLst/>
          </a:prstGeom>
        </p:spPr>
        <p:style>
          <a:lnRef idx="2">
            <a:schemeClr val="dk1"/>
          </a:lnRef>
          <a:fillRef idx="0">
            <a:schemeClr val="dk1"/>
          </a:fillRef>
          <a:effectRef idx="1">
            <a:schemeClr val="dk1"/>
          </a:effectRef>
          <a:fontRef idx="minor">
            <a:schemeClr val="tx1"/>
          </a:fontRef>
        </p:style>
      </p:cxnSp>
      <p:cxnSp>
        <p:nvCxnSpPr>
          <p:cNvPr id="20" name="Elbow Connector 19"/>
          <p:cNvCxnSpPr/>
          <p:nvPr/>
        </p:nvCxnSpPr>
        <p:spPr>
          <a:xfrm>
            <a:off x="304800" y="62484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cxnSp>
        <p:nvCxnSpPr>
          <p:cNvPr id="32" name="Elbow Connector 31"/>
          <p:cNvCxnSpPr/>
          <p:nvPr/>
        </p:nvCxnSpPr>
        <p:spPr>
          <a:xfrm>
            <a:off x="304800" y="33528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cxnSp>
        <p:nvCxnSpPr>
          <p:cNvPr id="38" name="Elbow Connector 37"/>
          <p:cNvCxnSpPr/>
          <p:nvPr/>
        </p:nvCxnSpPr>
        <p:spPr>
          <a:xfrm>
            <a:off x="304800" y="23622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39" name="TextBox 38"/>
          <p:cNvSpPr txBox="1"/>
          <p:nvPr/>
        </p:nvSpPr>
        <p:spPr>
          <a:xfrm>
            <a:off x="1295400" y="2438400"/>
            <a:ext cx="468398" cy="276999"/>
          </a:xfrm>
          <a:prstGeom prst="rect">
            <a:avLst/>
          </a:prstGeom>
          <a:noFill/>
        </p:spPr>
        <p:txBody>
          <a:bodyPr wrap="none" rtlCol="0">
            <a:spAutoFit/>
          </a:bodyPr>
          <a:lstStyle/>
          <a:p>
            <a:r>
              <a:rPr lang="en-US" sz="1200" dirty="0"/>
              <a:t>C8: -</a:t>
            </a:r>
          </a:p>
        </p:txBody>
      </p:sp>
      <p:cxnSp>
        <p:nvCxnSpPr>
          <p:cNvPr id="40" name="Elbow Connector 39"/>
          <p:cNvCxnSpPr/>
          <p:nvPr/>
        </p:nvCxnSpPr>
        <p:spPr>
          <a:xfrm>
            <a:off x="304800" y="25908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41" name="TextBox 40"/>
          <p:cNvSpPr txBox="1"/>
          <p:nvPr/>
        </p:nvSpPr>
        <p:spPr>
          <a:xfrm>
            <a:off x="1295400" y="2667000"/>
            <a:ext cx="1168910" cy="276999"/>
          </a:xfrm>
          <a:prstGeom prst="rect">
            <a:avLst/>
          </a:prstGeom>
          <a:noFill/>
        </p:spPr>
        <p:txBody>
          <a:bodyPr wrap="none" rtlCol="0">
            <a:spAutoFit/>
          </a:bodyPr>
          <a:lstStyle/>
          <a:p>
            <a:r>
              <a:rPr lang="en-US" sz="1200" dirty="0"/>
              <a:t>C9: IPG_B_REFL</a:t>
            </a:r>
          </a:p>
        </p:txBody>
      </p:sp>
      <p:cxnSp>
        <p:nvCxnSpPr>
          <p:cNvPr id="42" name="Elbow Connector 41"/>
          <p:cNvCxnSpPr/>
          <p:nvPr/>
        </p:nvCxnSpPr>
        <p:spPr>
          <a:xfrm>
            <a:off x="304800" y="16764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43" name="TextBox 42"/>
          <p:cNvSpPr txBox="1"/>
          <p:nvPr/>
        </p:nvSpPr>
        <p:spPr>
          <a:xfrm>
            <a:off x="1295400" y="1066800"/>
            <a:ext cx="468398" cy="276999"/>
          </a:xfrm>
          <a:prstGeom prst="rect">
            <a:avLst/>
          </a:prstGeom>
          <a:noFill/>
        </p:spPr>
        <p:txBody>
          <a:bodyPr wrap="none" rtlCol="0">
            <a:spAutoFit/>
          </a:bodyPr>
          <a:lstStyle/>
          <a:p>
            <a:r>
              <a:rPr lang="en-US" sz="1200" dirty="0"/>
              <a:t>C2: -</a:t>
            </a:r>
          </a:p>
        </p:txBody>
      </p:sp>
      <p:cxnSp>
        <p:nvCxnSpPr>
          <p:cNvPr id="44" name="Elbow Connector 43"/>
          <p:cNvCxnSpPr/>
          <p:nvPr/>
        </p:nvCxnSpPr>
        <p:spPr>
          <a:xfrm>
            <a:off x="304800" y="19050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45" name="TextBox 44"/>
          <p:cNvSpPr txBox="1"/>
          <p:nvPr/>
        </p:nvSpPr>
        <p:spPr>
          <a:xfrm>
            <a:off x="1295400" y="1295400"/>
            <a:ext cx="468398" cy="276999"/>
          </a:xfrm>
          <a:prstGeom prst="rect">
            <a:avLst/>
          </a:prstGeom>
          <a:noFill/>
        </p:spPr>
        <p:txBody>
          <a:bodyPr wrap="none" rtlCol="0">
            <a:spAutoFit/>
          </a:bodyPr>
          <a:lstStyle/>
          <a:p>
            <a:r>
              <a:rPr lang="en-US" sz="1200" dirty="0"/>
              <a:t>C3: -</a:t>
            </a:r>
          </a:p>
        </p:txBody>
      </p:sp>
      <p:cxnSp>
        <p:nvCxnSpPr>
          <p:cNvPr id="46" name="Elbow Connector 45"/>
          <p:cNvCxnSpPr/>
          <p:nvPr/>
        </p:nvCxnSpPr>
        <p:spPr>
          <a:xfrm>
            <a:off x="304800" y="2133600"/>
            <a:ext cx="914400" cy="1588"/>
          </a:xfrm>
          <a:prstGeom prst="bentConnector3">
            <a:avLst>
              <a:gd name="adj1" fmla="val 38679"/>
            </a:avLst>
          </a:prstGeom>
          <a:ln>
            <a:tailEnd type="arrow"/>
          </a:ln>
        </p:spPr>
        <p:style>
          <a:lnRef idx="2">
            <a:schemeClr val="dk1"/>
          </a:lnRef>
          <a:fillRef idx="0">
            <a:schemeClr val="dk1"/>
          </a:fillRef>
          <a:effectRef idx="1">
            <a:schemeClr val="dk1"/>
          </a:effectRef>
          <a:fontRef idx="minor">
            <a:schemeClr val="tx1"/>
          </a:fontRef>
        </p:style>
      </p:cxnSp>
      <p:sp>
        <p:nvSpPr>
          <p:cNvPr id="47" name="TextBox 46"/>
          <p:cNvSpPr txBox="1"/>
          <p:nvPr/>
        </p:nvSpPr>
        <p:spPr>
          <a:xfrm>
            <a:off x="1295400" y="1524000"/>
            <a:ext cx="468398" cy="276999"/>
          </a:xfrm>
          <a:prstGeom prst="rect">
            <a:avLst/>
          </a:prstGeom>
          <a:noFill/>
        </p:spPr>
        <p:txBody>
          <a:bodyPr wrap="none" rtlCol="0">
            <a:spAutoFit/>
          </a:bodyPr>
          <a:lstStyle/>
          <a:p>
            <a:r>
              <a:rPr lang="en-US" sz="1200" dirty="0"/>
              <a:t>C4: -</a:t>
            </a:r>
          </a:p>
        </p:txBody>
      </p:sp>
      <p:sp>
        <p:nvSpPr>
          <p:cNvPr id="49" name="TextBox 48"/>
          <p:cNvSpPr txBox="1"/>
          <p:nvPr/>
        </p:nvSpPr>
        <p:spPr>
          <a:xfrm>
            <a:off x="1295400" y="1981200"/>
            <a:ext cx="468398" cy="276999"/>
          </a:xfrm>
          <a:prstGeom prst="rect">
            <a:avLst/>
          </a:prstGeom>
          <a:noFill/>
        </p:spPr>
        <p:txBody>
          <a:bodyPr wrap="none" rtlCol="0">
            <a:spAutoFit/>
          </a:bodyPr>
          <a:lstStyle/>
          <a:p>
            <a:r>
              <a:rPr lang="en-US" sz="1200" dirty="0"/>
              <a:t>C6: -</a:t>
            </a:r>
          </a:p>
        </p:txBody>
      </p:sp>
      <p:cxnSp>
        <p:nvCxnSpPr>
          <p:cNvPr id="50" name="Elbow Connector 49"/>
          <p:cNvCxnSpPr/>
          <p:nvPr/>
        </p:nvCxnSpPr>
        <p:spPr>
          <a:xfrm>
            <a:off x="304800" y="28194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cxnSp>
        <p:nvCxnSpPr>
          <p:cNvPr id="65" name="Straight Connector 64"/>
          <p:cNvCxnSpPr/>
          <p:nvPr/>
        </p:nvCxnSpPr>
        <p:spPr>
          <a:xfrm flipV="1">
            <a:off x="1219200" y="3124200"/>
            <a:ext cx="2133600" cy="1588"/>
          </a:xfrm>
          <a:prstGeom prst="line">
            <a:avLst/>
          </a:prstGeom>
        </p:spPr>
        <p:style>
          <a:lnRef idx="2">
            <a:schemeClr val="dk1"/>
          </a:lnRef>
          <a:fillRef idx="0">
            <a:schemeClr val="dk1"/>
          </a:fillRef>
          <a:effectRef idx="1">
            <a:schemeClr val="dk1"/>
          </a:effectRef>
          <a:fontRef idx="minor">
            <a:schemeClr val="tx1"/>
          </a:fontRef>
        </p:style>
      </p:cxnSp>
      <p:sp>
        <p:nvSpPr>
          <p:cNvPr id="48" name="TextBox 47"/>
          <p:cNvSpPr txBox="1"/>
          <p:nvPr/>
        </p:nvSpPr>
        <p:spPr>
          <a:xfrm>
            <a:off x="1295400" y="3200400"/>
            <a:ext cx="903261" cy="276999"/>
          </a:xfrm>
          <a:prstGeom prst="rect">
            <a:avLst/>
          </a:prstGeom>
          <a:noFill/>
        </p:spPr>
        <p:txBody>
          <a:bodyPr wrap="none" rtlCol="0">
            <a:spAutoFit/>
          </a:bodyPr>
          <a:lstStyle/>
          <a:p>
            <a:r>
              <a:rPr lang="en-US" sz="1200" dirty="0"/>
              <a:t>CSX_1_REG</a:t>
            </a:r>
          </a:p>
        </p:txBody>
      </p:sp>
      <p:sp>
        <p:nvSpPr>
          <p:cNvPr id="53" name="TextBox 52"/>
          <p:cNvSpPr txBox="1"/>
          <p:nvPr/>
        </p:nvSpPr>
        <p:spPr>
          <a:xfrm>
            <a:off x="1981200" y="838200"/>
            <a:ext cx="1101584" cy="215444"/>
          </a:xfrm>
          <a:prstGeom prst="rect">
            <a:avLst/>
          </a:prstGeom>
          <a:noFill/>
        </p:spPr>
        <p:txBody>
          <a:bodyPr wrap="square" rtlCol="0">
            <a:spAutoFit/>
          </a:bodyPr>
          <a:lstStyle/>
          <a:p>
            <a:r>
              <a:rPr lang="en-US" sz="800" dirty="0"/>
              <a:t>Map IO to chip select</a:t>
            </a:r>
          </a:p>
        </p:txBody>
      </p:sp>
      <p:cxnSp>
        <p:nvCxnSpPr>
          <p:cNvPr id="56" name="Elbow Connector 55"/>
          <p:cNvCxnSpPr/>
          <p:nvPr/>
        </p:nvCxnSpPr>
        <p:spPr>
          <a:xfrm>
            <a:off x="304800" y="7620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57" name="TextBox 56"/>
          <p:cNvSpPr txBox="1"/>
          <p:nvPr/>
        </p:nvSpPr>
        <p:spPr>
          <a:xfrm>
            <a:off x="1295400" y="609600"/>
            <a:ext cx="574196" cy="276999"/>
          </a:xfrm>
          <a:prstGeom prst="rect">
            <a:avLst/>
          </a:prstGeom>
          <a:noFill/>
        </p:spPr>
        <p:txBody>
          <a:bodyPr wrap="none" rtlCol="0">
            <a:spAutoFit/>
          </a:bodyPr>
          <a:lstStyle/>
          <a:p>
            <a:r>
              <a:rPr lang="en-US" sz="1200" dirty="0"/>
              <a:t>C0: CS</a:t>
            </a:r>
          </a:p>
        </p:txBody>
      </p:sp>
      <p:cxnSp>
        <p:nvCxnSpPr>
          <p:cNvPr id="61" name="Elbow Connector 60"/>
          <p:cNvCxnSpPr>
            <a:stCxn id="57" idx="3"/>
            <a:endCxn id="48" idx="3"/>
          </p:cNvCxnSpPr>
          <p:nvPr/>
        </p:nvCxnSpPr>
        <p:spPr>
          <a:xfrm>
            <a:off x="1869596" y="748100"/>
            <a:ext cx="329065" cy="2590800"/>
          </a:xfrm>
          <a:prstGeom prst="bentConnector3">
            <a:avLst>
              <a:gd name="adj1" fmla="val 169470"/>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64" name="TextBox 63"/>
          <p:cNvSpPr txBox="1"/>
          <p:nvPr/>
        </p:nvSpPr>
        <p:spPr>
          <a:xfrm>
            <a:off x="1828800" y="152400"/>
            <a:ext cx="6781800" cy="276999"/>
          </a:xfrm>
          <a:prstGeom prst="rect">
            <a:avLst/>
          </a:prstGeom>
          <a:noFill/>
        </p:spPr>
        <p:txBody>
          <a:bodyPr wrap="square" rtlCol="0">
            <a:spAutoFit/>
          </a:bodyPr>
          <a:lstStyle/>
          <a:p>
            <a:r>
              <a:rPr lang="en-US" sz="1200" dirty="0"/>
              <a:t>On OTM 41-0094 only on slot 4</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219200" y="457200"/>
            <a:ext cx="7391400" cy="6096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 name="Elbow Connector 6"/>
          <p:cNvCxnSpPr/>
          <p:nvPr/>
        </p:nvCxnSpPr>
        <p:spPr>
          <a:xfrm>
            <a:off x="304800" y="9906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8" name="TextBox 7"/>
          <p:cNvSpPr txBox="1"/>
          <p:nvPr/>
        </p:nvSpPr>
        <p:spPr>
          <a:xfrm>
            <a:off x="1295400" y="838200"/>
            <a:ext cx="1143518" cy="276999"/>
          </a:xfrm>
          <a:prstGeom prst="rect">
            <a:avLst/>
          </a:prstGeom>
          <a:noFill/>
        </p:spPr>
        <p:txBody>
          <a:bodyPr wrap="none" rtlCol="0">
            <a:spAutoFit/>
          </a:bodyPr>
          <a:lstStyle/>
          <a:p>
            <a:r>
              <a:rPr lang="en-US" sz="1200" dirty="0"/>
              <a:t>C1: VERT_SYNC</a:t>
            </a:r>
          </a:p>
        </p:txBody>
      </p:sp>
      <p:cxnSp>
        <p:nvCxnSpPr>
          <p:cNvPr id="9" name="Elbow Connector 8"/>
          <p:cNvCxnSpPr/>
          <p:nvPr/>
        </p:nvCxnSpPr>
        <p:spPr>
          <a:xfrm>
            <a:off x="304800" y="12192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10" name="TextBox 9"/>
          <p:cNvSpPr txBox="1"/>
          <p:nvPr/>
        </p:nvSpPr>
        <p:spPr>
          <a:xfrm>
            <a:off x="1295400" y="1752600"/>
            <a:ext cx="670761" cy="276999"/>
          </a:xfrm>
          <a:prstGeom prst="rect">
            <a:avLst/>
          </a:prstGeom>
          <a:noFill/>
        </p:spPr>
        <p:txBody>
          <a:bodyPr wrap="none" rtlCol="0">
            <a:spAutoFit/>
          </a:bodyPr>
          <a:lstStyle/>
          <a:p>
            <a:r>
              <a:rPr lang="en-US" sz="1200" dirty="0"/>
              <a:t>C5: TGP</a:t>
            </a:r>
          </a:p>
        </p:txBody>
      </p:sp>
      <p:cxnSp>
        <p:nvCxnSpPr>
          <p:cNvPr id="11" name="Elbow Connector 10"/>
          <p:cNvCxnSpPr/>
          <p:nvPr/>
        </p:nvCxnSpPr>
        <p:spPr>
          <a:xfrm>
            <a:off x="304800" y="14478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12" name="TextBox 11"/>
          <p:cNvSpPr txBox="1"/>
          <p:nvPr/>
        </p:nvSpPr>
        <p:spPr>
          <a:xfrm>
            <a:off x="1295400" y="2209800"/>
            <a:ext cx="809837" cy="276999"/>
          </a:xfrm>
          <a:prstGeom prst="rect">
            <a:avLst/>
          </a:prstGeom>
          <a:noFill/>
        </p:spPr>
        <p:txBody>
          <a:bodyPr wrap="none" rtlCol="0">
            <a:spAutoFit/>
          </a:bodyPr>
          <a:lstStyle/>
          <a:p>
            <a:r>
              <a:rPr lang="en-US" sz="1200" dirty="0"/>
              <a:t>C7: CS_LD</a:t>
            </a:r>
          </a:p>
        </p:txBody>
      </p:sp>
      <p:sp>
        <p:nvSpPr>
          <p:cNvPr id="19" name="TextBox 18"/>
          <p:cNvSpPr txBox="1"/>
          <p:nvPr/>
        </p:nvSpPr>
        <p:spPr>
          <a:xfrm>
            <a:off x="152400" y="152400"/>
            <a:ext cx="1423403" cy="276999"/>
          </a:xfrm>
          <a:prstGeom prst="rect">
            <a:avLst/>
          </a:prstGeom>
        </p:spPr>
        <p:style>
          <a:lnRef idx="1">
            <a:schemeClr val="accent3"/>
          </a:lnRef>
          <a:fillRef idx="2">
            <a:schemeClr val="accent3"/>
          </a:fillRef>
          <a:effectRef idx="1">
            <a:schemeClr val="accent3"/>
          </a:effectRef>
          <a:fontRef idx="minor">
            <a:schemeClr val="dk1"/>
          </a:fontRef>
        </p:style>
        <p:txBody>
          <a:bodyPr wrap="none" rtlCol="0">
            <a:spAutoFit/>
          </a:bodyPr>
          <a:lstStyle/>
          <a:p>
            <a:r>
              <a:rPr lang="en-US" sz="1200" dirty="0"/>
              <a:t>QUAD  DAC Module</a:t>
            </a:r>
          </a:p>
        </p:txBody>
      </p:sp>
      <p:sp>
        <p:nvSpPr>
          <p:cNvPr id="25" name="TextBox 24"/>
          <p:cNvSpPr txBox="1"/>
          <p:nvPr/>
        </p:nvSpPr>
        <p:spPr>
          <a:xfrm>
            <a:off x="3505200" y="457200"/>
            <a:ext cx="475323" cy="276999"/>
          </a:xfrm>
          <a:prstGeom prst="rect">
            <a:avLst/>
          </a:prstGeom>
          <a:noFill/>
        </p:spPr>
        <p:txBody>
          <a:bodyPr wrap="none" rtlCol="0">
            <a:spAutoFit/>
          </a:bodyPr>
          <a:lstStyle/>
          <a:p>
            <a:r>
              <a:rPr lang="en-US" sz="1200" dirty="0"/>
              <a:t>Regs</a:t>
            </a:r>
          </a:p>
        </p:txBody>
      </p:sp>
      <p:sp>
        <p:nvSpPr>
          <p:cNvPr id="26" name="TextBox 25"/>
          <p:cNvSpPr txBox="1"/>
          <p:nvPr/>
        </p:nvSpPr>
        <p:spPr>
          <a:xfrm>
            <a:off x="3429000" y="838200"/>
            <a:ext cx="5029200" cy="3600986"/>
          </a:xfrm>
          <a:prstGeom prst="rect">
            <a:avLst/>
          </a:prstGeom>
          <a:noFill/>
        </p:spPr>
        <p:txBody>
          <a:bodyPr wrap="square" rtlCol="0">
            <a:spAutoFit/>
          </a:bodyPr>
          <a:lstStyle/>
          <a:p>
            <a:r>
              <a:rPr lang="en-US" sz="1200" dirty="0"/>
              <a:t>[SET]</a:t>
            </a:r>
          </a:p>
          <a:p>
            <a:r>
              <a:rPr lang="en-US" sz="1200" dirty="0"/>
              <a:t>AD5624_ENABLE: 1 enbled, 0 disabled ( connects IO to other modules when enabled  or tri-states if disabled)</a:t>
            </a:r>
          </a:p>
          <a:p>
            <a:r>
              <a:rPr lang="en-US" sz="1200" dirty="0"/>
              <a:t>AD5624_ LASER_CNTRL : 1 enabled, 0 disabled</a:t>
            </a:r>
          </a:p>
          <a:p>
            <a:r>
              <a:rPr lang="en-US" sz="1200" dirty="0"/>
              <a:t>AD5624_ IPG_B_REFL : 1 enabled, 0 disabled</a:t>
            </a:r>
          </a:p>
          <a:p>
            <a:r>
              <a:rPr lang="en-US" sz="1200" dirty="0"/>
              <a:t>AD5624_CLEAR_RAM :  (92Kbits or 11.5k bytes of EBR SRAM)</a:t>
            </a:r>
          </a:p>
          <a:p>
            <a:r>
              <a:rPr lang="en-US" sz="1200" dirty="0"/>
              <a:t>AD5624_WRITE_RAM : </a:t>
            </a:r>
          </a:p>
          <a:p>
            <a:r>
              <a:rPr lang="en-US" sz="1200" dirty="0"/>
              <a:t>AD5624_SCAN_RATE: 32bit </a:t>
            </a:r>
          </a:p>
          <a:p>
            <a:r>
              <a:rPr lang="en-US" sz="1200" dirty="0"/>
              <a:t>AD5624_CNTRL_MODE:  0 direct, 1 EBR lookup</a:t>
            </a:r>
          </a:p>
          <a:p>
            <a:endParaRPr lang="en-US" sz="1200" dirty="0"/>
          </a:p>
          <a:p>
            <a:endParaRPr lang="en-US" sz="1200" dirty="0"/>
          </a:p>
          <a:p>
            <a:endParaRPr lang="en-US" sz="1200" dirty="0"/>
          </a:p>
          <a:p>
            <a:r>
              <a:rPr lang="en-US" sz="1200" dirty="0" err="1"/>
              <a:t>Galvo</a:t>
            </a:r>
            <a:r>
              <a:rPr lang="en-US" sz="1200" dirty="0"/>
              <a:t> Pattern:</a:t>
            </a:r>
          </a:p>
          <a:p>
            <a:pPr>
              <a:buFont typeface="Arial" pitchFamily="34" charset="0"/>
              <a:buChar char="•"/>
            </a:pPr>
            <a:r>
              <a:rPr lang="en-US" sz="1200" dirty="0"/>
              <a:t> 1024 x 1024 resolution on screen  x 16 bit value for DAC</a:t>
            </a:r>
          </a:p>
          <a:p>
            <a:pPr>
              <a:buFont typeface="Arial" pitchFamily="34" charset="0"/>
              <a:buChar char="•"/>
            </a:pPr>
            <a:r>
              <a:rPr lang="en-US" sz="1200" dirty="0"/>
              <a:t> Start / stop vectors per line are calculated on PC and sent down to </a:t>
            </a:r>
            <a:r>
              <a:rPr lang="en-US" sz="1200" dirty="0" err="1"/>
              <a:t>uC</a:t>
            </a:r>
            <a:r>
              <a:rPr lang="en-US" sz="1200" dirty="0"/>
              <a:t> through USB, then the data is loaded to EBR through SPI from the </a:t>
            </a:r>
            <a:r>
              <a:rPr lang="en-US" sz="1200" dirty="0" err="1"/>
              <a:t>uC</a:t>
            </a:r>
            <a:r>
              <a:rPr lang="en-US" sz="1200" dirty="0"/>
              <a:t> to CPLD</a:t>
            </a:r>
          </a:p>
          <a:p>
            <a:pPr>
              <a:buFont typeface="Arial" pitchFamily="34" charset="0"/>
              <a:buChar char="•"/>
            </a:pPr>
            <a:r>
              <a:rPr lang="en-US" sz="1200" dirty="0"/>
              <a:t> RAM required: 1024 (lines) x 2 (bytes start) x 2 (bytes end) = 4,096 bytes</a:t>
            </a:r>
          </a:p>
          <a:p>
            <a:pPr>
              <a:buFont typeface="Arial" pitchFamily="34" charset="0"/>
              <a:buChar char="•"/>
            </a:pPr>
            <a:r>
              <a:rPr lang="en-US" sz="1200" dirty="0"/>
              <a:t> Paths are calculated in CPLD to provide linear scans with fastest turnaround time possible </a:t>
            </a:r>
          </a:p>
        </p:txBody>
      </p:sp>
      <p:cxnSp>
        <p:nvCxnSpPr>
          <p:cNvPr id="28" name="Straight Connector 27"/>
          <p:cNvCxnSpPr/>
          <p:nvPr/>
        </p:nvCxnSpPr>
        <p:spPr>
          <a:xfrm rot="5400000">
            <a:off x="304800" y="3505200"/>
            <a:ext cx="6096794" cy="794"/>
          </a:xfrm>
          <a:prstGeom prst="line">
            <a:avLst/>
          </a:prstGeom>
        </p:spPr>
        <p:style>
          <a:lnRef idx="1">
            <a:schemeClr val="dk1"/>
          </a:lnRef>
          <a:fillRef idx="0">
            <a:schemeClr val="dk1"/>
          </a:fillRef>
          <a:effectRef idx="0">
            <a:schemeClr val="dk1"/>
          </a:effectRef>
          <a:fontRef idx="minor">
            <a:schemeClr val="tx1"/>
          </a:fontRef>
        </p:style>
      </p:cxnSp>
      <p:sp>
        <p:nvSpPr>
          <p:cNvPr id="22" name="TextBox 21"/>
          <p:cNvSpPr txBox="1"/>
          <p:nvPr/>
        </p:nvSpPr>
        <p:spPr>
          <a:xfrm>
            <a:off x="2133600" y="457200"/>
            <a:ext cx="857607" cy="276999"/>
          </a:xfrm>
          <a:prstGeom prst="rect">
            <a:avLst/>
          </a:prstGeom>
          <a:noFill/>
        </p:spPr>
        <p:txBody>
          <a:bodyPr wrap="none" rtlCol="0">
            <a:spAutoFit/>
          </a:bodyPr>
          <a:lstStyle/>
          <a:p>
            <a:r>
              <a:rPr lang="en-US" sz="1200" dirty="0"/>
              <a:t>IO’s to Slot</a:t>
            </a:r>
          </a:p>
        </p:txBody>
      </p:sp>
      <p:cxnSp>
        <p:nvCxnSpPr>
          <p:cNvPr id="29" name="Straight Connector 28"/>
          <p:cNvCxnSpPr/>
          <p:nvPr/>
        </p:nvCxnSpPr>
        <p:spPr>
          <a:xfrm>
            <a:off x="3352800" y="5638800"/>
            <a:ext cx="5257800" cy="1588"/>
          </a:xfrm>
          <a:prstGeom prst="line">
            <a:avLst/>
          </a:prstGeom>
        </p:spPr>
        <p:style>
          <a:lnRef idx="2">
            <a:schemeClr val="dk1"/>
          </a:lnRef>
          <a:fillRef idx="0">
            <a:schemeClr val="dk1"/>
          </a:fillRef>
          <a:effectRef idx="1">
            <a:schemeClr val="dk1"/>
          </a:effectRef>
          <a:fontRef idx="minor">
            <a:schemeClr val="tx1"/>
          </a:fontRef>
        </p:style>
      </p:cxnSp>
      <p:sp>
        <p:nvSpPr>
          <p:cNvPr id="16" name="TextBox 15"/>
          <p:cNvSpPr txBox="1"/>
          <p:nvPr/>
        </p:nvSpPr>
        <p:spPr>
          <a:xfrm>
            <a:off x="1219200" y="6096000"/>
            <a:ext cx="1218603" cy="276999"/>
          </a:xfrm>
          <a:prstGeom prst="rect">
            <a:avLst/>
          </a:prstGeom>
          <a:noFill/>
        </p:spPr>
        <p:txBody>
          <a:bodyPr wrap="none" rtlCol="0">
            <a:spAutoFit/>
          </a:bodyPr>
          <a:lstStyle/>
          <a:p>
            <a:r>
              <a:rPr lang="en-US" sz="1200" dirty="0"/>
              <a:t>CLK_48MHz_PLL</a:t>
            </a:r>
          </a:p>
        </p:txBody>
      </p:sp>
      <p:sp>
        <p:nvSpPr>
          <p:cNvPr id="17" name="TextBox 16"/>
          <p:cNvSpPr txBox="1"/>
          <p:nvPr/>
        </p:nvSpPr>
        <p:spPr>
          <a:xfrm>
            <a:off x="1676400" y="5791200"/>
            <a:ext cx="833946" cy="276999"/>
          </a:xfrm>
          <a:prstGeom prst="rect">
            <a:avLst/>
          </a:prstGeom>
          <a:noFill/>
        </p:spPr>
        <p:txBody>
          <a:bodyPr wrap="none" rtlCol="0">
            <a:spAutoFit/>
          </a:bodyPr>
          <a:lstStyle/>
          <a:p>
            <a:r>
              <a:rPr lang="en-US" sz="1200"/>
              <a:t>CLOCKS IN</a:t>
            </a:r>
            <a:endParaRPr lang="en-US" sz="1200" dirty="0"/>
          </a:p>
        </p:txBody>
      </p:sp>
      <p:cxnSp>
        <p:nvCxnSpPr>
          <p:cNvPr id="18" name="Straight Connector 17"/>
          <p:cNvCxnSpPr/>
          <p:nvPr/>
        </p:nvCxnSpPr>
        <p:spPr>
          <a:xfrm flipV="1">
            <a:off x="1219200" y="5638800"/>
            <a:ext cx="2133600" cy="1588"/>
          </a:xfrm>
          <a:prstGeom prst="line">
            <a:avLst/>
          </a:prstGeom>
        </p:spPr>
        <p:style>
          <a:lnRef idx="2">
            <a:schemeClr val="dk1"/>
          </a:lnRef>
          <a:fillRef idx="0">
            <a:schemeClr val="dk1"/>
          </a:fillRef>
          <a:effectRef idx="1">
            <a:schemeClr val="dk1"/>
          </a:effectRef>
          <a:fontRef idx="minor">
            <a:schemeClr val="tx1"/>
          </a:fontRef>
        </p:style>
      </p:cxnSp>
      <p:cxnSp>
        <p:nvCxnSpPr>
          <p:cNvPr id="20" name="Elbow Connector 19"/>
          <p:cNvCxnSpPr/>
          <p:nvPr/>
        </p:nvCxnSpPr>
        <p:spPr>
          <a:xfrm>
            <a:off x="304800" y="62484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cxnSp>
        <p:nvCxnSpPr>
          <p:cNvPr id="32" name="Elbow Connector 31"/>
          <p:cNvCxnSpPr/>
          <p:nvPr/>
        </p:nvCxnSpPr>
        <p:spPr>
          <a:xfrm>
            <a:off x="304800" y="33528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cxnSp>
        <p:nvCxnSpPr>
          <p:cNvPr id="38" name="Elbow Connector 37"/>
          <p:cNvCxnSpPr/>
          <p:nvPr/>
        </p:nvCxnSpPr>
        <p:spPr>
          <a:xfrm>
            <a:off x="304800" y="23622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39" name="TextBox 38"/>
          <p:cNvSpPr txBox="1"/>
          <p:nvPr/>
        </p:nvSpPr>
        <p:spPr>
          <a:xfrm>
            <a:off x="1295400" y="2438400"/>
            <a:ext cx="1053365" cy="276999"/>
          </a:xfrm>
          <a:prstGeom prst="rect">
            <a:avLst/>
          </a:prstGeom>
          <a:noFill/>
        </p:spPr>
        <p:txBody>
          <a:bodyPr wrap="none" rtlCol="0">
            <a:spAutoFit/>
          </a:bodyPr>
          <a:lstStyle/>
          <a:p>
            <a:r>
              <a:rPr lang="en-US" sz="1200" dirty="0"/>
              <a:t>C8: OVERTMP</a:t>
            </a:r>
          </a:p>
        </p:txBody>
      </p:sp>
      <p:cxnSp>
        <p:nvCxnSpPr>
          <p:cNvPr id="40" name="Elbow Connector 39"/>
          <p:cNvCxnSpPr/>
          <p:nvPr/>
        </p:nvCxnSpPr>
        <p:spPr>
          <a:xfrm>
            <a:off x="304800" y="25908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41" name="TextBox 40"/>
          <p:cNvSpPr txBox="1"/>
          <p:nvPr/>
        </p:nvSpPr>
        <p:spPr>
          <a:xfrm>
            <a:off x="1295400" y="2667000"/>
            <a:ext cx="1803699" cy="276999"/>
          </a:xfrm>
          <a:prstGeom prst="rect">
            <a:avLst/>
          </a:prstGeom>
          <a:noFill/>
        </p:spPr>
        <p:txBody>
          <a:bodyPr wrap="none" rtlCol="0">
            <a:spAutoFit/>
          </a:bodyPr>
          <a:lstStyle/>
          <a:p>
            <a:r>
              <a:rPr lang="en-US" sz="1200" dirty="0"/>
              <a:t>C9: SYNC_IN (res scanner)</a:t>
            </a:r>
          </a:p>
        </p:txBody>
      </p:sp>
      <p:cxnSp>
        <p:nvCxnSpPr>
          <p:cNvPr id="42" name="Elbow Connector 41"/>
          <p:cNvCxnSpPr/>
          <p:nvPr/>
        </p:nvCxnSpPr>
        <p:spPr>
          <a:xfrm>
            <a:off x="304800" y="16764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43" name="TextBox 42"/>
          <p:cNvSpPr txBox="1"/>
          <p:nvPr/>
        </p:nvSpPr>
        <p:spPr>
          <a:xfrm>
            <a:off x="1295400" y="1066800"/>
            <a:ext cx="993990" cy="276999"/>
          </a:xfrm>
          <a:prstGeom prst="rect">
            <a:avLst/>
          </a:prstGeom>
          <a:noFill/>
        </p:spPr>
        <p:txBody>
          <a:bodyPr wrap="none" rtlCol="0">
            <a:spAutoFit/>
          </a:bodyPr>
          <a:lstStyle/>
          <a:p>
            <a:r>
              <a:rPr lang="en-US" sz="1200" dirty="0"/>
              <a:t>C2: DAC_SCK</a:t>
            </a:r>
          </a:p>
        </p:txBody>
      </p:sp>
      <p:cxnSp>
        <p:nvCxnSpPr>
          <p:cNvPr id="44" name="Elbow Connector 43"/>
          <p:cNvCxnSpPr/>
          <p:nvPr/>
        </p:nvCxnSpPr>
        <p:spPr>
          <a:xfrm>
            <a:off x="304800" y="19050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45" name="TextBox 44"/>
          <p:cNvSpPr txBox="1"/>
          <p:nvPr/>
        </p:nvSpPr>
        <p:spPr>
          <a:xfrm>
            <a:off x="1295400" y="1295400"/>
            <a:ext cx="1029256" cy="276999"/>
          </a:xfrm>
          <a:prstGeom prst="rect">
            <a:avLst/>
          </a:prstGeom>
          <a:noFill/>
        </p:spPr>
        <p:txBody>
          <a:bodyPr wrap="none" rtlCol="0">
            <a:spAutoFit/>
          </a:bodyPr>
          <a:lstStyle/>
          <a:p>
            <a:r>
              <a:rPr lang="en-US" sz="1200" dirty="0"/>
              <a:t>C3: DAC_SDO</a:t>
            </a:r>
          </a:p>
        </p:txBody>
      </p:sp>
      <p:cxnSp>
        <p:nvCxnSpPr>
          <p:cNvPr id="46" name="Elbow Connector 45"/>
          <p:cNvCxnSpPr/>
          <p:nvPr/>
        </p:nvCxnSpPr>
        <p:spPr>
          <a:xfrm>
            <a:off x="304800" y="2133600"/>
            <a:ext cx="914400" cy="1588"/>
          </a:xfrm>
          <a:prstGeom prst="bentConnector3">
            <a:avLst>
              <a:gd name="adj1" fmla="val 38679"/>
            </a:avLst>
          </a:prstGeom>
          <a:ln>
            <a:headEnd type="arrow"/>
            <a:tailEnd type="none"/>
          </a:ln>
        </p:spPr>
        <p:style>
          <a:lnRef idx="2">
            <a:schemeClr val="dk1"/>
          </a:lnRef>
          <a:fillRef idx="0">
            <a:schemeClr val="dk1"/>
          </a:fillRef>
          <a:effectRef idx="1">
            <a:schemeClr val="dk1"/>
          </a:effectRef>
          <a:fontRef idx="minor">
            <a:schemeClr val="tx1"/>
          </a:fontRef>
        </p:style>
      </p:cxnSp>
      <p:sp>
        <p:nvSpPr>
          <p:cNvPr id="47" name="TextBox 46"/>
          <p:cNvSpPr txBox="1"/>
          <p:nvPr/>
        </p:nvSpPr>
        <p:spPr>
          <a:xfrm>
            <a:off x="1295400" y="1524000"/>
            <a:ext cx="965136" cy="276999"/>
          </a:xfrm>
          <a:prstGeom prst="rect">
            <a:avLst/>
          </a:prstGeom>
          <a:noFill/>
        </p:spPr>
        <p:txBody>
          <a:bodyPr wrap="none" rtlCol="0">
            <a:spAutoFit/>
          </a:bodyPr>
          <a:lstStyle/>
          <a:p>
            <a:r>
              <a:rPr lang="en-US" sz="1200" dirty="0"/>
              <a:t>C4: DAC_SDI</a:t>
            </a:r>
          </a:p>
        </p:txBody>
      </p:sp>
      <p:sp>
        <p:nvSpPr>
          <p:cNvPr id="49" name="TextBox 48"/>
          <p:cNvSpPr txBox="1"/>
          <p:nvPr/>
        </p:nvSpPr>
        <p:spPr>
          <a:xfrm>
            <a:off x="1295400" y="1981200"/>
            <a:ext cx="1178656" cy="276999"/>
          </a:xfrm>
          <a:prstGeom prst="rect">
            <a:avLst/>
          </a:prstGeom>
          <a:noFill/>
        </p:spPr>
        <p:txBody>
          <a:bodyPr wrap="none" rtlCol="0">
            <a:spAutoFit/>
          </a:bodyPr>
          <a:lstStyle/>
          <a:p>
            <a:r>
              <a:rPr lang="en-US" sz="1200" dirty="0"/>
              <a:t>C6: HORZ_SYNC</a:t>
            </a:r>
          </a:p>
        </p:txBody>
      </p:sp>
      <p:cxnSp>
        <p:nvCxnSpPr>
          <p:cNvPr id="50" name="Elbow Connector 49"/>
          <p:cNvCxnSpPr/>
          <p:nvPr/>
        </p:nvCxnSpPr>
        <p:spPr>
          <a:xfrm>
            <a:off x="304800" y="2819400"/>
            <a:ext cx="914400" cy="1588"/>
          </a:xfrm>
          <a:prstGeom prst="bentConnector3">
            <a:avLst>
              <a:gd name="adj1" fmla="val 50000"/>
            </a:avLst>
          </a:prstGeom>
          <a:ln>
            <a:headEnd type="none"/>
            <a:tailEnd type="arrow"/>
          </a:ln>
        </p:spPr>
        <p:style>
          <a:lnRef idx="2">
            <a:schemeClr val="dk1"/>
          </a:lnRef>
          <a:fillRef idx="0">
            <a:schemeClr val="dk1"/>
          </a:fillRef>
          <a:effectRef idx="1">
            <a:schemeClr val="dk1"/>
          </a:effectRef>
          <a:fontRef idx="minor">
            <a:schemeClr val="tx1"/>
          </a:fontRef>
        </p:style>
      </p:cxnSp>
      <p:cxnSp>
        <p:nvCxnSpPr>
          <p:cNvPr id="65" name="Straight Connector 64"/>
          <p:cNvCxnSpPr/>
          <p:nvPr/>
        </p:nvCxnSpPr>
        <p:spPr>
          <a:xfrm flipV="1">
            <a:off x="1219200" y="3124200"/>
            <a:ext cx="2133600" cy="1588"/>
          </a:xfrm>
          <a:prstGeom prst="line">
            <a:avLst/>
          </a:prstGeom>
        </p:spPr>
        <p:style>
          <a:lnRef idx="2">
            <a:schemeClr val="dk1"/>
          </a:lnRef>
          <a:fillRef idx="0">
            <a:schemeClr val="dk1"/>
          </a:fillRef>
          <a:effectRef idx="1">
            <a:schemeClr val="dk1"/>
          </a:effectRef>
          <a:fontRef idx="minor">
            <a:schemeClr val="tx1"/>
          </a:fontRef>
        </p:style>
      </p:cxnSp>
      <p:sp>
        <p:nvSpPr>
          <p:cNvPr id="48" name="TextBox 47"/>
          <p:cNvSpPr txBox="1"/>
          <p:nvPr/>
        </p:nvSpPr>
        <p:spPr>
          <a:xfrm>
            <a:off x="1295400" y="3200400"/>
            <a:ext cx="903261" cy="276999"/>
          </a:xfrm>
          <a:prstGeom prst="rect">
            <a:avLst/>
          </a:prstGeom>
          <a:noFill/>
        </p:spPr>
        <p:txBody>
          <a:bodyPr wrap="none" rtlCol="0">
            <a:spAutoFit/>
          </a:bodyPr>
          <a:lstStyle/>
          <a:p>
            <a:r>
              <a:rPr lang="en-US" sz="1200" dirty="0"/>
              <a:t>CSX_1_REG</a:t>
            </a:r>
          </a:p>
        </p:txBody>
      </p:sp>
      <p:cxnSp>
        <p:nvCxnSpPr>
          <p:cNvPr id="36" name="Elbow Connector 35"/>
          <p:cNvCxnSpPr/>
          <p:nvPr/>
        </p:nvCxnSpPr>
        <p:spPr>
          <a:xfrm>
            <a:off x="304800" y="7620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37" name="TextBox 36"/>
          <p:cNvSpPr txBox="1"/>
          <p:nvPr/>
        </p:nvSpPr>
        <p:spPr>
          <a:xfrm>
            <a:off x="1295400" y="609600"/>
            <a:ext cx="748731" cy="276999"/>
          </a:xfrm>
          <a:prstGeom prst="rect">
            <a:avLst/>
          </a:prstGeom>
          <a:noFill/>
        </p:spPr>
        <p:txBody>
          <a:bodyPr wrap="none" rtlCol="0">
            <a:spAutoFit/>
          </a:bodyPr>
          <a:lstStyle/>
          <a:p>
            <a:r>
              <a:rPr lang="en-US" sz="1200" dirty="0"/>
              <a:t>C0: LDAC</a:t>
            </a:r>
          </a:p>
        </p:txBody>
      </p:sp>
      <p:sp>
        <p:nvSpPr>
          <p:cNvPr id="51" name="TextBox 50"/>
          <p:cNvSpPr txBox="1"/>
          <p:nvPr/>
        </p:nvSpPr>
        <p:spPr>
          <a:xfrm>
            <a:off x="3505200" y="5943600"/>
            <a:ext cx="1183337" cy="276999"/>
          </a:xfrm>
          <a:prstGeom prst="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r>
              <a:rPr lang="en-US" sz="1200" dirty="0"/>
              <a:t>SPI SUB Module</a:t>
            </a:r>
          </a:p>
        </p:txBody>
      </p:sp>
      <p:sp>
        <p:nvSpPr>
          <p:cNvPr id="54" name="TextBox 53"/>
          <p:cNvSpPr txBox="1"/>
          <p:nvPr/>
        </p:nvSpPr>
        <p:spPr>
          <a:xfrm>
            <a:off x="1676400" y="152400"/>
            <a:ext cx="6934200" cy="246221"/>
          </a:xfrm>
          <a:prstGeom prst="rect">
            <a:avLst/>
          </a:prstGeom>
          <a:noFill/>
        </p:spPr>
        <p:txBody>
          <a:bodyPr wrap="square" rtlCol="0">
            <a:spAutoFit/>
          </a:bodyPr>
          <a:lstStyle/>
          <a:p>
            <a:r>
              <a:rPr lang="en-US" sz="1000" dirty="0"/>
              <a:t>On OTM 41-0094 only on slots 6 &amp; 7  using LTC2664CUH-16#PBF for </a:t>
            </a:r>
            <a:r>
              <a:rPr lang="en-US" sz="1000" dirty="0" err="1"/>
              <a:t>Galvos</a:t>
            </a:r>
            <a:r>
              <a:rPr lang="en-US" sz="1000" dirty="0"/>
              <a:t> but can be used for other applications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219200" y="457200"/>
            <a:ext cx="7391400" cy="6096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 name="Elbow Connector 6"/>
          <p:cNvCxnSpPr/>
          <p:nvPr/>
        </p:nvCxnSpPr>
        <p:spPr>
          <a:xfrm>
            <a:off x="304800" y="9906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8" name="TextBox 7"/>
          <p:cNvSpPr txBox="1"/>
          <p:nvPr/>
        </p:nvSpPr>
        <p:spPr>
          <a:xfrm>
            <a:off x="1295400" y="838200"/>
            <a:ext cx="596638" cy="276999"/>
          </a:xfrm>
          <a:prstGeom prst="rect">
            <a:avLst/>
          </a:prstGeom>
          <a:noFill/>
        </p:spPr>
        <p:txBody>
          <a:bodyPr wrap="none" rtlCol="0">
            <a:spAutoFit/>
          </a:bodyPr>
          <a:lstStyle/>
          <a:p>
            <a:r>
              <a:rPr lang="en-US" sz="1200" dirty="0"/>
              <a:t>C1:RX-</a:t>
            </a:r>
          </a:p>
        </p:txBody>
      </p:sp>
      <p:cxnSp>
        <p:nvCxnSpPr>
          <p:cNvPr id="9" name="Elbow Connector 8"/>
          <p:cNvCxnSpPr/>
          <p:nvPr/>
        </p:nvCxnSpPr>
        <p:spPr>
          <a:xfrm>
            <a:off x="304800" y="12192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10" name="TextBox 9"/>
          <p:cNvSpPr txBox="1"/>
          <p:nvPr/>
        </p:nvSpPr>
        <p:spPr>
          <a:xfrm>
            <a:off x="1295400" y="1752600"/>
            <a:ext cx="468398" cy="276999"/>
          </a:xfrm>
          <a:prstGeom prst="rect">
            <a:avLst/>
          </a:prstGeom>
          <a:noFill/>
        </p:spPr>
        <p:txBody>
          <a:bodyPr wrap="none" rtlCol="0">
            <a:spAutoFit/>
          </a:bodyPr>
          <a:lstStyle/>
          <a:p>
            <a:r>
              <a:rPr lang="en-US" sz="1200" dirty="0"/>
              <a:t>C5: -</a:t>
            </a:r>
          </a:p>
        </p:txBody>
      </p:sp>
      <p:cxnSp>
        <p:nvCxnSpPr>
          <p:cNvPr id="11" name="Elbow Connector 10"/>
          <p:cNvCxnSpPr/>
          <p:nvPr/>
        </p:nvCxnSpPr>
        <p:spPr>
          <a:xfrm>
            <a:off x="304800" y="14478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12" name="TextBox 11"/>
          <p:cNvSpPr txBox="1"/>
          <p:nvPr/>
        </p:nvSpPr>
        <p:spPr>
          <a:xfrm>
            <a:off x="1295400" y="2209800"/>
            <a:ext cx="468398" cy="276999"/>
          </a:xfrm>
          <a:prstGeom prst="rect">
            <a:avLst/>
          </a:prstGeom>
          <a:noFill/>
        </p:spPr>
        <p:txBody>
          <a:bodyPr wrap="none" rtlCol="0">
            <a:spAutoFit/>
          </a:bodyPr>
          <a:lstStyle/>
          <a:p>
            <a:r>
              <a:rPr lang="en-US" sz="1200" dirty="0"/>
              <a:t>C7: -</a:t>
            </a:r>
          </a:p>
        </p:txBody>
      </p:sp>
      <p:sp>
        <p:nvSpPr>
          <p:cNvPr id="19" name="TextBox 18"/>
          <p:cNvSpPr txBox="1"/>
          <p:nvPr/>
        </p:nvSpPr>
        <p:spPr>
          <a:xfrm>
            <a:off x="152400" y="152400"/>
            <a:ext cx="1093120" cy="276999"/>
          </a:xfrm>
          <a:prstGeom prst="rect">
            <a:avLst/>
          </a:prstGeom>
        </p:spPr>
        <p:style>
          <a:lnRef idx="1">
            <a:schemeClr val="accent3"/>
          </a:lnRef>
          <a:fillRef idx="2">
            <a:schemeClr val="accent3"/>
          </a:fillRef>
          <a:effectRef idx="1">
            <a:schemeClr val="accent3"/>
          </a:effectRef>
          <a:fontRef idx="minor">
            <a:schemeClr val="dk1"/>
          </a:fontRef>
        </p:style>
        <p:txBody>
          <a:bodyPr wrap="none" rtlCol="0">
            <a:spAutoFit/>
          </a:bodyPr>
          <a:lstStyle/>
          <a:p>
            <a:r>
              <a:rPr lang="en-US" sz="1200" dirty="0"/>
              <a:t>RS232 Module</a:t>
            </a:r>
          </a:p>
        </p:txBody>
      </p:sp>
      <p:sp>
        <p:nvSpPr>
          <p:cNvPr id="25" name="TextBox 24"/>
          <p:cNvSpPr txBox="1"/>
          <p:nvPr/>
        </p:nvSpPr>
        <p:spPr>
          <a:xfrm>
            <a:off x="3505200" y="457200"/>
            <a:ext cx="475323" cy="276999"/>
          </a:xfrm>
          <a:prstGeom prst="rect">
            <a:avLst/>
          </a:prstGeom>
          <a:noFill/>
        </p:spPr>
        <p:txBody>
          <a:bodyPr wrap="none" rtlCol="0">
            <a:spAutoFit/>
          </a:bodyPr>
          <a:lstStyle/>
          <a:p>
            <a:r>
              <a:rPr lang="en-US" sz="1200" dirty="0"/>
              <a:t>Regs</a:t>
            </a:r>
          </a:p>
        </p:txBody>
      </p:sp>
      <p:sp>
        <p:nvSpPr>
          <p:cNvPr id="26" name="TextBox 25"/>
          <p:cNvSpPr txBox="1"/>
          <p:nvPr/>
        </p:nvSpPr>
        <p:spPr>
          <a:xfrm>
            <a:off x="3429000" y="838200"/>
            <a:ext cx="5029200" cy="2308324"/>
          </a:xfrm>
          <a:prstGeom prst="rect">
            <a:avLst/>
          </a:prstGeom>
          <a:noFill/>
        </p:spPr>
        <p:txBody>
          <a:bodyPr wrap="square" rtlCol="0">
            <a:spAutoFit/>
          </a:bodyPr>
          <a:lstStyle/>
          <a:p>
            <a:r>
              <a:rPr lang="en-US" sz="1200" dirty="0"/>
              <a:t>[SET]</a:t>
            </a:r>
          </a:p>
          <a:p>
            <a:r>
              <a:rPr lang="en-US" sz="1200" dirty="0"/>
              <a:t>X_ENABLE: 1 enabled, 0 disabled, ( connects IO to other modules when enabled  or tri-states if disabled)</a:t>
            </a:r>
          </a:p>
          <a:p>
            <a:r>
              <a:rPr lang="en-US" sz="1200" dirty="0"/>
              <a:t>	also routes RX TX to </a:t>
            </a:r>
            <a:r>
              <a:rPr lang="en-US" sz="1200" dirty="0" err="1"/>
              <a:t>uC</a:t>
            </a:r>
            <a:r>
              <a:rPr lang="en-US" sz="1200" dirty="0"/>
              <a:t> dedicated CPLD RX TX</a:t>
            </a:r>
          </a:p>
          <a:p>
            <a:endParaRPr lang="en-US" sz="1200" dirty="0"/>
          </a:p>
          <a:p>
            <a:r>
              <a:rPr lang="en-US" sz="1200" dirty="0"/>
              <a:t>[GET]</a:t>
            </a:r>
          </a:p>
          <a:p>
            <a:endParaRPr lang="en-US" sz="1200" dirty="0"/>
          </a:p>
          <a:p>
            <a:endParaRPr lang="en-US" sz="1200" dirty="0"/>
          </a:p>
          <a:p>
            <a:endParaRPr lang="en-US" sz="1200" dirty="0"/>
          </a:p>
          <a:p>
            <a:endParaRPr lang="en-US" sz="1200" dirty="0"/>
          </a:p>
          <a:p>
            <a:endParaRPr lang="en-US" sz="1200" dirty="0"/>
          </a:p>
          <a:p>
            <a:endParaRPr lang="en-US" sz="1200" dirty="0"/>
          </a:p>
        </p:txBody>
      </p:sp>
      <p:cxnSp>
        <p:nvCxnSpPr>
          <p:cNvPr id="28" name="Straight Connector 27"/>
          <p:cNvCxnSpPr/>
          <p:nvPr/>
        </p:nvCxnSpPr>
        <p:spPr>
          <a:xfrm rot="5400000">
            <a:off x="304800" y="3505200"/>
            <a:ext cx="6096794" cy="794"/>
          </a:xfrm>
          <a:prstGeom prst="line">
            <a:avLst/>
          </a:prstGeom>
        </p:spPr>
        <p:style>
          <a:lnRef idx="1">
            <a:schemeClr val="dk1"/>
          </a:lnRef>
          <a:fillRef idx="0">
            <a:schemeClr val="dk1"/>
          </a:fillRef>
          <a:effectRef idx="0">
            <a:schemeClr val="dk1"/>
          </a:effectRef>
          <a:fontRef idx="minor">
            <a:schemeClr val="tx1"/>
          </a:fontRef>
        </p:style>
      </p:cxnSp>
      <p:sp>
        <p:nvSpPr>
          <p:cNvPr id="22" name="TextBox 21"/>
          <p:cNvSpPr txBox="1"/>
          <p:nvPr/>
        </p:nvSpPr>
        <p:spPr>
          <a:xfrm>
            <a:off x="1905000" y="457200"/>
            <a:ext cx="857607" cy="276999"/>
          </a:xfrm>
          <a:prstGeom prst="rect">
            <a:avLst/>
          </a:prstGeom>
          <a:noFill/>
        </p:spPr>
        <p:txBody>
          <a:bodyPr wrap="none" rtlCol="0">
            <a:spAutoFit/>
          </a:bodyPr>
          <a:lstStyle/>
          <a:p>
            <a:r>
              <a:rPr lang="en-US" sz="1200" dirty="0"/>
              <a:t>IO’s to Slot</a:t>
            </a:r>
          </a:p>
        </p:txBody>
      </p:sp>
      <p:cxnSp>
        <p:nvCxnSpPr>
          <p:cNvPr id="29" name="Straight Connector 28"/>
          <p:cNvCxnSpPr/>
          <p:nvPr/>
        </p:nvCxnSpPr>
        <p:spPr>
          <a:xfrm>
            <a:off x="3352800" y="5638800"/>
            <a:ext cx="5257800" cy="1588"/>
          </a:xfrm>
          <a:prstGeom prst="line">
            <a:avLst/>
          </a:prstGeom>
        </p:spPr>
        <p:style>
          <a:lnRef idx="2">
            <a:schemeClr val="dk1"/>
          </a:lnRef>
          <a:fillRef idx="0">
            <a:schemeClr val="dk1"/>
          </a:fillRef>
          <a:effectRef idx="1">
            <a:schemeClr val="dk1"/>
          </a:effectRef>
          <a:fontRef idx="minor">
            <a:schemeClr val="tx1"/>
          </a:fontRef>
        </p:style>
      </p:cxnSp>
      <p:sp>
        <p:nvSpPr>
          <p:cNvPr id="16" name="TextBox 15"/>
          <p:cNvSpPr txBox="1"/>
          <p:nvPr/>
        </p:nvSpPr>
        <p:spPr>
          <a:xfrm>
            <a:off x="1219200" y="6096000"/>
            <a:ext cx="1218603" cy="276999"/>
          </a:xfrm>
          <a:prstGeom prst="rect">
            <a:avLst/>
          </a:prstGeom>
          <a:noFill/>
        </p:spPr>
        <p:txBody>
          <a:bodyPr wrap="none" rtlCol="0">
            <a:spAutoFit/>
          </a:bodyPr>
          <a:lstStyle/>
          <a:p>
            <a:r>
              <a:rPr lang="en-US" sz="1200" dirty="0"/>
              <a:t>CLK_48MHz_PLL</a:t>
            </a:r>
          </a:p>
        </p:txBody>
      </p:sp>
      <p:sp>
        <p:nvSpPr>
          <p:cNvPr id="17" name="TextBox 16"/>
          <p:cNvSpPr txBox="1"/>
          <p:nvPr/>
        </p:nvSpPr>
        <p:spPr>
          <a:xfrm>
            <a:off x="1676400" y="5791200"/>
            <a:ext cx="833946" cy="276999"/>
          </a:xfrm>
          <a:prstGeom prst="rect">
            <a:avLst/>
          </a:prstGeom>
          <a:noFill/>
        </p:spPr>
        <p:txBody>
          <a:bodyPr wrap="none" rtlCol="0">
            <a:spAutoFit/>
          </a:bodyPr>
          <a:lstStyle/>
          <a:p>
            <a:r>
              <a:rPr lang="en-US" sz="1200"/>
              <a:t>CLOCKS IN</a:t>
            </a:r>
            <a:endParaRPr lang="en-US" sz="1200" dirty="0"/>
          </a:p>
        </p:txBody>
      </p:sp>
      <p:cxnSp>
        <p:nvCxnSpPr>
          <p:cNvPr id="18" name="Straight Connector 17"/>
          <p:cNvCxnSpPr/>
          <p:nvPr/>
        </p:nvCxnSpPr>
        <p:spPr>
          <a:xfrm flipV="1">
            <a:off x="1219200" y="5638800"/>
            <a:ext cx="2133600" cy="1588"/>
          </a:xfrm>
          <a:prstGeom prst="line">
            <a:avLst/>
          </a:prstGeom>
        </p:spPr>
        <p:style>
          <a:lnRef idx="2">
            <a:schemeClr val="dk1"/>
          </a:lnRef>
          <a:fillRef idx="0">
            <a:schemeClr val="dk1"/>
          </a:fillRef>
          <a:effectRef idx="1">
            <a:schemeClr val="dk1"/>
          </a:effectRef>
          <a:fontRef idx="minor">
            <a:schemeClr val="tx1"/>
          </a:fontRef>
        </p:style>
      </p:cxnSp>
      <p:cxnSp>
        <p:nvCxnSpPr>
          <p:cNvPr id="20" name="Elbow Connector 19"/>
          <p:cNvCxnSpPr/>
          <p:nvPr/>
        </p:nvCxnSpPr>
        <p:spPr>
          <a:xfrm>
            <a:off x="304800" y="62484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cxnSp>
        <p:nvCxnSpPr>
          <p:cNvPr id="32" name="Elbow Connector 31"/>
          <p:cNvCxnSpPr/>
          <p:nvPr/>
        </p:nvCxnSpPr>
        <p:spPr>
          <a:xfrm>
            <a:off x="304800" y="33528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cxnSp>
        <p:nvCxnSpPr>
          <p:cNvPr id="38" name="Elbow Connector 37"/>
          <p:cNvCxnSpPr/>
          <p:nvPr/>
        </p:nvCxnSpPr>
        <p:spPr>
          <a:xfrm>
            <a:off x="304800" y="23622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39" name="TextBox 38"/>
          <p:cNvSpPr txBox="1"/>
          <p:nvPr/>
        </p:nvSpPr>
        <p:spPr>
          <a:xfrm>
            <a:off x="1295400" y="2438400"/>
            <a:ext cx="468398" cy="276999"/>
          </a:xfrm>
          <a:prstGeom prst="rect">
            <a:avLst/>
          </a:prstGeom>
          <a:noFill/>
        </p:spPr>
        <p:txBody>
          <a:bodyPr wrap="none" rtlCol="0">
            <a:spAutoFit/>
          </a:bodyPr>
          <a:lstStyle/>
          <a:p>
            <a:r>
              <a:rPr lang="en-US" sz="1200" dirty="0"/>
              <a:t>C8: -</a:t>
            </a:r>
          </a:p>
        </p:txBody>
      </p:sp>
      <p:cxnSp>
        <p:nvCxnSpPr>
          <p:cNvPr id="40" name="Elbow Connector 39"/>
          <p:cNvCxnSpPr/>
          <p:nvPr/>
        </p:nvCxnSpPr>
        <p:spPr>
          <a:xfrm>
            <a:off x="304800" y="25908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41" name="TextBox 40"/>
          <p:cNvSpPr txBox="1"/>
          <p:nvPr/>
        </p:nvSpPr>
        <p:spPr>
          <a:xfrm>
            <a:off x="1295400" y="2667000"/>
            <a:ext cx="468398" cy="276999"/>
          </a:xfrm>
          <a:prstGeom prst="rect">
            <a:avLst/>
          </a:prstGeom>
          <a:noFill/>
        </p:spPr>
        <p:txBody>
          <a:bodyPr wrap="none" rtlCol="0">
            <a:spAutoFit/>
          </a:bodyPr>
          <a:lstStyle/>
          <a:p>
            <a:r>
              <a:rPr lang="en-US" sz="1200" dirty="0"/>
              <a:t>C9: -</a:t>
            </a:r>
          </a:p>
        </p:txBody>
      </p:sp>
      <p:cxnSp>
        <p:nvCxnSpPr>
          <p:cNvPr id="42" name="Elbow Connector 41"/>
          <p:cNvCxnSpPr/>
          <p:nvPr/>
        </p:nvCxnSpPr>
        <p:spPr>
          <a:xfrm>
            <a:off x="304800" y="16764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43" name="TextBox 42"/>
          <p:cNvSpPr txBox="1"/>
          <p:nvPr/>
        </p:nvSpPr>
        <p:spPr>
          <a:xfrm>
            <a:off x="1295400" y="1066800"/>
            <a:ext cx="468398" cy="276999"/>
          </a:xfrm>
          <a:prstGeom prst="rect">
            <a:avLst/>
          </a:prstGeom>
          <a:noFill/>
        </p:spPr>
        <p:txBody>
          <a:bodyPr wrap="none" rtlCol="0">
            <a:spAutoFit/>
          </a:bodyPr>
          <a:lstStyle/>
          <a:p>
            <a:r>
              <a:rPr lang="en-US" sz="1200" dirty="0"/>
              <a:t>C2: -</a:t>
            </a:r>
          </a:p>
        </p:txBody>
      </p:sp>
      <p:cxnSp>
        <p:nvCxnSpPr>
          <p:cNvPr id="44" name="Elbow Connector 43"/>
          <p:cNvCxnSpPr/>
          <p:nvPr/>
        </p:nvCxnSpPr>
        <p:spPr>
          <a:xfrm>
            <a:off x="304800" y="19050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45" name="TextBox 44"/>
          <p:cNvSpPr txBox="1"/>
          <p:nvPr/>
        </p:nvSpPr>
        <p:spPr>
          <a:xfrm>
            <a:off x="1295400" y="1295400"/>
            <a:ext cx="468398" cy="276999"/>
          </a:xfrm>
          <a:prstGeom prst="rect">
            <a:avLst/>
          </a:prstGeom>
          <a:noFill/>
        </p:spPr>
        <p:txBody>
          <a:bodyPr wrap="none" rtlCol="0">
            <a:spAutoFit/>
          </a:bodyPr>
          <a:lstStyle/>
          <a:p>
            <a:r>
              <a:rPr lang="en-US" sz="1200" dirty="0"/>
              <a:t>C3: -</a:t>
            </a:r>
          </a:p>
        </p:txBody>
      </p:sp>
      <p:cxnSp>
        <p:nvCxnSpPr>
          <p:cNvPr id="46" name="Elbow Connector 45"/>
          <p:cNvCxnSpPr/>
          <p:nvPr/>
        </p:nvCxnSpPr>
        <p:spPr>
          <a:xfrm>
            <a:off x="304800" y="2133600"/>
            <a:ext cx="914400" cy="1588"/>
          </a:xfrm>
          <a:prstGeom prst="bentConnector3">
            <a:avLst>
              <a:gd name="adj1" fmla="val 38679"/>
            </a:avLst>
          </a:prstGeom>
          <a:ln>
            <a:tailEnd type="arrow"/>
          </a:ln>
        </p:spPr>
        <p:style>
          <a:lnRef idx="2">
            <a:schemeClr val="dk1"/>
          </a:lnRef>
          <a:fillRef idx="0">
            <a:schemeClr val="dk1"/>
          </a:fillRef>
          <a:effectRef idx="1">
            <a:schemeClr val="dk1"/>
          </a:effectRef>
          <a:fontRef idx="minor">
            <a:schemeClr val="tx1"/>
          </a:fontRef>
        </p:style>
      </p:cxnSp>
      <p:sp>
        <p:nvSpPr>
          <p:cNvPr id="47" name="TextBox 46"/>
          <p:cNvSpPr txBox="1"/>
          <p:nvPr/>
        </p:nvSpPr>
        <p:spPr>
          <a:xfrm>
            <a:off x="1295400" y="1524000"/>
            <a:ext cx="468398" cy="276999"/>
          </a:xfrm>
          <a:prstGeom prst="rect">
            <a:avLst/>
          </a:prstGeom>
          <a:noFill/>
        </p:spPr>
        <p:txBody>
          <a:bodyPr wrap="none" rtlCol="0">
            <a:spAutoFit/>
          </a:bodyPr>
          <a:lstStyle/>
          <a:p>
            <a:r>
              <a:rPr lang="en-US" sz="1200" dirty="0"/>
              <a:t>C4: -</a:t>
            </a:r>
          </a:p>
        </p:txBody>
      </p:sp>
      <p:sp>
        <p:nvSpPr>
          <p:cNvPr id="49" name="TextBox 48"/>
          <p:cNvSpPr txBox="1"/>
          <p:nvPr/>
        </p:nvSpPr>
        <p:spPr>
          <a:xfrm>
            <a:off x="1295400" y="1981200"/>
            <a:ext cx="468398" cy="276999"/>
          </a:xfrm>
          <a:prstGeom prst="rect">
            <a:avLst/>
          </a:prstGeom>
          <a:noFill/>
        </p:spPr>
        <p:txBody>
          <a:bodyPr wrap="none" rtlCol="0">
            <a:spAutoFit/>
          </a:bodyPr>
          <a:lstStyle/>
          <a:p>
            <a:r>
              <a:rPr lang="en-US" sz="1200" dirty="0"/>
              <a:t>C6: -</a:t>
            </a:r>
          </a:p>
        </p:txBody>
      </p:sp>
      <p:cxnSp>
        <p:nvCxnSpPr>
          <p:cNvPr id="50" name="Elbow Connector 49"/>
          <p:cNvCxnSpPr/>
          <p:nvPr/>
        </p:nvCxnSpPr>
        <p:spPr>
          <a:xfrm>
            <a:off x="304800" y="28194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cxnSp>
        <p:nvCxnSpPr>
          <p:cNvPr id="65" name="Straight Connector 64"/>
          <p:cNvCxnSpPr/>
          <p:nvPr/>
        </p:nvCxnSpPr>
        <p:spPr>
          <a:xfrm flipV="1">
            <a:off x="1219200" y="3124200"/>
            <a:ext cx="2133600" cy="1588"/>
          </a:xfrm>
          <a:prstGeom prst="line">
            <a:avLst/>
          </a:prstGeom>
        </p:spPr>
        <p:style>
          <a:lnRef idx="2">
            <a:schemeClr val="dk1"/>
          </a:lnRef>
          <a:fillRef idx="0">
            <a:schemeClr val="dk1"/>
          </a:fillRef>
          <a:effectRef idx="1">
            <a:schemeClr val="dk1"/>
          </a:effectRef>
          <a:fontRef idx="minor">
            <a:schemeClr val="tx1"/>
          </a:fontRef>
        </p:style>
      </p:cxnSp>
      <p:sp>
        <p:nvSpPr>
          <p:cNvPr id="48" name="TextBox 47"/>
          <p:cNvSpPr txBox="1"/>
          <p:nvPr/>
        </p:nvSpPr>
        <p:spPr>
          <a:xfrm>
            <a:off x="1295400" y="3200400"/>
            <a:ext cx="231154" cy="276999"/>
          </a:xfrm>
          <a:prstGeom prst="rect">
            <a:avLst/>
          </a:prstGeom>
          <a:noFill/>
        </p:spPr>
        <p:txBody>
          <a:bodyPr wrap="none" rtlCol="0">
            <a:spAutoFit/>
          </a:bodyPr>
          <a:lstStyle/>
          <a:p>
            <a:r>
              <a:rPr lang="en-US" sz="1200" dirty="0"/>
              <a:t>-</a:t>
            </a:r>
          </a:p>
        </p:txBody>
      </p:sp>
      <p:cxnSp>
        <p:nvCxnSpPr>
          <p:cNvPr id="34" name="Elbow Connector 33"/>
          <p:cNvCxnSpPr/>
          <p:nvPr/>
        </p:nvCxnSpPr>
        <p:spPr>
          <a:xfrm>
            <a:off x="304800" y="7620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35" name="TextBox 34"/>
          <p:cNvSpPr txBox="1"/>
          <p:nvPr/>
        </p:nvSpPr>
        <p:spPr>
          <a:xfrm>
            <a:off x="1295400" y="609600"/>
            <a:ext cx="577402" cy="276999"/>
          </a:xfrm>
          <a:prstGeom prst="rect">
            <a:avLst/>
          </a:prstGeom>
          <a:noFill/>
        </p:spPr>
        <p:txBody>
          <a:bodyPr wrap="none" rtlCol="0">
            <a:spAutoFit/>
          </a:bodyPr>
          <a:lstStyle/>
          <a:p>
            <a:r>
              <a:rPr lang="en-US" sz="1200" dirty="0"/>
              <a:t>C0: TX</a:t>
            </a:r>
          </a:p>
        </p:txBody>
      </p:sp>
      <p:sp>
        <p:nvSpPr>
          <p:cNvPr id="36" name="TextBox 35"/>
          <p:cNvSpPr txBox="1"/>
          <p:nvPr/>
        </p:nvSpPr>
        <p:spPr>
          <a:xfrm>
            <a:off x="1828800" y="152400"/>
            <a:ext cx="6781800" cy="276999"/>
          </a:xfrm>
          <a:prstGeom prst="rect">
            <a:avLst/>
          </a:prstGeom>
          <a:noFill/>
        </p:spPr>
        <p:txBody>
          <a:bodyPr wrap="square" rtlCol="0">
            <a:spAutoFit/>
          </a:bodyPr>
          <a:lstStyle/>
          <a:p>
            <a:r>
              <a:rPr lang="en-US" sz="1200" dirty="0"/>
              <a:t>On OTM 41-0094 only on slot 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219200" y="457200"/>
            <a:ext cx="7391400" cy="6096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 name="Elbow Connector 6"/>
          <p:cNvCxnSpPr/>
          <p:nvPr/>
        </p:nvCxnSpPr>
        <p:spPr>
          <a:xfrm>
            <a:off x="304800" y="9906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8" name="TextBox 7"/>
          <p:cNvSpPr txBox="1"/>
          <p:nvPr/>
        </p:nvSpPr>
        <p:spPr>
          <a:xfrm>
            <a:off x="1295400" y="838200"/>
            <a:ext cx="468398" cy="276999"/>
          </a:xfrm>
          <a:prstGeom prst="rect">
            <a:avLst/>
          </a:prstGeom>
          <a:noFill/>
        </p:spPr>
        <p:txBody>
          <a:bodyPr wrap="none" rtlCol="0">
            <a:spAutoFit/>
          </a:bodyPr>
          <a:lstStyle/>
          <a:p>
            <a:r>
              <a:rPr lang="en-US" sz="1200" dirty="0"/>
              <a:t>C1: -</a:t>
            </a:r>
          </a:p>
        </p:txBody>
      </p:sp>
      <p:cxnSp>
        <p:nvCxnSpPr>
          <p:cNvPr id="9" name="Elbow Connector 8"/>
          <p:cNvCxnSpPr/>
          <p:nvPr/>
        </p:nvCxnSpPr>
        <p:spPr>
          <a:xfrm>
            <a:off x="304800" y="12192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10" name="TextBox 9"/>
          <p:cNvSpPr txBox="1"/>
          <p:nvPr/>
        </p:nvSpPr>
        <p:spPr>
          <a:xfrm>
            <a:off x="1295400" y="1752600"/>
            <a:ext cx="468398" cy="276999"/>
          </a:xfrm>
          <a:prstGeom prst="rect">
            <a:avLst/>
          </a:prstGeom>
          <a:noFill/>
        </p:spPr>
        <p:txBody>
          <a:bodyPr wrap="none" rtlCol="0">
            <a:spAutoFit/>
          </a:bodyPr>
          <a:lstStyle/>
          <a:p>
            <a:r>
              <a:rPr lang="en-US" sz="1200" dirty="0"/>
              <a:t>C5: -</a:t>
            </a:r>
          </a:p>
        </p:txBody>
      </p:sp>
      <p:cxnSp>
        <p:nvCxnSpPr>
          <p:cNvPr id="11" name="Elbow Connector 10"/>
          <p:cNvCxnSpPr/>
          <p:nvPr/>
        </p:nvCxnSpPr>
        <p:spPr>
          <a:xfrm>
            <a:off x="304800" y="14478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12" name="TextBox 11"/>
          <p:cNvSpPr txBox="1"/>
          <p:nvPr/>
        </p:nvSpPr>
        <p:spPr>
          <a:xfrm>
            <a:off x="1295400" y="2209800"/>
            <a:ext cx="468398" cy="276999"/>
          </a:xfrm>
          <a:prstGeom prst="rect">
            <a:avLst/>
          </a:prstGeom>
          <a:noFill/>
        </p:spPr>
        <p:txBody>
          <a:bodyPr wrap="none" rtlCol="0">
            <a:spAutoFit/>
          </a:bodyPr>
          <a:lstStyle/>
          <a:p>
            <a:r>
              <a:rPr lang="en-US" sz="1200" dirty="0"/>
              <a:t>C7: -</a:t>
            </a:r>
          </a:p>
        </p:txBody>
      </p:sp>
      <p:sp>
        <p:nvSpPr>
          <p:cNvPr id="19" name="TextBox 18"/>
          <p:cNvSpPr txBox="1"/>
          <p:nvPr/>
        </p:nvSpPr>
        <p:spPr>
          <a:xfrm>
            <a:off x="152400" y="152400"/>
            <a:ext cx="1282018" cy="276999"/>
          </a:xfrm>
          <a:prstGeom prst="rect">
            <a:avLst/>
          </a:prstGeom>
        </p:spPr>
        <p:style>
          <a:lnRef idx="1">
            <a:schemeClr val="accent3"/>
          </a:lnRef>
          <a:fillRef idx="2">
            <a:schemeClr val="accent3"/>
          </a:fillRef>
          <a:effectRef idx="1">
            <a:schemeClr val="accent3"/>
          </a:effectRef>
          <a:fontRef idx="minor">
            <a:schemeClr val="dk1"/>
          </a:fontRef>
        </p:style>
        <p:txBody>
          <a:bodyPr wrap="none" rtlCol="0">
            <a:spAutoFit/>
          </a:bodyPr>
          <a:lstStyle/>
          <a:p>
            <a:r>
              <a:rPr lang="en-US" sz="1200" dirty="0"/>
              <a:t>Template Module</a:t>
            </a:r>
          </a:p>
        </p:txBody>
      </p:sp>
      <p:sp>
        <p:nvSpPr>
          <p:cNvPr id="25" name="TextBox 24"/>
          <p:cNvSpPr txBox="1"/>
          <p:nvPr/>
        </p:nvSpPr>
        <p:spPr>
          <a:xfrm>
            <a:off x="3505200" y="457200"/>
            <a:ext cx="475323" cy="276999"/>
          </a:xfrm>
          <a:prstGeom prst="rect">
            <a:avLst/>
          </a:prstGeom>
          <a:noFill/>
        </p:spPr>
        <p:txBody>
          <a:bodyPr wrap="none" rtlCol="0">
            <a:spAutoFit/>
          </a:bodyPr>
          <a:lstStyle/>
          <a:p>
            <a:r>
              <a:rPr lang="en-US" sz="1200" dirty="0"/>
              <a:t>Regs</a:t>
            </a:r>
          </a:p>
        </p:txBody>
      </p:sp>
      <p:sp>
        <p:nvSpPr>
          <p:cNvPr id="26" name="TextBox 25"/>
          <p:cNvSpPr txBox="1"/>
          <p:nvPr/>
        </p:nvSpPr>
        <p:spPr>
          <a:xfrm>
            <a:off x="3429000" y="838200"/>
            <a:ext cx="5029200" cy="1200329"/>
          </a:xfrm>
          <a:prstGeom prst="rect">
            <a:avLst/>
          </a:prstGeom>
          <a:noFill/>
        </p:spPr>
        <p:txBody>
          <a:bodyPr wrap="square" rtlCol="0">
            <a:spAutoFit/>
          </a:bodyPr>
          <a:lstStyle/>
          <a:p>
            <a:r>
              <a:rPr lang="en-US" sz="1200" dirty="0"/>
              <a:t>[SET]</a:t>
            </a:r>
          </a:p>
          <a:p>
            <a:r>
              <a:rPr lang="en-US" sz="1200" dirty="0"/>
              <a:t>X_ENABLE: 1 enabled, 0 disabled ( connects IO to other modules when enabled  or tri-states if disabled)</a:t>
            </a:r>
          </a:p>
          <a:p>
            <a:endParaRPr lang="en-US" sz="1200" dirty="0"/>
          </a:p>
          <a:p>
            <a:r>
              <a:rPr lang="en-US" sz="1200" dirty="0"/>
              <a:t>[GET]</a:t>
            </a:r>
          </a:p>
          <a:p>
            <a:endParaRPr lang="en-US" sz="1200" dirty="0"/>
          </a:p>
        </p:txBody>
      </p:sp>
      <p:cxnSp>
        <p:nvCxnSpPr>
          <p:cNvPr id="28" name="Straight Connector 27"/>
          <p:cNvCxnSpPr/>
          <p:nvPr/>
        </p:nvCxnSpPr>
        <p:spPr>
          <a:xfrm rot="5400000">
            <a:off x="304800" y="3505200"/>
            <a:ext cx="6096794" cy="794"/>
          </a:xfrm>
          <a:prstGeom prst="line">
            <a:avLst/>
          </a:prstGeom>
        </p:spPr>
        <p:style>
          <a:lnRef idx="1">
            <a:schemeClr val="dk1"/>
          </a:lnRef>
          <a:fillRef idx="0">
            <a:schemeClr val="dk1"/>
          </a:fillRef>
          <a:effectRef idx="0">
            <a:schemeClr val="dk1"/>
          </a:effectRef>
          <a:fontRef idx="minor">
            <a:schemeClr val="tx1"/>
          </a:fontRef>
        </p:style>
      </p:cxnSp>
      <p:sp>
        <p:nvSpPr>
          <p:cNvPr id="22" name="TextBox 21"/>
          <p:cNvSpPr txBox="1"/>
          <p:nvPr/>
        </p:nvSpPr>
        <p:spPr>
          <a:xfrm>
            <a:off x="1905000" y="457200"/>
            <a:ext cx="857607" cy="276999"/>
          </a:xfrm>
          <a:prstGeom prst="rect">
            <a:avLst/>
          </a:prstGeom>
          <a:noFill/>
        </p:spPr>
        <p:txBody>
          <a:bodyPr wrap="none" rtlCol="0">
            <a:spAutoFit/>
          </a:bodyPr>
          <a:lstStyle/>
          <a:p>
            <a:r>
              <a:rPr lang="en-US" sz="1200" dirty="0"/>
              <a:t>IO’s to Slot</a:t>
            </a:r>
          </a:p>
        </p:txBody>
      </p:sp>
      <p:cxnSp>
        <p:nvCxnSpPr>
          <p:cNvPr id="29" name="Straight Connector 28"/>
          <p:cNvCxnSpPr/>
          <p:nvPr/>
        </p:nvCxnSpPr>
        <p:spPr>
          <a:xfrm>
            <a:off x="3352800" y="5638800"/>
            <a:ext cx="5257800" cy="1588"/>
          </a:xfrm>
          <a:prstGeom prst="line">
            <a:avLst/>
          </a:prstGeom>
        </p:spPr>
        <p:style>
          <a:lnRef idx="2">
            <a:schemeClr val="dk1"/>
          </a:lnRef>
          <a:fillRef idx="0">
            <a:schemeClr val="dk1"/>
          </a:fillRef>
          <a:effectRef idx="1">
            <a:schemeClr val="dk1"/>
          </a:effectRef>
          <a:fontRef idx="minor">
            <a:schemeClr val="tx1"/>
          </a:fontRef>
        </p:style>
      </p:cxnSp>
      <p:sp>
        <p:nvSpPr>
          <p:cNvPr id="16" name="TextBox 15"/>
          <p:cNvSpPr txBox="1"/>
          <p:nvPr/>
        </p:nvSpPr>
        <p:spPr>
          <a:xfrm>
            <a:off x="1219200" y="6096000"/>
            <a:ext cx="1218603" cy="276999"/>
          </a:xfrm>
          <a:prstGeom prst="rect">
            <a:avLst/>
          </a:prstGeom>
          <a:noFill/>
        </p:spPr>
        <p:txBody>
          <a:bodyPr wrap="none" rtlCol="0">
            <a:spAutoFit/>
          </a:bodyPr>
          <a:lstStyle/>
          <a:p>
            <a:r>
              <a:rPr lang="en-US" sz="1200" dirty="0"/>
              <a:t>CLK_48MHz_PLL</a:t>
            </a:r>
          </a:p>
        </p:txBody>
      </p:sp>
      <p:sp>
        <p:nvSpPr>
          <p:cNvPr id="17" name="TextBox 16"/>
          <p:cNvSpPr txBox="1"/>
          <p:nvPr/>
        </p:nvSpPr>
        <p:spPr>
          <a:xfrm>
            <a:off x="1676400" y="5791200"/>
            <a:ext cx="833946" cy="276999"/>
          </a:xfrm>
          <a:prstGeom prst="rect">
            <a:avLst/>
          </a:prstGeom>
          <a:noFill/>
        </p:spPr>
        <p:txBody>
          <a:bodyPr wrap="none" rtlCol="0">
            <a:spAutoFit/>
          </a:bodyPr>
          <a:lstStyle/>
          <a:p>
            <a:r>
              <a:rPr lang="en-US" sz="1200"/>
              <a:t>CLOCKS IN</a:t>
            </a:r>
            <a:endParaRPr lang="en-US" sz="1200" dirty="0"/>
          </a:p>
        </p:txBody>
      </p:sp>
      <p:cxnSp>
        <p:nvCxnSpPr>
          <p:cNvPr id="18" name="Straight Connector 17"/>
          <p:cNvCxnSpPr/>
          <p:nvPr/>
        </p:nvCxnSpPr>
        <p:spPr>
          <a:xfrm flipV="1">
            <a:off x="1219200" y="5638800"/>
            <a:ext cx="2133600" cy="1588"/>
          </a:xfrm>
          <a:prstGeom prst="line">
            <a:avLst/>
          </a:prstGeom>
        </p:spPr>
        <p:style>
          <a:lnRef idx="2">
            <a:schemeClr val="dk1"/>
          </a:lnRef>
          <a:fillRef idx="0">
            <a:schemeClr val="dk1"/>
          </a:fillRef>
          <a:effectRef idx="1">
            <a:schemeClr val="dk1"/>
          </a:effectRef>
          <a:fontRef idx="minor">
            <a:schemeClr val="tx1"/>
          </a:fontRef>
        </p:style>
      </p:cxnSp>
      <p:cxnSp>
        <p:nvCxnSpPr>
          <p:cNvPr id="20" name="Elbow Connector 19"/>
          <p:cNvCxnSpPr/>
          <p:nvPr/>
        </p:nvCxnSpPr>
        <p:spPr>
          <a:xfrm>
            <a:off x="304800" y="62484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cxnSp>
        <p:nvCxnSpPr>
          <p:cNvPr id="32" name="Elbow Connector 31"/>
          <p:cNvCxnSpPr/>
          <p:nvPr/>
        </p:nvCxnSpPr>
        <p:spPr>
          <a:xfrm>
            <a:off x="304800" y="33528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cxnSp>
        <p:nvCxnSpPr>
          <p:cNvPr id="38" name="Elbow Connector 37"/>
          <p:cNvCxnSpPr/>
          <p:nvPr/>
        </p:nvCxnSpPr>
        <p:spPr>
          <a:xfrm>
            <a:off x="304800" y="23622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sp>
        <p:nvSpPr>
          <p:cNvPr id="39" name="TextBox 38"/>
          <p:cNvSpPr txBox="1"/>
          <p:nvPr/>
        </p:nvSpPr>
        <p:spPr>
          <a:xfrm>
            <a:off x="1295400" y="2438400"/>
            <a:ext cx="468398" cy="276999"/>
          </a:xfrm>
          <a:prstGeom prst="rect">
            <a:avLst/>
          </a:prstGeom>
          <a:noFill/>
        </p:spPr>
        <p:txBody>
          <a:bodyPr wrap="none" rtlCol="0">
            <a:spAutoFit/>
          </a:bodyPr>
          <a:lstStyle/>
          <a:p>
            <a:r>
              <a:rPr lang="en-US" sz="1200" dirty="0"/>
              <a:t>C8: -</a:t>
            </a:r>
          </a:p>
        </p:txBody>
      </p:sp>
      <p:cxnSp>
        <p:nvCxnSpPr>
          <p:cNvPr id="40" name="Elbow Connector 39"/>
          <p:cNvCxnSpPr/>
          <p:nvPr/>
        </p:nvCxnSpPr>
        <p:spPr>
          <a:xfrm>
            <a:off x="304800" y="25908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41" name="TextBox 40"/>
          <p:cNvSpPr txBox="1"/>
          <p:nvPr/>
        </p:nvSpPr>
        <p:spPr>
          <a:xfrm>
            <a:off x="1295400" y="2667000"/>
            <a:ext cx="468398" cy="276999"/>
          </a:xfrm>
          <a:prstGeom prst="rect">
            <a:avLst/>
          </a:prstGeom>
          <a:noFill/>
        </p:spPr>
        <p:txBody>
          <a:bodyPr wrap="none" rtlCol="0">
            <a:spAutoFit/>
          </a:bodyPr>
          <a:lstStyle/>
          <a:p>
            <a:r>
              <a:rPr lang="en-US" sz="1200" dirty="0"/>
              <a:t>C9: -</a:t>
            </a:r>
          </a:p>
        </p:txBody>
      </p:sp>
      <p:cxnSp>
        <p:nvCxnSpPr>
          <p:cNvPr id="42" name="Elbow Connector 41"/>
          <p:cNvCxnSpPr/>
          <p:nvPr/>
        </p:nvCxnSpPr>
        <p:spPr>
          <a:xfrm>
            <a:off x="304800" y="16764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43" name="TextBox 42"/>
          <p:cNvSpPr txBox="1"/>
          <p:nvPr/>
        </p:nvSpPr>
        <p:spPr>
          <a:xfrm>
            <a:off x="1295400" y="1066800"/>
            <a:ext cx="468398" cy="276999"/>
          </a:xfrm>
          <a:prstGeom prst="rect">
            <a:avLst/>
          </a:prstGeom>
          <a:noFill/>
        </p:spPr>
        <p:txBody>
          <a:bodyPr wrap="none" rtlCol="0">
            <a:spAutoFit/>
          </a:bodyPr>
          <a:lstStyle/>
          <a:p>
            <a:r>
              <a:rPr lang="en-US" sz="1200" dirty="0"/>
              <a:t>C2: -</a:t>
            </a:r>
          </a:p>
        </p:txBody>
      </p:sp>
      <p:cxnSp>
        <p:nvCxnSpPr>
          <p:cNvPr id="44" name="Elbow Connector 43"/>
          <p:cNvCxnSpPr/>
          <p:nvPr/>
        </p:nvCxnSpPr>
        <p:spPr>
          <a:xfrm>
            <a:off x="304800" y="19050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45" name="TextBox 44"/>
          <p:cNvSpPr txBox="1"/>
          <p:nvPr/>
        </p:nvSpPr>
        <p:spPr>
          <a:xfrm>
            <a:off x="1295400" y="1295400"/>
            <a:ext cx="468398" cy="276999"/>
          </a:xfrm>
          <a:prstGeom prst="rect">
            <a:avLst/>
          </a:prstGeom>
          <a:noFill/>
        </p:spPr>
        <p:txBody>
          <a:bodyPr wrap="none" rtlCol="0">
            <a:spAutoFit/>
          </a:bodyPr>
          <a:lstStyle/>
          <a:p>
            <a:r>
              <a:rPr lang="en-US" sz="1200" dirty="0"/>
              <a:t>C3: -</a:t>
            </a:r>
          </a:p>
        </p:txBody>
      </p:sp>
      <p:cxnSp>
        <p:nvCxnSpPr>
          <p:cNvPr id="46" name="Elbow Connector 45"/>
          <p:cNvCxnSpPr/>
          <p:nvPr/>
        </p:nvCxnSpPr>
        <p:spPr>
          <a:xfrm>
            <a:off x="304800" y="2133600"/>
            <a:ext cx="914400" cy="1588"/>
          </a:xfrm>
          <a:prstGeom prst="bentConnector3">
            <a:avLst>
              <a:gd name="adj1" fmla="val 38679"/>
            </a:avLst>
          </a:prstGeom>
          <a:ln>
            <a:tailEnd type="arrow"/>
          </a:ln>
        </p:spPr>
        <p:style>
          <a:lnRef idx="2">
            <a:schemeClr val="dk1"/>
          </a:lnRef>
          <a:fillRef idx="0">
            <a:schemeClr val="dk1"/>
          </a:fillRef>
          <a:effectRef idx="1">
            <a:schemeClr val="dk1"/>
          </a:effectRef>
          <a:fontRef idx="minor">
            <a:schemeClr val="tx1"/>
          </a:fontRef>
        </p:style>
      </p:cxnSp>
      <p:sp>
        <p:nvSpPr>
          <p:cNvPr id="47" name="TextBox 46"/>
          <p:cNvSpPr txBox="1"/>
          <p:nvPr/>
        </p:nvSpPr>
        <p:spPr>
          <a:xfrm>
            <a:off x="1295400" y="1524000"/>
            <a:ext cx="468398" cy="276999"/>
          </a:xfrm>
          <a:prstGeom prst="rect">
            <a:avLst/>
          </a:prstGeom>
          <a:noFill/>
        </p:spPr>
        <p:txBody>
          <a:bodyPr wrap="none" rtlCol="0">
            <a:spAutoFit/>
          </a:bodyPr>
          <a:lstStyle/>
          <a:p>
            <a:r>
              <a:rPr lang="en-US" sz="1200" dirty="0"/>
              <a:t>C4: -</a:t>
            </a:r>
          </a:p>
        </p:txBody>
      </p:sp>
      <p:sp>
        <p:nvSpPr>
          <p:cNvPr id="49" name="TextBox 48"/>
          <p:cNvSpPr txBox="1"/>
          <p:nvPr/>
        </p:nvSpPr>
        <p:spPr>
          <a:xfrm>
            <a:off x="1295400" y="1981200"/>
            <a:ext cx="468398" cy="276999"/>
          </a:xfrm>
          <a:prstGeom prst="rect">
            <a:avLst/>
          </a:prstGeom>
          <a:noFill/>
        </p:spPr>
        <p:txBody>
          <a:bodyPr wrap="none" rtlCol="0">
            <a:spAutoFit/>
          </a:bodyPr>
          <a:lstStyle/>
          <a:p>
            <a:r>
              <a:rPr lang="en-US" sz="1200" dirty="0"/>
              <a:t>C6: -</a:t>
            </a:r>
          </a:p>
        </p:txBody>
      </p:sp>
      <p:cxnSp>
        <p:nvCxnSpPr>
          <p:cNvPr id="50" name="Elbow Connector 49"/>
          <p:cNvCxnSpPr/>
          <p:nvPr/>
        </p:nvCxnSpPr>
        <p:spPr>
          <a:xfrm>
            <a:off x="304800" y="2819400"/>
            <a:ext cx="914400" cy="1588"/>
          </a:xfrm>
          <a:prstGeom prst="bentConnector3">
            <a:avLst>
              <a:gd name="adj1" fmla="val 50000"/>
            </a:avLst>
          </a:prstGeom>
          <a:ln>
            <a:headEnd type="arrow"/>
            <a:tailEnd type="none"/>
          </a:ln>
        </p:spPr>
        <p:style>
          <a:lnRef idx="2">
            <a:schemeClr val="dk1"/>
          </a:lnRef>
          <a:fillRef idx="0">
            <a:schemeClr val="dk1"/>
          </a:fillRef>
          <a:effectRef idx="1">
            <a:schemeClr val="dk1"/>
          </a:effectRef>
          <a:fontRef idx="minor">
            <a:schemeClr val="tx1"/>
          </a:fontRef>
        </p:style>
      </p:cxnSp>
      <p:cxnSp>
        <p:nvCxnSpPr>
          <p:cNvPr id="65" name="Straight Connector 64"/>
          <p:cNvCxnSpPr/>
          <p:nvPr/>
        </p:nvCxnSpPr>
        <p:spPr>
          <a:xfrm flipV="1">
            <a:off x="1219200" y="3124200"/>
            <a:ext cx="2133600" cy="1588"/>
          </a:xfrm>
          <a:prstGeom prst="line">
            <a:avLst/>
          </a:prstGeom>
        </p:spPr>
        <p:style>
          <a:lnRef idx="2">
            <a:schemeClr val="dk1"/>
          </a:lnRef>
          <a:fillRef idx="0">
            <a:schemeClr val="dk1"/>
          </a:fillRef>
          <a:effectRef idx="1">
            <a:schemeClr val="dk1"/>
          </a:effectRef>
          <a:fontRef idx="minor">
            <a:schemeClr val="tx1"/>
          </a:fontRef>
        </p:style>
      </p:cxnSp>
      <p:sp>
        <p:nvSpPr>
          <p:cNvPr id="48" name="TextBox 47"/>
          <p:cNvSpPr txBox="1"/>
          <p:nvPr/>
        </p:nvSpPr>
        <p:spPr>
          <a:xfrm>
            <a:off x="1295400" y="3200400"/>
            <a:ext cx="231154" cy="276999"/>
          </a:xfrm>
          <a:prstGeom prst="rect">
            <a:avLst/>
          </a:prstGeom>
          <a:noFill/>
        </p:spPr>
        <p:txBody>
          <a:bodyPr wrap="none" rtlCol="0">
            <a:spAutoFit/>
          </a:bodyPr>
          <a:lstStyle/>
          <a:p>
            <a:r>
              <a:rPr lang="en-US" sz="1200" dirty="0"/>
              <a:t>-</a:t>
            </a:r>
          </a:p>
        </p:txBody>
      </p:sp>
      <p:cxnSp>
        <p:nvCxnSpPr>
          <p:cNvPr id="34" name="Elbow Connector 33"/>
          <p:cNvCxnSpPr/>
          <p:nvPr/>
        </p:nvCxnSpPr>
        <p:spPr>
          <a:xfrm>
            <a:off x="304800" y="762000"/>
            <a:ext cx="914400" cy="158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35" name="TextBox 34"/>
          <p:cNvSpPr txBox="1"/>
          <p:nvPr/>
        </p:nvSpPr>
        <p:spPr>
          <a:xfrm>
            <a:off x="1295400" y="609600"/>
            <a:ext cx="468398" cy="276999"/>
          </a:xfrm>
          <a:prstGeom prst="rect">
            <a:avLst/>
          </a:prstGeom>
          <a:noFill/>
        </p:spPr>
        <p:txBody>
          <a:bodyPr wrap="none" rtlCol="0">
            <a:spAutoFit/>
          </a:bodyPr>
          <a:lstStyle/>
          <a:p>
            <a:r>
              <a:rPr lang="en-US" sz="1200" dirty="0"/>
              <a:t>C0: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1868</TotalTime>
  <Words>1793</Words>
  <Application>Microsoft Office PowerPoint</Application>
  <PresentationFormat>On-screen Show (4:3)</PresentationFormat>
  <Paragraphs>426</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frivas</dc:creator>
  <cp:lastModifiedBy>Sean Benish</cp:lastModifiedBy>
  <cp:revision>209</cp:revision>
  <dcterms:created xsi:type="dcterms:W3CDTF">2018-03-10T09:53:30Z</dcterms:created>
  <dcterms:modified xsi:type="dcterms:W3CDTF">2022-04-21T21:06:13Z</dcterms:modified>
</cp:coreProperties>
</file>